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29"/>
  </p:notesMasterIdLst>
  <p:sldIdLst>
    <p:sldId id="303" r:id="rId3"/>
    <p:sldId id="314" r:id="rId4"/>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315" r:id="rId27"/>
    <p:sldId id="31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3664" autoAdjust="0"/>
  </p:normalViewPr>
  <p:slideViewPr>
    <p:cSldViewPr snapToGrid="0" snapToObjects="1">
      <p:cViewPr varScale="1">
        <p:scale>
          <a:sx n="61" d="100"/>
          <a:sy n="61" d="100"/>
        </p:scale>
        <p:origin x="1495"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9470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7BE734-32E8-9047-9B9A-60706B111448}"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502590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 Narrative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In production, a chatbot is a distributed application path. It accepts untrusted natural language, combines it with system instructions, user and session context, retrieved documents, tool outputs, memory, and telemetry, then produces text or initiates workflow.</a:t>
            </a:r>
          </a:p>
          <a:p>
            <a:r>
              <a:rPr lang="en-GB" sz="1200" b="0" kern="1200" dirty="0">
                <a:solidFill>
                  <a:schemeClr val="tx1"/>
                </a:solidFill>
                <a:effectLst/>
                <a:latin typeface="+mn-lt"/>
                <a:ea typeface="+mn-ea"/>
                <a:cs typeface="+mn-cs"/>
              </a:rPr>
              <a:t>The security problem is not only that users can write malicious prompts. The deeper issue is that conversational interfaces become high-bandwidth query and control surfaces over systems that previously exposed narrower APIs, search forms, or support workflows.</a:t>
            </a:r>
          </a:p>
          <a:p>
            <a:r>
              <a:rPr lang="en-GB" sz="1200" b="0" kern="1200" dirty="0">
                <a:solidFill>
                  <a:schemeClr val="tx1"/>
                </a:solidFill>
                <a:effectLst/>
                <a:latin typeface="+mn-lt"/>
                <a:ea typeface="+mn-ea"/>
                <a:cs typeface="+mn-cs"/>
              </a:rPr>
              <a:t>For this talk, treat the chatbot as three overlapping planes: a data plane, where sensitive information is stored and moved; an instruction plane, where prompts and retrieved content influence model </a:t>
            </a:r>
            <a:r>
              <a:rPr lang="en-GB" sz="1200" b="0" kern="1200" dirty="0" err="1">
                <a:solidFill>
                  <a:schemeClr val="tx1"/>
                </a:solidFill>
                <a:effectLst/>
                <a:latin typeface="+mn-lt"/>
                <a:ea typeface="+mn-ea"/>
                <a:cs typeface="+mn-cs"/>
              </a:rPr>
              <a:t>behavior</a:t>
            </a:r>
            <a:r>
              <a:rPr lang="en-GB" sz="1200" b="0" kern="1200" dirty="0">
                <a:solidFill>
                  <a:schemeClr val="tx1"/>
                </a:solidFill>
                <a:effectLst/>
                <a:latin typeface="+mn-lt"/>
                <a:ea typeface="+mn-ea"/>
                <a:cs typeface="+mn-cs"/>
              </a:rPr>
              <a:t>; and an action plane, where tools and APIs can change business state.</a:t>
            </a:r>
          </a:p>
          <a:p>
            <a:r>
              <a:rPr lang="en-GB" sz="1200" b="1" kern="1200" dirty="0">
                <a:solidFill>
                  <a:schemeClr val="tx1"/>
                </a:solidFill>
                <a:effectLst/>
                <a:latin typeface="+mn-lt"/>
                <a:ea typeface="+mn-ea"/>
                <a:cs typeface="+mn-cs"/>
              </a:rPr>
              <a:t>### Key Message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A chatbot is an application architecture with data, instruction, and action control planes.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 Narrative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Chatbot architectures evolve, but the review lens stays stable. For each architecture, ask the same four engineering questions.</a:t>
            </a:r>
          </a:p>
          <a:p>
            <a:r>
              <a:rPr lang="en-GB" sz="1200" b="0" kern="1200" dirty="0">
                <a:solidFill>
                  <a:schemeClr val="tx1"/>
                </a:solidFill>
                <a:effectLst/>
                <a:latin typeface="+mn-lt"/>
                <a:ea typeface="+mn-ea"/>
                <a:cs typeface="+mn-cs"/>
              </a:rPr>
              <a:t>First, where is sensitive data stored? It might be in model weights, training data, source documents, vector indexes, prompt context, memory, logs, traces, evaluation datasets, or connected business systems.</a:t>
            </a:r>
          </a:p>
          <a:p>
            <a:r>
              <a:rPr lang="en-GB" sz="1200" b="0" kern="1200" dirty="0">
                <a:solidFill>
                  <a:schemeClr val="tx1"/>
                </a:solidFill>
                <a:effectLst/>
                <a:latin typeface="+mn-lt"/>
                <a:ea typeface="+mn-ea"/>
                <a:cs typeface="+mn-cs"/>
              </a:rPr>
              <a:t>Second, how does sensitive data enter the model context? It may come from the user prompt, system prompt, retrieved documents, chat history, tool results, or agent memory.</a:t>
            </a:r>
          </a:p>
          <a:p>
            <a:r>
              <a:rPr lang="en-GB" sz="1200" b="0" kern="1200" dirty="0">
                <a:solidFill>
                  <a:schemeClr val="tx1"/>
                </a:solidFill>
                <a:effectLst/>
                <a:latin typeface="+mn-lt"/>
                <a:ea typeface="+mn-ea"/>
                <a:cs typeface="+mn-cs"/>
              </a:rPr>
              <a:t>Third, who can influence the instruction path? A user can influence it directly through prompts, but attackers may also influence it indirectly through documents, tickets, web pages, emails, or other content later retrieved by the chatbot.</a:t>
            </a:r>
          </a:p>
          <a:p>
            <a:r>
              <a:rPr lang="en-GB" sz="1200" b="0" kern="1200" dirty="0">
                <a:solidFill>
                  <a:schemeClr val="tx1"/>
                </a:solidFill>
                <a:effectLst/>
                <a:latin typeface="+mn-lt"/>
                <a:ea typeface="+mn-ea"/>
                <a:cs typeface="+mn-cs"/>
              </a:rPr>
              <a:t>Fourth, what can the bot do? A bot that only answers questions has one risk profile. A bot that can create tickets, update records, send emails, run code, or call APIs has a larger blast radius and needs stronger mediation.</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Key Message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The threat model changes whenever data placement, instruction authority, or action authority changes.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 Narrative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The evolution starts with a direct LLM API integration: an application receives a user prompt, attaches system instructions and request metadata, sends the request to a model endpoint, and renders the response.</a:t>
            </a:r>
          </a:p>
          <a:p>
            <a:r>
              <a:rPr lang="en-GB" sz="1200" b="0" kern="1200" dirty="0">
                <a:solidFill>
                  <a:schemeClr val="tx1"/>
                </a:solidFill>
                <a:effectLst/>
                <a:latin typeface="+mn-lt"/>
                <a:ea typeface="+mn-ea"/>
                <a:cs typeface="+mn-cs"/>
              </a:rPr>
              <a:t>That is useful, but the model has limited access to company-specific policy, internal workflows, proprietary documents, customer context, and domain procedures unless the application supplies that information through prompts, training, fine-tuning, or retrieval.</a:t>
            </a:r>
          </a:p>
          <a:p>
            <a:r>
              <a:rPr lang="en-GB" sz="1200" b="0" kern="1200" dirty="0">
                <a:solidFill>
                  <a:schemeClr val="tx1"/>
                </a:solidFill>
                <a:effectLst/>
                <a:latin typeface="+mn-lt"/>
                <a:ea typeface="+mn-ea"/>
                <a:cs typeface="+mn-cs"/>
              </a:rPr>
              <a:t>The first instinct is to make the model know more: train it or fine-tune it on business data. That places private knowledge closer to the model itself and raises the first security question: if the model was trained on sensitive data, can someone extract that data?</a:t>
            </a:r>
          </a:p>
          <a:p>
            <a:r>
              <a:rPr lang="en-GB" sz="1200" b="0" kern="1200" dirty="0">
                <a:solidFill>
                  <a:schemeClr val="tx1"/>
                </a:solidFill>
                <a:effectLst/>
                <a:latin typeface="+mn-lt"/>
                <a:ea typeface="+mn-ea"/>
                <a:cs typeface="+mn-cs"/>
              </a:rPr>
              <a:t>Even before training enters the picture, prompts and responses may become sensitive records in application logs, provider traces, debugging telemetry, evaluation datasets, or retention systems. Training and fine-tuning make the data-placement problem harder because some knowledge may become embedded in model </a:t>
            </a:r>
            <a:r>
              <a:rPr lang="en-GB" sz="1200" b="0" kern="1200" dirty="0" err="1">
                <a:solidFill>
                  <a:schemeClr val="tx1"/>
                </a:solidFill>
                <a:effectLst/>
                <a:latin typeface="+mn-lt"/>
                <a:ea typeface="+mn-ea"/>
                <a:cs typeface="+mn-cs"/>
              </a:rPr>
              <a:t>behavior</a:t>
            </a:r>
            <a:r>
              <a:rPr lang="en-GB" sz="1200" b="0" kern="1200" dirty="0">
                <a:solidFill>
                  <a:schemeClr val="tx1"/>
                </a:solidFill>
                <a:effectLst/>
                <a:latin typeface="+mn-lt"/>
                <a:ea typeface="+mn-ea"/>
                <a:cs typeface="+mn-cs"/>
              </a:rPr>
              <a:t>.</a:t>
            </a:r>
          </a:p>
          <a:p>
            <a:r>
              <a:rPr lang="en-GB" sz="1200" b="0" kern="1200" dirty="0">
                <a:solidFill>
                  <a:schemeClr val="tx1"/>
                </a:solidFill>
                <a:effectLst/>
                <a:latin typeface="+mn-lt"/>
                <a:ea typeface="+mn-ea"/>
                <a:cs typeface="+mn-cs"/>
              </a:rPr>
              <a:t>Most organizations do not train foundation models from scratch. Modern systems usually keep internal knowledge outside the model and retrieve it at runtime using embeddings and RAG. That is the second stage: much of the sensitive-data exposure shifts from model weights into documents, indexes, retrieval results, and prompt context.</a:t>
            </a:r>
          </a:p>
          <a:p>
            <a:r>
              <a:rPr lang="en-GB" sz="1200" b="0" kern="1200" dirty="0">
                <a:solidFill>
                  <a:schemeClr val="tx1"/>
                </a:solidFill>
                <a:effectLst/>
                <a:latin typeface="+mn-lt"/>
                <a:ea typeface="+mn-ea"/>
                <a:cs typeface="+mn-cs"/>
              </a:rPr>
              <a:t>The third stage is agentic AI. Once the chatbot can use tools, call APIs, remember facts, and complete tasks, the problem changes again. Now the risk is not only data exposure. The bot can take action.</a:t>
            </a:r>
          </a:p>
          <a:p>
            <a:r>
              <a:rPr lang="en-GB" sz="1200" b="0" kern="1200" dirty="0">
                <a:solidFill>
                  <a:schemeClr val="tx1"/>
                </a:solidFill>
                <a:effectLst/>
                <a:latin typeface="+mn-lt"/>
                <a:ea typeface="+mn-ea"/>
                <a:cs typeface="+mn-cs"/>
              </a:rPr>
              <a:t>Each stage will end with a short deterministic demo. The demos are not product demos; they are boundary tests. First we test what data is allowed into release artifacts, then what retrieved content is allowed into context, and finally what proposed action is allowed to execute.</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Key Message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Each stage solves a usefulness problem by changing a control boundary.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 Narrative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The minimal production architecture is an application wrapper around an LLM endpoint. A user request enters the application, the app attaches system instructions and request context, calls a model provider or hosted model endpoint, receives a response, and renders it back to the user.</a:t>
            </a:r>
          </a:p>
          <a:p>
            <a:r>
              <a:rPr lang="en-GB" sz="1200" b="0" kern="1200" dirty="0">
                <a:solidFill>
                  <a:schemeClr val="tx1"/>
                </a:solidFill>
                <a:effectLst/>
                <a:latin typeface="+mn-lt"/>
                <a:ea typeface="+mn-ea"/>
                <a:cs typeface="+mn-cs"/>
              </a:rPr>
              <a:t>That path already crosses multiple boundaries: user to application, application to model provider, application to logging and observability, and sometimes application to evaluation or analytics pipelines. Even without retrieval or tools, the prompt and response become sensitive runtime artifacts.</a:t>
            </a:r>
          </a:p>
          <a:p>
            <a:r>
              <a:rPr lang="en-GB" sz="1200" b="0" kern="1200" dirty="0">
                <a:solidFill>
                  <a:schemeClr val="tx1"/>
                </a:solidFill>
                <a:effectLst/>
                <a:latin typeface="+mn-lt"/>
                <a:ea typeface="+mn-ea"/>
                <a:cs typeface="+mn-cs"/>
              </a:rPr>
              <a:t>From a security perspective, the prompt is already a data boundary. Even if an LLM provider does not use API prompts for training, the application still has to govern prompt content, responses, logs, traces, retention, and evaluation data.</a:t>
            </a:r>
          </a:p>
          <a:p>
            <a:r>
              <a:rPr lang="en-GB" sz="1200" b="0" kern="1200" dirty="0">
                <a:solidFill>
                  <a:schemeClr val="tx1"/>
                </a:solidFill>
                <a:effectLst/>
                <a:latin typeface="+mn-lt"/>
                <a:ea typeface="+mn-ea"/>
                <a:cs typeface="+mn-cs"/>
              </a:rPr>
              <a:t>For a public, general-purpose assistant, that may be enough. For a business chatbot, it quickly becomes a product blocker. The bot cannot answer with company-specific policy, account context, or approved operating procedures unless that knowledge is available somewhere in the architecture.</a:t>
            </a:r>
          </a:p>
          <a:p>
            <a:r>
              <a:rPr lang="en-GB" sz="1200" b="0" kern="1200" dirty="0">
                <a:solidFill>
                  <a:schemeClr val="tx1"/>
                </a:solidFill>
                <a:effectLst/>
                <a:latin typeface="+mn-lt"/>
                <a:ea typeface="+mn-ea"/>
                <a:cs typeface="+mn-cs"/>
              </a:rPr>
              <a:t>If the model does not know those things, it will answer generically or hallucinate. If the model does know those things because they were included in training or fine-tuning, we have to ask whether that knowledge can leak back out.</a:t>
            </a:r>
          </a:p>
          <a:p>
            <a:br>
              <a:rPr lang="en-GB" sz="1200" b="0" kern="1200" dirty="0">
                <a:solidFill>
                  <a:schemeClr val="tx1"/>
                </a:solidFill>
                <a:effectLst/>
                <a:latin typeface="+mn-lt"/>
                <a:ea typeface="+mn-ea"/>
                <a:cs typeface="+mn-cs"/>
              </a:rPr>
            </a:br>
            <a:r>
              <a:rPr lang="en-GB" sz="1200" b="1" kern="1200" dirty="0">
                <a:solidFill>
                  <a:schemeClr val="tx1"/>
                </a:solidFill>
                <a:effectLst/>
                <a:latin typeface="+mn-lt"/>
                <a:ea typeface="+mn-ea"/>
                <a:cs typeface="+mn-cs"/>
              </a:rPr>
              <a:t>### Key Message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Stage 1 creates two linked risks: sensitive runtime prompts can leak through the application path, and sensitive training data can become hard to govern once it influences model </a:t>
            </a:r>
            <a:r>
              <a:rPr lang="en-GB" sz="1200" b="0" kern="1200" dirty="0" err="1">
                <a:solidFill>
                  <a:schemeClr val="tx1"/>
                </a:solidFill>
                <a:effectLst/>
                <a:latin typeface="+mn-lt"/>
                <a:ea typeface="+mn-ea"/>
                <a:cs typeface="+mn-cs"/>
              </a:rPr>
              <a:t>behavior</a:t>
            </a:r>
            <a:r>
              <a:rPr lang="en-GB" sz="1200" b="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A base model can answer general questions about public health, customer service, and common troubleshooting. But it does not know the exact policies of Eir Health. It does not know which services are offered at which clinic. It does not know the approved escalation process. It does not know what language legal or compliance teams have approved.</a:t>
            </a:r>
          </a:p>
          <a:p>
            <a:r>
              <a:rPr lang="en-GB" sz="1200" b="0" kern="1200" dirty="0">
                <a:solidFill>
                  <a:schemeClr val="tx1"/>
                </a:solidFill>
                <a:effectLst/>
                <a:latin typeface="+mn-lt"/>
                <a:ea typeface="+mn-ea"/>
                <a:cs typeface="+mn-cs"/>
              </a:rPr>
              <a:t>That context gap is where architecture pressure starts. Teams can put more detail into prompts, train or fine-tune on examples, add retrieval, or connect tools. Each option changes where data sits and which controls are enforceable.</a:t>
            </a:r>
          </a:p>
          <a:p>
            <a:r>
              <a:rPr lang="en-GB" sz="1200" b="0" kern="1200" dirty="0">
                <a:solidFill>
                  <a:schemeClr val="tx1"/>
                </a:solidFill>
                <a:effectLst/>
                <a:latin typeface="+mn-lt"/>
                <a:ea typeface="+mn-ea"/>
                <a:cs typeface="+mn-cs"/>
              </a:rPr>
              <a:t>The fastest but least governable answer is: teach the model our data. Train it on policy documents. Fine-tune it with support conversations. Include successful-resolution examples. Add the internal playbook.</a:t>
            </a:r>
          </a:p>
          <a:p>
            <a:r>
              <a:rPr lang="en-GB" sz="1200" b="0" kern="1200" dirty="0">
                <a:solidFill>
                  <a:schemeClr val="tx1"/>
                </a:solidFill>
                <a:effectLst/>
                <a:latin typeface="+mn-lt"/>
                <a:ea typeface="+mn-ea"/>
                <a:cs typeface="+mn-cs"/>
              </a:rPr>
              <a:t>From a product perspective, that is attractive. From a security perspective, it raises an architectural question: which data can safely become part of model </a:t>
            </a:r>
            <a:r>
              <a:rPr lang="en-GB" sz="1200" b="0" kern="1200" dirty="0" err="1">
                <a:solidFill>
                  <a:schemeClr val="tx1"/>
                </a:solidFill>
                <a:effectLst/>
                <a:latin typeface="+mn-lt"/>
                <a:ea typeface="+mn-ea"/>
                <a:cs typeface="+mn-cs"/>
              </a:rPr>
              <a:t>behavior</a:t>
            </a:r>
            <a:r>
              <a:rPr lang="en-GB" sz="1200" b="0" kern="1200" dirty="0">
                <a:solidFill>
                  <a:schemeClr val="tx1"/>
                </a:solidFill>
                <a:effectLst/>
                <a:latin typeface="+mn-lt"/>
                <a:ea typeface="+mn-ea"/>
                <a:cs typeface="+mn-cs"/>
              </a:rPr>
              <a:t>, and which data requires precise authorization, deletion, audit, or retention control?</a:t>
            </a:r>
          </a:p>
          <a:p>
            <a:r>
              <a:rPr lang="en-GB" sz="1200" b="1" kern="1200" dirty="0">
                <a:solidFill>
                  <a:schemeClr val="tx1"/>
                </a:solidFill>
                <a:effectLst/>
                <a:latin typeface="+mn-lt"/>
                <a:ea typeface="+mn-ea"/>
                <a:cs typeface="+mn-cs"/>
              </a:rPr>
              <a:t>### Key Message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Business usefulness creates pressure to move private knowledge closer to the model; architecture decides whether that knowledge is controllable.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 Narrative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That product pressure turns a model-quality choice into a data-placement choice. When a team trains or fine-tunes on internal data, they are not only improving model </a:t>
            </a:r>
            <a:r>
              <a:rPr lang="en-GB" sz="1200" b="0" kern="1200" dirty="0" err="1">
                <a:solidFill>
                  <a:schemeClr val="tx1"/>
                </a:solidFill>
                <a:effectLst/>
                <a:latin typeface="+mn-lt"/>
                <a:ea typeface="+mn-ea"/>
                <a:cs typeface="+mn-cs"/>
              </a:rPr>
              <a:t>behavior</a:t>
            </a:r>
            <a:r>
              <a:rPr lang="en-GB" sz="1200" b="0" kern="1200" dirty="0">
                <a:solidFill>
                  <a:schemeClr val="tx1"/>
                </a:solidFill>
                <a:effectLst/>
                <a:latin typeface="+mn-lt"/>
                <a:ea typeface="+mn-ea"/>
                <a:cs typeface="+mn-cs"/>
              </a:rPr>
              <a:t>. They are deciding which data may influence model weights or adapter weights.</a:t>
            </a:r>
          </a:p>
          <a:p>
            <a:r>
              <a:rPr lang="en-GB" sz="1200" b="0" kern="1200" dirty="0">
                <a:solidFill>
                  <a:schemeClr val="tx1"/>
                </a:solidFill>
                <a:effectLst/>
                <a:latin typeface="+mn-lt"/>
                <a:ea typeface="+mn-ea"/>
                <a:cs typeface="+mn-cs"/>
              </a:rPr>
              <a:t>Some of that data may be harmless: public FAQs, approved product descriptions, high-level policy summaries. Some of it may be sensitive: support transcripts, customer records, internal escalation notes, exception procedures, billing disputes, or regulated health-adjacent information.</a:t>
            </a:r>
          </a:p>
          <a:p>
            <a:r>
              <a:rPr lang="en-GB" sz="1200" b="0" kern="1200" dirty="0">
                <a:solidFill>
                  <a:schemeClr val="tx1"/>
                </a:solidFill>
                <a:effectLst/>
                <a:latin typeface="+mn-lt"/>
                <a:ea typeface="+mn-ea"/>
                <a:cs typeface="+mn-cs"/>
              </a:rPr>
              <a:t>Even if the model does not store documents like a database, training can still influence </a:t>
            </a:r>
            <a:r>
              <a:rPr lang="en-GB" sz="1200" b="0" kern="1200" dirty="0" err="1">
                <a:solidFill>
                  <a:schemeClr val="tx1"/>
                </a:solidFill>
                <a:effectLst/>
                <a:latin typeface="+mn-lt"/>
                <a:ea typeface="+mn-ea"/>
                <a:cs typeface="+mn-cs"/>
              </a:rPr>
              <a:t>behavior</a:t>
            </a:r>
            <a:r>
              <a:rPr lang="en-GB" sz="1200" b="0" kern="1200" dirty="0">
                <a:solidFill>
                  <a:schemeClr val="tx1"/>
                </a:solidFill>
                <a:effectLst/>
                <a:latin typeface="+mn-lt"/>
                <a:ea typeface="+mn-ea"/>
                <a:cs typeface="+mn-cs"/>
              </a:rPr>
              <a:t> in ways that preserve rare phrases, examples, names, identifiers, or unusual facts. The risk is higher when data is unique, repeated, overrepresented, or present in a small fine-tuning set.</a:t>
            </a:r>
          </a:p>
          <a:p>
            <a:r>
              <a:rPr lang="en-GB" sz="1200" b="0" kern="1200" dirty="0">
                <a:solidFill>
                  <a:schemeClr val="tx1"/>
                </a:solidFill>
                <a:effectLst/>
                <a:latin typeface="+mn-lt"/>
                <a:ea typeface="+mn-ea"/>
                <a:cs typeface="+mn-cs"/>
              </a:rPr>
              <a:t>The security problem is that the model becomes a fuzzy, hard-to-query, hard-to-delete storage layer. You cannot apply normal database access controls to model weights. If the organization needs record-level authorization, deletion, audit, legal hold, or tenant isolation, model weights are usually the wrong storage location.</a:t>
            </a:r>
          </a:p>
          <a:p>
            <a:endParaRPr lang="en-GB" sz="1200" b="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Key Message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Training on internal data can turn model </a:t>
            </a:r>
            <a:r>
              <a:rPr lang="en-GB" sz="1200" b="0" kern="1200" dirty="0" err="1">
                <a:solidFill>
                  <a:schemeClr val="tx1"/>
                </a:solidFill>
                <a:effectLst/>
                <a:latin typeface="+mn-lt"/>
                <a:ea typeface="+mn-ea"/>
                <a:cs typeface="+mn-cs"/>
              </a:rPr>
              <a:t>behavior</a:t>
            </a:r>
            <a:r>
              <a:rPr lang="en-GB" sz="1200" b="0" kern="1200" dirty="0">
                <a:solidFill>
                  <a:schemeClr val="tx1"/>
                </a:solidFill>
                <a:effectLst/>
                <a:latin typeface="+mn-lt"/>
                <a:ea typeface="+mn-ea"/>
                <a:cs typeface="+mn-cs"/>
              </a:rPr>
              <a:t> into a sensitive-data artifact that needs lineage, approval, evaluation, and release controls.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 Narrative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The important defensive question is not whether a model contains a perfect copy of every training document. It usually does not.</a:t>
            </a:r>
          </a:p>
          <a:p>
            <a:r>
              <a:rPr lang="en-GB" sz="1200" b="0" kern="1200" dirty="0">
                <a:solidFill>
                  <a:schemeClr val="tx1"/>
                </a:solidFill>
                <a:effectLst/>
                <a:latin typeface="+mn-lt"/>
                <a:ea typeface="+mn-ea"/>
                <a:cs typeface="+mn-cs"/>
              </a:rPr>
              <a:t>The question is whether sensitive fragments, rare strings, private examples, or protected content can be recovered under some conditions. Research on extractable memorization and public disputes suggest the answer can be yes.</a:t>
            </a:r>
          </a:p>
          <a:p>
            <a:r>
              <a:rPr lang="en-GB" sz="1200" b="0" kern="1200" dirty="0">
                <a:solidFill>
                  <a:schemeClr val="tx1"/>
                </a:solidFill>
                <a:effectLst/>
                <a:latin typeface="+mn-lt"/>
                <a:ea typeface="+mn-ea"/>
                <a:cs typeface="+mn-cs"/>
              </a:rPr>
              <a:t>Models can sometimes memorize and regurgitate. Repeated prompting, unusual prefixes, prompt patterns, or targeted queries can sometimes produce content that looks very close to training data. Fine-tuned models can be especially concerning when datasets are small, repetitive, or contain rare sensitive values.</a:t>
            </a:r>
          </a:p>
          <a:p>
            <a:r>
              <a:rPr lang="en-GB" sz="1200" b="0" kern="1200" dirty="0">
                <a:solidFill>
                  <a:schemeClr val="tx1"/>
                </a:solidFill>
                <a:effectLst/>
                <a:latin typeface="+mn-lt"/>
                <a:ea typeface="+mn-ea"/>
                <a:cs typeface="+mn-cs"/>
              </a:rPr>
              <a:t>For defenders, the lesson is practical: if you would not paste the data into a public support chat, be cautious about putting it into training or fine-tuning data.</a:t>
            </a:r>
          </a:p>
          <a:p>
            <a:r>
              <a:rPr lang="en-GB" sz="1200" b="0" kern="1200" dirty="0">
                <a:solidFill>
                  <a:schemeClr val="tx1"/>
                </a:solidFill>
                <a:effectLst/>
                <a:latin typeface="+mn-lt"/>
                <a:ea typeface="+mn-ea"/>
                <a:cs typeface="+mn-cs"/>
              </a:rPr>
              <a:t>Several technique categories are worth naming because they map to tests defenders can build into an evaluation harness:</a:t>
            </a:r>
          </a:p>
          <a:p>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 Prompt repetition and continuation attacks: prompts that try to make the model continue, repeat, or complete memorized text patterns.</a:t>
            </a:r>
          </a:p>
          <a:p>
            <a:r>
              <a:rPr lang="en-GB" sz="1200" b="0" kern="1200" dirty="0">
                <a:solidFill>
                  <a:schemeClr val="tx1"/>
                </a:solidFill>
                <a:effectLst/>
                <a:latin typeface="+mn-lt"/>
                <a:ea typeface="+mn-ea"/>
                <a:cs typeface="+mn-cs"/>
              </a:rPr>
              <a:t>- Rare-string or canary extraction: testing whether unique tokens, identifiers, synthetic secrets, or unusual phrases from training data can be reproduced.</a:t>
            </a:r>
          </a:p>
          <a:p>
            <a:r>
              <a:rPr lang="en-GB" sz="1200" b="0" kern="1200" dirty="0">
                <a:solidFill>
                  <a:schemeClr val="tx1"/>
                </a:solidFill>
                <a:effectLst/>
                <a:latin typeface="+mn-lt"/>
                <a:ea typeface="+mn-ea"/>
                <a:cs typeface="+mn-cs"/>
              </a:rPr>
              <a:t>- Membership inference: trying to determine whether a specific record, document, or phrase was part of the training set.</a:t>
            </a:r>
          </a:p>
          <a:p>
            <a:r>
              <a:rPr lang="en-GB" sz="1200" b="0" kern="1200" dirty="0">
                <a:solidFill>
                  <a:schemeClr val="tx1"/>
                </a:solidFill>
                <a:effectLst/>
                <a:latin typeface="+mn-lt"/>
                <a:ea typeface="+mn-ea"/>
                <a:cs typeface="+mn-cs"/>
              </a:rPr>
              <a:t>- Model inversion and reconstruction: broader ML privacy attacks that attempt to infer sensitive attributes or reconstruct representative training examples from model </a:t>
            </a:r>
            <a:r>
              <a:rPr lang="en-GB" sz="1200" b="0" kern="1200" dirty="0" err="1">
                <a:solidFill>
                  <a:schemeClr val="tx1"/>
                </a:solidFill>
                <a:effectLst/>
                <a:latin typeface="+mn-lt"/>
                <a:ea typeface="+mn-ea"/>
                <a:cs typeface="+mn-cs"/>
              </a:rPr>
              <a:t>behavior</a:t>
            </a:r>
            <a:r>
              <a:rPr lang="en-GB" sz="1200" b="0" kern="1200" dirty="0">
                <a:solidFill>
                  <a:schemeClr val="tx1"/>
                </a:solidFill>
                <a:effectLst/>
                <a:latin typeface="+mn-lt"/>
                <a:ea typeface="+mn-ea"/>
                <a:cs typeface="+mn-cs"/>
              </a:rPr>
              <a:t>.</a:t>
            </a:r>
          </a:p>
          <a:p>
            <a:r>
              <a:rPr lang="en-GB" sz="1200" b="0" kern="1200" dirty="0">
                <a:solidFill>
                  <a:schemeClr val="tx1"/>
                </a:solidFill>
                <a:effectLst/>
                <a:latin typeface="+mn-lt"/>
                <a:ea typeface="+mn-ea"/>
                <a:cs typeface="+mn-cs"/>
              </a:rPr>
              <a:t>- Targeted data extraction: querying around known prefixes, formats, names, IDs, or document structures to recover nearby memorized content.</a:t>
            </a:r>
          </a:p>
          <a:p>
            <a:r>
              <a:rPr lang="en-GB" sz="1200" b="0" kern="1200" dirty="0">
                <a:solidFill>
                  <a:schemeClr val="tx1"/>
                </a:solidFill>
                <a:effectLst/>
                <a:latin typeface="+mn-lt"/>
                <a:ea typeface="+mn-ea"/>
                <a:cs typeface="+mn-cs"/>
              </a:rPr>
              <a:t>- Fine-tune leakage testing: checking whether a smaller fine-tuned dataset made private examples easier to reproduce.</a:t>
            </a:r>
          </a:p>
          <a:p>
            <a:r>
              <a:rPr lang="en-GB" sz="1200" b="0" kern="1200" dirty="0">
                <a:solidFill>
                  <a:schemeClr val="tx1"/>
                </a:solidFill>
                <a:effectLst/>
                <a:latin typeface="+mn-lt"/>
                <a:ea typeface="+mn-ea"/>
                <a:cs typeface="+mn-cs"/>
              </a:rPr>
              <a:t>- Shadow-model analysis: training or comparing against auxiliary models to estimate what kinds of records are likely to leak.</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The talk should keep exploit mechanics at the concept level. The useful engineering takeaway is what to evaluate before release and after model updates.</a:t>
            </a:r>
          </a:p>
          <a:p>
            <a:br>
              <a:rPr lang="en-GB" sz="1200" b="0" kern="1200" dirty="0">
                <a:solidFill>
                  <a:schemeClr val="tx1"/>
                </a:solidFill>
                <a:effectLst/>
                <a:latin typeface="+mn-lt"/>
                <a:ea typeface="+mn-ea"/>
                <a:cs typeface="+mn-cs"/>
              </a:rPr>
            </a:br>
            <a:r>
              <a:rPr lang="en-GB" sz="1200" b="1" kern="1200" dirty="0">
                <a:solidFill>
                  <a:schemeClr val="tx1"/>
                </a:solidFill>
                <a:effectLst/>
                <a:latin typeface="+mn-lt"/>
                <a:ea typeface="+mn-ea"/>
                <a:cs typeface="+mn-cs"/>
              </a:rPr>
              <a:t>### Key Message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The risk is not that every training record is recoverable. The risk is that rare or sensitive fragments may be recoverable, and teams need a repeatable way to test for that before release.</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The public copyright disputes around generative AI are useful here because they show a concrete technical pattern: parties allege that protected training content can influence generated outputs.</a:t>
            </a:r>
          </a:p>
          <a:p>
            <a:r>
              <a:rPr lang="en-GB" sz="1200" b="0" kern="1200" dirty="0">
                <a:solidFill>
                  <a:schemeClr val="tx1"/>
                </a:solidFill>
                <a:effectLst/>
                <a:latin typeface="+mn-lt"/>
                <a:ea typeface="+mn-ea"/>
                <a:cs typeface="+mn-cs"/>
              </a:rPr>
              <a:t>Content creators, publishers, and rights holders have argued that models were trained on protected works and can sometimes produce outputs that are too close to those works. The legal questions are separate from our security question, but the technical concern overlaps: if a model can reproduce or closely summarize protected training content, what else could it reproduce?</a:t>
            </a:r>
          </a:p>
          <a:p>
            <a:r>
              <a:rPr lang="en-GB" sz="1200" b="0" kern="1200" dirty="0">
                <a:solidFill>
                  <a:schemeClr val="tx1"/>
                </a:solidFill>
                <a:effectLst/>
                <a:latin typeface="+mn-lt"/>
                <a:ea typeface="+mn-ea"/>
                <a:cs typeface="+mn-cs"/>
              </a:rPr>
              <a:t>In a business context, replace copyrighted articles with internal playbooks, support transcripts, source code, executive notes, regulated records, or customer-specific examples.</a:t>
            </a:r>
          </a:p>
          <a:p>
            <a:r>
              <a:rPr lang="en-GB" sz="1200" b="0" kern="1200" dirty="0">
                <a:solidFill>
                  <a:schemeClr val="tx1"/>
                </a:solidFill>
                <a:effectLst/>
                <a:latin typeface="+mn-lt"/>
                <a:ea typeface="+mn-ea"/>
                <a:cs typeface="+mn-cs"/>
              </a:rPr>
              <a:t>The point is not to litigate the copyright cases. The point is to use them as a public signal that training data can affect outputs in ways organizations need to evaluate, monitor, and constrain.</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Key Message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If public content can become a regurgitation dispute, private business content can become an exposure incident or compliance finding.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 Narrative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For Eir Health, the risky question is not whether the bot can explain public health topics. The risky question is whether the bot has learned internal details that require authorization, retention, deletion, audit, or regulatory handling.</a:t>
            </a:r>
          </a:p>
          <a:p>
            <a:r>
              <a:rPr lang="en-GB" sz="1200" b="0" kern="1200" dirty="0">
                <a:solidFill>
                  <a:schemeClr val="tx1"/>
                </a:solidFill>
                <a:effectLst/>
                <a:latin typeface="+mn-lt"/>
                <a:ea typeface="+mn-ea"/>
                <a:cs typeface="+mn-cs"/>
              </a:rPr>
              <a:t>That might include identity-verification exceptions, billing adjustment rules, escalation playbooks, patient-support transcripts, or synthetic examples that accidentally resemble real cases.</a:t>
            </a:r>
          </a:p>
          <a:p>
            <a:r>
              <a:rPr lang="en-GB" sz="1200" b="0" kern="1200" dirty="0">
                <a:solidFill>
                  <a:schemeClr val="tx1"/>
                </a:solidFill>
                <a:effectLst/>
                <a:latin typeface="+mn-lt"/>
                <a:ea typeface="+mn-ea"/>
                <a:cs typeface="+mn-cs"/>
              </a:rPr>
              <a:t>The business may want the model to answer with the nuance of an experienced support agent. But that nuance often comes from sensitive operational data. If that data is embedded into model </a:t>
            </a:r>
            <a:r>
              <a:rPr lang="en-GB" sz="1200" b="0" kern="1200" dirty="0" err="1">
                <a:solidFill>
                  <a:schemeClr val="tx1"/>
                </a:solidFill>
                <a:effectLst/>
                <a:latin typeface="+mn-lt"/>
                <a:ea typeface="+mn-ea"/>
                <a:cs typeface="+mn-cs"/>
              </a:rPr>
              <a:t>behavior</a:t>
            </a:r>
            <a:r>
              <a:rPr lang="en-GB" sz="1200" b="0" kern="1200" dirty="0">
                <a:solidFill>
                  <a:schemeClr val="tx1"/>
                </a:solidFill>
                <a:effectLst/>
                <a:latin typeface="+mn-lt"/>
                <a:ea typeface="+mn-ea"/>
                <a:cs typeface="+mn-cs"/>
              </a:rPr>
              <a:t> through training, normal application controls become difficult to apply.</a:t>
            </a:r>
          </a:p>
          <a:p>
            <a:r>
              <a:rPr lang="en-GB" sz="1200" b="0" kern="1200" dirty="0">
                <a:solidFill>
                  <a:schemeClr val="tx1"/>
                </a:solidFill>
                <a:effectLst/>
                <a:latin typeface="+mn-lt"/>
                <a:ea typeface="+mn-ea"/>
                <a:cs typeface="+mn-cs"/>
              </a:rPr>
              <a:t>You cannot easily ask: which patient records influenced this answer? You cannot reliably remove one record from a trained model. You cannot enforce row-level permissions inside model weights.</a:t>
            </a:r>
          </a:p>
          <a:p>
            <a:r>
              <a:rPr lang="en-GB" sz="1200" b="1" kern="1200" dirty="0">
                <a:solidFill>
                  <a:schemeClr val="tx1"/>
                </a:solidFill>
                <a:effectLst/>
                <a:latin typeface="+mn-lt"/>
                <a:ea typeface="+mn-ea"/>
                <a:cs typeface="+mn-cs"/>
              </a:rPr>
              <a:t>### Key Message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Model weights and adapters are poor storage locations for data that needs precise access control, deletion, audit, tenant isolation, or regulatory handling.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 Narrative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The safest default is not to send sensitive internal data through a chatbot pipeline unless there is a clear reason and a controlled process. For training and fine-tuning specifically, avoid sensitive internal data unless the data has been classified, minimized, approved, and tied to a release record.</a:t>
            </a:r>
          </a:p>
          <a:p>
            <a:r>
              <a:rPr lang="en-GB" sz="1200" b="0" kern="1200" dirty="0">
                <a:solidFill>
                  <a:schemeClr val="tx1"/>
                </a:solidFill>
                <a:effectLst/>
                <a:latin typeface="+mn-lt"/>
                <a:ea typeface="+mn-ea"/>
                <a:cs typeface="+mn-cs"/>
              </a:rPr>
              <a:t>Start with data classification and lineage. Separate public, internal, confidential, regulated, and customer-specific material. Do not let convenience determine what enters prompts, eval sets, training datasets, or fine-tuning jobs.</a:t>
            </a:r>
          </a:p>
          <a:p>
            <a:r>
              <a:rPr lang="en-GB" sz="1200" b="0" kern="1200" dirty="0">
                <a:solidFill>
                  <a:schemeClr val="tx1"/>
                </a:solidFill>
                <a:effectLst/>
                <a:latin typeface="+mn-lt"/>
                <a:ea typeface="+mn-ea"/>
                <a:cs typeface="+mn-cs"/>
              </a:rPr>
              <a:t>Scrub secrets and identifiers. Avoid raw support transcripts unless they have been reviewed, transformed, and approved. Prefer approved, generalized examples over real cases. Minimize logs and traces that contain user prompts or model responses.</a:t>
            </a:r>
          </a:p>
          <a:p>
            <a:r>
              <a:rPr lang="en-GB" sz="1200" b="0" kern="1200" dirty="0">
                <a:solidFill>
                  <a:schemeClr val="tx1"/>
                </a:solidFill>
                <a:effectLst/>
                <a:latin typeface="+mn-lt"/>
                <a:ea typeface="+mn-ea"/>
                <a:cs typeface="+mn-cs"/>
              </a:rPr>
              <a:t>Evaluate memorization and extraction risk before deployment. Test for rare phrase regurgitation, canary reproduction, repeated prompt </a:t>
            </a:r>
            <a:r>
              <a:rPr lang="en-GB" sz="1200" b="0" kern="1200" dirty="0" err="1">
                <a:solidFill>
                  <a:schemeClr val="tx1"/>
                </a:solidFill>
                <a:effectLst/>
                <a:latin typeface="+mn-lt"/>
                <a:ea typeface="+mn-ea"/>
                <a:cs typeface="+mn-cs"/>
              </a:rPr>
              <a:t>behavior</a:t>
            </a:r>
            <a:r>
              <a:rPr lang="en-GB" sz="1200" b="0" kern="1200" dirty="0">
                <a:solidFill>
                  <a:schemeClr val="tx1"/>
                </a:solidFill>
                <a:effectLst/>
                <a:latin typeface="+mn-lt"/>
                <a:ea typeface="+mn-ea"/>
                <a:cs typeface="+mn-cs"/>
              </a:rPr>
              <a:t>, policy leakage, and sensitive example reconstruction.</a:t>
            </a:r>
          </a:p>
          <a:p>
            <a:r>
              <a:rPr lang="en-GB" sz="1200" b="0" kern="1200" dirty="0">
                <a:solidFill>
                  <a:schemeClr val="tx1"/>
                </a:solidFill>
                <a:effectLst/>
                <a:latin typeface="+mn-lt"/>
                <a:ea typeface="+mn-ea"/>
                <a:cs typeface="+mn-cs"/>
              </a:rPr>
              <a:t>Add release metadata around model versions, fine-tuning datasets, evaluation prompts, redaction steps, provider configuration, retention settings, and approval decisions. If a suspicious output appears later, responders need to know which model, dataset, prompt template, and data process produced it.</a:t>
            </a:r>
          </a:p>
          <a:p>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Before moving to RAG, pause and make this boundary tangible. The first demo is deliberately simple: it shows that useful support examples do not automatically become prompt, evaluation, or training material. They pass through a release gate first.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 Narrative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RAG is the common answer to that Stage 1 tension. Instead of relying on training or fine-tuning to teach the model every internal fact, the team keeps much of that knowledge outside the model and retrieves it at runtime.</a:t>
            </a:r>
          </a:p>
          <a:p>
            <a:r>
              <a:rPr lang="en-GB" sz="1200" b="0" kern="1200" dirty="0">
                <a:solidFill>
                  <a:schemeClr val="tx1"/>
                </a:solidFill>
                <a:effectLst/>
                <a:latin typeface="+mn-lt"/>
                <a:ea typeface="+mn-ea"/>
                <a:cs typeface="+mn-cs"/>
              </a:rPr>
              <a:t>The pipeline has several control points. Ingestion pulls from source systems. Parsers extract text and metadata. </a:t>
            </a:r>
            <a:r>
              <a:rPr lang="en-GB" sz="1200" b="0" kern="1200" dirty="0" err="1">
                <a:solidFill>
                  <a:schemeClr val="tx1"/>
                </a:solidFill>
                <a:effectLst/>
                <a:latin typeface="+mn-lt"/>
                <a:ea typeface="+mn-ea"/>
                <a:cs typeface="+mn-cs"/>
              </a:rPr>
              <a:t>Chunkers</a:t>
            </a:r>
            <a:r>
              <a:rPr lang="en-GB" sz="1200" b="0" kern="1200" dirty="0">
                <a:solidFill>
                  <a:schemeClr val="tx1"/>
                </a:solidFill>
                <a:effectLst/>
                <a:latin typeface="+mn-lt"/>
                <a:ea typeface="+mn-ea"/>
                <a:cs typeface="+mn-cs"/>
              </a:rPr>
              <a:t> split content. An embedding model turns chunks and queries into vectors. A vector or hybrid search index stores vectors, chunk text, metadata, source IDs, and permission attributes. At runtime, the retriever selects candidates, optional </a:t>
            </a:r>
            <a:r>
              <a:rPr lang="en-GB" sz="1200" b="0" kern="1200" dirty="0" err="1">
                <a:solidFill>
                  <a:schemeClr val="tx1"/>
                </a:solidFill>
                <a:effectLst/>
                <a:latin typeface="+mn-lt"/>
                <a:ea typeface="+mn-ea"/>
                <a:cs typeface="+mn-cs"/>
              </a:rPr>
              <a:t>rerankers</a:t>
            </a:r>
            <a:r>
              <a:rPr lang="en-GB" sz="1200" b="0" kern="1200" dirty="0">
                <a:solidFill>
                  <a:schemeClr val="tx1"/>
                </a:solidFill>
                <a:effectLst/>
                <a:latin typeface="+mn-lt"/>
                <a:ea typeface="+mn-ea"/>
                <a:cs typeface="+mn-cs"/>
              </a:rPr>
              <a:t> reorder them, and the context builder decides what enters the prompt.</a:t>
            </a:r>
          </a:p>
          <a:p>
            <a:r>
              <a:rPr lang="en-GB" sz="1200" b="0" kern="1200" dirty="0">
                <a:solidFill>
                  <a:schemeClr val="tx1"/>
                </a:solidFill>
                <a:effectLst/>
                <a:latin typeface="+mn-lt"/>
                <a:ea typeface="+mn-ea"/>
                <a:cs typeface="+mn-cs"/>
              </a:rPr>
              <a:t>For product teams, this solves the freshness and lifecycle problem without retraining. For security teams, the sensitive data did not disappear. It moved into a runtime data path that needs the same rigor as any other path from a protected repository to a user-facing response: source documents, ingestion pipelines, chunk stores, vector indexes, retrieved context, prompts, responses, chat history, and logs.</a:t>
            </a:r>
          </a:p>
          <a:p>
            <a:r>
              <a:rPr lang="en-GB" sz="1200" b="1" kern="1200" dirty="0">
                <a:solidFill>
                  <a:schemeClr val="tx1"/>
                </a:solidFill>
                <a:effectLst/>
                <a:latin typeface="+mn-lt"/>
                <a:ea typeface="+mn-ea"/>
                <a:cs typeface="+mn-cs"/>
              </a:rPr>
              <a:t>### Key Message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RAG reduces the need to place internal knowledge in model weights and shifts much of the operational exposure into ingestion, indexing, retrieval, context assembly, and telemetry.</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 Narrative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For Eir Health, RAG looks like the operationally correct compromise. Appointment policies, eligibility rules, clinic instructions, billing guidance, portal troubleshooting steps, and approved support language can remain in managed repositories. The chatbot can retrieve those documents when needed instead of relying on a model that was trained months ago.</a:t>
            </a:r>
          </a:p>
          <a:p>
            <a:r>
              <a:rPr lang="en-GB" sz="1200" b="0" kern="1200" dirty="0">
                <a:solidFill>
                  <a:schemeClr val="tx1"/>
                </a:solidFill>
                <a:effectLst/>
                <a:latin typeface="+mn-lt"/>
                <a:ea typeface="+mn-ea"/>
                <a:cs typeface="+mn-cs"/>
              </a:rPr>
              <a:t>That gives the business several advantages. Documents can be updated without retraining. Outdated policies can be removed from the index. Answers can cite source material. Different teams can own different knowledge bases. The system can preserve source ACLs if ingestion, indexing, retrieval, reranking, context assembly, and logging all carry the same authorization metadata.</a:t>
            </a:r>
          </a:p>
          <a:p>
            <a:r>
              <a:rPr lang="en-GB" sz="1200" b="0" kern="1200" dirty="0">
                <a:solidFill>
                  <a:schemeClr val="tx1"/>
                </a:solidFill>
                <a:effectLst/>
                <a:latin typeface="+mn-lt"/>
                <a:ea typeface="+mn-ea"/>
                <a:cs typeface="+mn-cs"/>
              </a:rPr>
              <a:t>That conditional is the security hinge.</a:t>
            </a:r>
          </a:p>
          <a:p>
            <a:r>
              <a:rPr lang="en-GB" sz="1200" b="0" kern="1200" dirty="0">
                <a:solidFill>
                  <a:schemeClr val="tx1"/>
                </a:solidFill>
                <a:effectLst/>
                <a:latin typeface="+mn-lt"/>
                <a:ea typeface="+mn-ea"/>
                <a:cs typeface="+mn-cs"/>
              </a:rPr>
              <a:t>Many RAG systems treat retrieval as a relevance problem, not an authorization problem. Semantic similarity does not understand whether the user is a patient, clinician, billing specialist, contractor, or anonymous visitor. It does not know whether a document is public guidance, internal procedure, regulated content, or a staff-only exception process unless the application encodes and enforces that policy before context assembly.</a:t>
            </a:r>
          </a:p>
          <a:p>
            <a:r>
              <a:rPr lang="en-GB" sz="1200" b="0" kern="1200" dirty="0">
                <a:solidFill>
                  <a:schemeClr val="tx1"/>
                </a:solidFill>
                <a:effectLst/>
                <a:latin typeface="+mn-lt"/>
                <a:ea typeface="+mn-ea"/>
                <a:cs typeface="+mn-cs"/>
              </a:rPr>
              <a:t>Imagine a user asking: "What should I do if identity verification fails and I need access today?" A safe public answer might describe official recovery steps. An unsafe answer might retrieve the internal fraud-control playbook, escalation exceptions, or manual override rules.</a:t>
            </a:r>
          </a:p>
          <a:p>
            <a:endParaRPr lang="en-GB" sz="1200" b="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Key Message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RAG can reduce model memorization risk, but it does not automatically enforce least privilege.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 Narrative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Once RAG enters the architecture, the sensitive-data inventory gets wider.</a:t>
            </a:r>
          </a:p>
          <a:p>
            <a:r>
              <a:rPr lang="en-GB" sz="1200" b="0" kern="1200" dirty="0">
                <a:solidFill>
                  <a:schemeClr val="tx1"/>
                </a:solidFill>
                <a:effectLst/>
                <a:latin typeface="+mn-lt"/>
                <a:ea typeface="+mn-ea"/>
                <a:cs typeface="+mn-cs"/>
              </a:rPr>
              <a:t>There are the original source systems: SharePoint, Confluence, file shares, ticketing systems, policy repositories, CRM notes, and other internal knowledge bases. There is the ingestion pipeline that extracts text, normalizes it, chunks it, enriches it with metadata, and sends it for embedding. There is the vector or search index that stores chunks, embeddings, source IDs, permissions metadata, classification labels, freshness markers, and sometimes summaries.</a:t>
            </a:r>
          </a:p>
          <a:p>
            <a:r>
              <a:rPr lang="en-GB" sz="1200" b="0" kern="1200" dirty="0">
                <a:solidFill>
                  <a:schemeClr val="tx1"/>
                </a:solidFill>
                <a:effectLst/>
                <a:latin typeface="+mn-lt"/>
                <a:ea typeface="+mn-ea"/>
                <a:cs typeface="+mn-cs"/>
              </a:rPr>
              <a:t>Then there is the runtime path. Retrieved passages are assembled into prompt context. The model produces an answer. The app may store the user question, retrieved chunks, model response, chat history, trace data, feedback labels, policy decisions, and evaluation examples.</a:t>
            </a:r>
          </a:p>
          <a:p>
            <a:r>
              <a:rPr lang="en-GB" sz="1200" b="0" kern="1200" dirty="0">
                <a:solidFill>
                  <a:schemeClr val="tx1"/>
                </a:solidFill>
                <a:effectLst/>
                <a:latin typeface="+mn-lt"/>
                <a:ea typeface="+mn-ea"/>
                <a:cs typeface="+mn-cs"/>
              </a:rPr>
              <a:t>Each copy can weaken the original data boundary. A document protected in SharePoint may lose its ACLs when it becomes chunks in a vector database. A chunk may remove context that made a policy safe to interpret. Metadata can reveal sensitive categories even when text is not exposed directly. Logs can accidentally become a second knowledge base full of user questions and retrieved answers.</a:t>
            </a:r>
          </a:p>
          <a:p>
            <a:r>
              <a:rPr lang="en-GB" sz="1200" b="0" kern="1200" dirty="0">
                <a:solidFill>
                  <a:schemeClr val="tx1"/>
                </a:solidFill>
                <a:effectLst/>
                <a:latin typeface="+mn-lt"/>
                <a:ea typeface="+mn-ea"/>
                <a:cs typeface="+mn-cs"/>
              </a:rPr>
              <a:t>Embeddings are not plain text, but they are derived from sensitive text and are used to locate that text. The exact risk depends on the embedding model, stored metadata, access path, tenancy model, and whether source chunks are stored beside vectors. If the source content is sensitive, treat vectors, chunks, metadata, and retrieval traces as sensitive too.</a:t>
            </a:r>
          </a:p>
          <a:p>
            <a:br>
              <a:rPr lang="en-GB" sz="1200" b="0" kern="1200" dirty="0">
                <a:solidFill>
                  <a:schemeClr val="tx1"/>
                </a:solidFill>
                <a:effectLst/>
                <a:latin typeface="+mn-lt"/>
                <a:ea typeface="+mn-ea"/>
                <a:cs typeface="+mn-cs"/>
              </a:rPr>
            </a:br>
            <a:r>
              <a:rPr lang="en-GB" sz="1200" b="1" kern="1200" dirty="0">
                <a:solidFill>
                  <a:schemeClr val="tx1"/>
                </a:solidFill>
                <a:effectLst/>
                <a:latin typeface="+mn-lt"/>
                <a:ea typeface="+mn-ea"/>
                <a:cs typeface="+mn-cs"/>
              </a:rPr>
              <a:t>### Key Message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Stage 2 creates governable storage layers, but it also creates derived assets that need classification, authorization, retention, deletion, monitoring, and tenant isolation.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 Narrative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The common RAG leak is an authorization failure: the system retrieves or exposes a chunk the user, tenant, or workflow should not see.</a:t>
            </a:r>
          </a:p>
          <a:p>
            <a:r>
              <a:rPr lang="en-GB" sz="1200" b="0" kern="1200" dirty="0">
                <a:solidFill>
                  <a:schemeClr val="tx1"/>
                </a:solidFill>
                <a:effectLst/>
                <a:latin typeface="+mn-lt"/>
                <a:ea typeface="+mn-ea"/>
                <a:cs typeface="+mn-cs"/>
              </a:rPr>
              <a:t>Maybe documents from many departments were embedded into one shared index. Maybe the ingestion service account had broad read access. Maybe chunk-level ACLs were not preserved. Maybe permission filters were missing, stale, or applied only after restricted chunks had already been exposed to prompt assembly, reranking, tracing, or logs. Maybe the test suite measured answer quality but never tested permission boundaries.</a:t>
            </a:r>
          </a:p>
          <a:p>
            <a:r>
              <a:rPr lang="en-GB" sz="1200" b="0" kern="1200" dirty="0">
                <a:solidFill>
                  <a:schemeClr val="tx1"/>
                </a:solidFill>
                <a:effectLst/>
                <a:latin typeface="+mn-lt"/>
                <a:ea typeface="+mn-ea"/>
                <a:cs typeface="+mn-cs"/>
              </a:rPr>
              <a:t>When restricted content appears in the answer, the model often gets blamed. But in many cases, the model is only summarizing what the application placed in its context. If the internal fraud playbook, billing override table, staff-only escalation script, or patient-specific ticket summary reaches the prompt, the model has no reliable way to know that the user was not supposed to see it.</a:t>
            </a:r>
          </a:p>
          <a:p>
            <a:r>
              <a:rPr lang="en-GB" sz="1200" b="0" kern="1200" dirty="0">
                <a:solidFill>
                  <a:schemeClr val="tx1"/>
                </a:solidFill>
                <a:effectLst/>
                <a:latin typeface="+mn-lt"/>
                <a:ea typeface="+mn-ea"/>
                <a:cs typeface="+mn-cs"/>
              </a:rPr>
              <a:t>For Eir Health, a public support bot should answer public policy questions. It should not retrieve internal verification exceptions, staff escalation notes, partner contract terms, billing adjustment thresholds, or customer-specific support records unless the user and session are authorized for that exact content.</a:t>
            </a:r>
          </a:p>
          <a:p>
            <a:r>
              <a:rPr lang="en-GB" sz="1200" b="0" kern="1200" dirty="0">
                <a:solidFill>
                  <a:schemeClr val="tx1"/>
                </a:solidFill>
                <a:effectLst/>
                <a:latin typeface="+mn-lt"/>
                <a:ea typeface="+mn-ea"/>
                <a:cs typeface="+mn-cs"/>
              </a:rPr>
              <a:t>This is the RAG version of broken object-level authorization. The object is no longer just a database row or file. It is a retrieved chunk entering model context.</a:t>
            </a:r>
          </a:p>
          <a:p>
            <a:endParaRPr lang="en-GB" sz="1200" b="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Key Message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RAG security starts before generation. Authorization has to shape candidate retrieval, reranking, context assembly, tracing, and answer generation.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RAG also changes who can influence the instruction path.</a:t>
            </a:r>
          </a:p>
          <a:p>
            <a:r>
              <a:rPr lang="en-GB" sz="1200" b="0" kern="1200" dirty="0">
                <a:solidFill>
                  <a:schemeClr val="tx1"/>
                </a:solidFill>
                <a:effectLst/>
                <a:latin typeface="+mn-lt"/>
                <a:ea typeface="+mn-ea"/>
                <a:cs typeface="+mn-cs"/>
              </a:rPr>
              <a:t>In Stage 1, the obvious instruction source was the user prompt. In Stage 2, any retrieved content can become part of the model context. That content might come from a wiki page, help-</a:t>
            </a:r>
            <a:r>
              <a:rPr lang="en-GB" sz="1200" b="0" kern="1200" dirty="0" err="1">
                <a:solidFill>
                  <a:schemeClr val="tx1"/>
                </a:solidFill>
                <a:effectLst/>
                <a:latin typeface="+mn-lt"/>
                <a:ea typeface="+mn-ea"/>
                <a:cs typeface="+mn-cs"/>
              </a:rPr>
              <a:t>center</a:t>
            </a:r>
            <a:r>
              <a:rPr lang="en-GB" sz="1200" b="0" kern="1200" dirty="0">
                <a:solidFill>
                  <a:schemeClr val="tx1"/>
                </a:solidFill>
                <a:effectLst/>
                <a:latin typeface="+mn-lt"/>
                <a:ea typeface="+mn-ea"/>
                <a:cs typeface="+mn-cs"/>
              </a:rPr>
              <a:t> article, uploaded PDF, ticket comment, email, web page, third-party document, or user-uploaded file.</a:t>
            </a:r>
          </a:p>
          <a:p>
            <a:r>
              <a:rPr lang="en-GB" sz="1200" b="0" kern="1200" dirty="0">
                <a:solidFill>
                  <a:schemeClr val="tx1"/>
                </a:solidFill>
                <a:effectLst/>
                <a:latin typeface="+mn-lt"/>
                <a:ea typeface="+mn-ea"/>
                <a:cs typeface="+mn-cs"/>
              </a:rPr>
              <a:t>The model does not naturally know that retrieved text is evidence, not authority. A malicious or compromised document can include instructions such as "ignore previous rules" or "include internal notes in the answer." A benign document can still contain text that looks like instructions: old procedures, example conversations, code comments, copied emails, or troubleshooting scripts.</a:t>
            </a:r>
          </a:p>
          <a:p>
            <a:r>
              <a:rPr lang="en-GB" sz="1200" b="0" kern="1200" dirty="0">
                <a:solidFill>
                  <a:schemeClr val="tx1"/>
                </a:solidFill>
                <a:effectLst/>
                <a:latin typeface="+mn-lt"/>
                <a:ea typeface="+mn-ea"/>
                <a:cs typeface="+mn-cs"/>
              </a:rPr>
              <a:t>This means an attacker may not need to attack the chat box directly. They may be able to influence the documents the bot later retrieves.</a:t>
            </a:r>
          </a:p>
          <a:p>
            <a:r>
              <a:rPr lang="en-GB" sz="1200" b="0" kern="1200" dirty="0">
                <a:solidFill>
                  <a:schemeClr val="tx1"/>
                </a:solidFill>
                <a:effectLst/>
                <a:latin typeface="+mn-lt"/>
                <a:ea typeface="+mn-ea"/>
                <a:cs typeface="+mn-cs"/>
              </a:rPr>
              <a:t>The defensive goal is to enforce separation between instructions and data as much as the architecture allows. Retrieved content should be treated as untrusted evidence, not as policy. The system prompt can define how evidence may be used, but it is not a security boundary by itself. The application should track provenance, classify source trust, restrict which content can influence tool use, and keep workflow authorization outside the model.</a:t>
            </a:r>
          </a:p>
          <a:p>
            <a:br>
              <a:rPr lang="en-GB" sz="1200" b="0" kern="1200" dirty="0">
                <a:solidFill>
                  <a:schemeClr val="tx1"/>
                </a:solidFill>
                <a:effectLst/>
                <a:latin typeface="+mn-lt"/>
                <a:ea typeface="+mn-ea"/>
                <a:cs typeface="+mn-cs"/>
              </a:rPr>
            </a:br>
            <a:r>
              <a:rPr lang="en-GB" sz="1200" b="1" kern="1200" dirty="0">
                <a:solidFill>
                  <a:schemeClr val="tx1"/>
                </a:solidFill>
                <a:effectLst/>
                <a:latin typeface="+mn-lt"/>
                <a:ea typeface="+mn-ea"/>
                <a:cs typeface="+mn-cs"/>
              </a:rPr>
              <a:t>### Key Message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In RAG, attackers can influence model </a:t>
            </a:r>
            <a:r>
              <a:rPr lang="en-GB" sz="1200" b="0" kern="1200" dirty="0" err="1">
                <a:solidFill>
                  <a:schemeClr val="tx1"/>
                </a:solidFill>
                <a:effectLst/>
                <a:latin typeface="+mn-lt"/>
                <a:ea typeface="+mn-ea"/>
                <a:cs typeface="+mn-cs"/>
              </a:rPr>
              <a:t>behavior</a:t>
            </a:r>
            <a:r>
              <a:rPr lang="en-GB" sz="1200" b="0" kern="1200" dirty="0">
                <a:solidFill>
                  <a:schemeClr val="tx1"/>
                </a:solidFill>
                <a:effectLst/>
                <a:latin typeface="+mn-lt"/>
                <a:ea typeface="+mn-ea"/>
                <a:cs typeface="+mn-cs"/>
              </a:rPr>
              <a:t> indirectly through content the bot retrieves.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 Narrative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RAG </a:t>
            </a:r>
            <a:r>
              <a:rPr lang="en-GB" sz="1200" b="0" kern="1200" dirty="0" err="1">
                <a:solidFill>
                  <a:schemeClr val="tx1"/>
                </a:solidFill>
                <a:effectLst/>
                <a:latin typeface="+mn-lt"/>
                <a:ea typeface="+mn-ea"/>
                <a:cs typeface="+mn-cs"/>
              </a:rPr>
              <a:t>defense</a:t>
            </a:r>
            <a:r>
              <a:rPr lang="en-GB" sz="1200" b="0" kern="1200" dirty="0">
                <a:solidFill>
                  <a:schemeClr val="tx1"/>
                </a:solidFill>
                <a:effectLst/>
                <a:latin typeface="+mn-lt"/>
                <a:ea typeface="+mn-ea"/>
                <a:cs typeface="+mn-cs"/>
              </a:rPr>
              <a:t> starts with source governance. Know which repositories are indexed. Classify documents before ingestion. Exclude secrets, regulated records, raw support transcripts, and operational playbooks that should never answer broad support questions. Preserve source ACLs into chunk metadata and enforce them through a clear policy decision point and policy enforcement point.</a:t>
            </a:r>
          </a:p>
          <a:p>
            <a:r>
              <a:rPr lang="en-GB" sz="1200" b="0" kern="1200" dirty="0">
                <a:solidFill>
                  <a:schemeClr val="tx1"/>
                </a:solidFill>
                <a:effectLst/>
                <a:latin typeface="+mn-lt"/>
                <a:ea typeface="+mn-ea"/>
                <a:cs typeface="+mn-cs"/>
              </a:rPr>
              <a:t>Build the index for least privilege. Use separate indexes, namespaces, or collections for public, employee, clinician, partner, and customer-specific material when that makes policy clearer. Filter by user role, tenant, relationship, geography, data class, consent, and freshness before retrieved content enters reranking, prompt assembly, or logs.</a:t>
            </a:r>
          </a:p>
          <a:p>
            <a:r>
              <a:rPr lang="en-GB" sz="1200" b="0" kern="1200" dirty="0">
                <a:solidFill>
                  <a:schemeClr val="tx1"/>
                </a:solidFill>
                <a:effectLst/>
                <a:latin typeface="+mn-lt"/>
                <a:ea typeface="+mn-ea"/>
                <a:cs typeface="+mn-cs"/>
              </a:rPr>
              <a:t>Treat prompt context as sensitive. Limit the number and size of retrieved chunks. Keep source IDs, document classifications, retriever scores, and policy decisions in traces. Avoid logging full retrieved content unless retention and access controls match the source data. Redact or minimize retrieved context in telemetry where possible.</a:t>
            </a:r>
          </a:p>
          <a:p>
            <a:r>
              <a:rPr lang="en-GB" sz="1200" b="0" kern="1200" dirty="0">
                <a:solidFill>
                  <a:schemeClr val="tx1"/>
                </a:solidFill>
                <a:effectLst/>
                <a:latin typeface="+mn-lt"/>
                <a:ea typeface="+mn-ea"/>
                <a:cs typeface="+mn-cs"/>
              </a:rPr>
              <a:t>Test RAG like a security boundary. Add evaluations for permission boundaries, cross-tenant retrieval, restricted topics, poisoned documents, prompt injection through retrieved content, and canary documents that should never appear in public answers. Regression-test these cases whenever indexes, prompts, chunking logic, embedding models, retrievers, </a:t>
            </a:r>
            <a:r>
              <a:rPr lang="en-GB" sz="1200" b="0" kern="1200" dirty="0" err="1">
                <a:solidFill>
                  <a:schemeClr val="tx1"/>
                </a:solidFill>
                <a:effectLst/>
                <a:latin typeface="+mn-lt"/>
                <a:ea typeface="+mn-ea"/>
                <a:cs typeface="+mn-cs"/>
              </a:rPr>
              <a:t>rerankers</a:t>
            </a:r>
            <a:r>
              <a:rPr lang="en-GB" sz="1200" b="0" kern="1200" dirty="0">
                <a:solidFill>
                  <a:schemeClr val="tx1"/>
                </a:solidFill>
                <a:effectLst/>
                <a:latin typeface="+mn-lt"/>
                <a:ea typeface="+mn-ea"/>
                <a:cs typeface="+mn-cs"/>
              </a:rPr>
              <a:t>, or model versions change.</a:t>
            </a:r>
          </a:p>
          <a:p>
            <a:r>
              <a:rPr lang="en-GB" sz="1200" b="0" kern="1200" dirty="0">
                <a:solidFill>
                  <a:schemeClr val="tx1"/>
                </a:solidFill>
                <a:effectLst/>
                <a:latin typeface="+mn-lt"/>
                <a:ea typeface="+mn-ea"/>
                <a:cs typeface="+mn-cs"/>
              </a:rPr>
              <a:t>Monitor for abnormal retrieval </a:t>
            </a:r>
            <a:r>
              <a:rPr lang="en-GB" sz="1200" b="0" kern="1200" dirty="0" err="1">
                <a:solidFill>
                  <a:schemeClr val="tx1"/>
                </a:solidFill>
                <a:effectLst/>
                <a:latin typeface="+mn-lt"/>
                <a:ea typeface="+mn-ea"/>
                <a:cs typeface="+mn-cs"/>
              </a:rPr>
              <a:t>behavior</a:t>
            </a:r>
            <a:r>
              <a:rPr lang="en-GB" sz="1200" b="0" kern="1200" dirty="0">
                <a:solidFill>
                  <a:schemeClr val="tx1"/>
                </a:solidFill>
                <a:effectLst/>
                <a:latin typeface="+mn-lt"/>
                <a:ea typeface="+mn-ea"/>
                <a:cs typeface="+mn-cs"/>
              </a:rPr>
              <a:t>: repeated probing for internal procedures, high-sensitivity chunks returned to low-privilege users, mismatches between user role and document class, answers that quote restricted sources, and spikes in denied retrieval attempts.</a:t>
            </a:r>
          </a:p>
          <a:p>
            <a:r>
              <a:rPr lang="en-GB" sz="1200" b="0" kern="1200" dirty="0">
                <a:solidFill>
                  <a:schemeClr val="tx1"/>
                </a:solidFill>
                <a:effectLst/>
                <a:latin typeface="+mn-lt"/>
                <a:ea typeface="+mn-ea"/>
                <a:cs typeface="+mn-cs"/>
              </a:rPr>
              <a:t>Incident response needs retrieval traceability. Responders should be able to answer: who asked, which query was embedded or searched, which chunks were retrieved, which filters were applied, which prompt was sent, which model answered, and what was logged. Without that trace, a RAG leak is hard to reconstruct.</a:t>
            </a:r>
          </a:p>
          <a:p>
            <a:r>
              <a:rPr lang="en-GB" sz="1200" b="0" kern="1200" dirty="0">
                <a:solidFill>
                  <a:schemeClr val="tx1"/>
                </a:solidFill>
                <a:effectLst/>
                <a:latin typeface="+mn-lt"/>
                <a:ea typeface="+mn-ea"/>
                <a:cs typeface="+mn-cs"/>
              </a:rPr>
              <a:t>Before introducing tools, pause again and test the new boundary. The second demo uses the same query twice so the audience can see that the control is not better prompting or better similarity search. The control is permission-aware retrieval before prompt assembly.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 Narrative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Agentic AI is the next step in the same usefulness story. The chatbot no longer only answers questions from static context. It can plan, call tools, read and write records, persist state, send messages, create tickets, schedule appointments, update cases, and chain multiple LLM/tool calls together.</a:t>
            </a:r>
          </a:p>
          <a:p>
            <a:r>
              <a:rPr lang="en-GB" sz="1200" b="0" kern="1200" dirty="0">
                <a:solidFill>
                  <a:schemeClr val="tx1"/>
                </a:solidFill>
                <a:effectLst/>
                <a:latin typeface="+mn-lt"/>
                <a:ea typeface="+mn-ea"/>
                <a:cs typeface="+mn-cs"/>
              </a:rPr>
              <a:t>For Eir Health, this is exactly what the business eventually wants: an assistant that can reset portal access, book or reschedule appointments, route requests, and create follow-up tasks with the right context instead of only explaining the process.</a:t>
            </a:r>
          </a:p>
          <a:p>
            <a:r>
              <a:rPr lang="en-GB" sz="1200" b="0" kern="1200" dirty="0">
                <a:solidFill>
                  <a:schemeClr val="tx1"/>
                </a:solidFill>
                <a:effectLst/>
                <a:latin typeface="+mn-lt"/>
                <a:ea typeface="+mn-ea"/>
                <a:cs typeface="+mn-cs"/>
              </a:rPr>
              <a:t>Architecturally, the chatbot now has an orchestration layer with a planner, tool registry, tool schemas, state store, memory store, policy checks, and execution identity. The model may propose which tool to call, what arguments to pass, whether to use retrieved knowledge, what to remember, and when to ask the user for more information. Tools connect the conversational interface to business systems.</a:t>
            </a:r>
          </a:p>
          <a:p>
            <a:r>
              <a:rPr lang="en-GB" sz="1200" b="0" kern="1200" dirty="0">
                <a:solidFill>
                  <a:schemeClr val="tx1"/>
                </a:solidFill>
                <a:effectLst/>
                <a:latin typeface="+mn-lt"/>
                <a:ea typeface="+mn-ea"/>
                <a:cs typeface="+mn-cs"/>
              </a:rPr>
              <a:t>This changes the security question again. In Stage 1, we asked what the model might reveal from training. In Stage 2, we asked what retrieval might place into context. In Stage 3, we ask what the bot can do with the context it receives.</a:t>
            </a:r>
          </a:p>
          <a:p>
            <a:br>
              <a:rPr lang="en-GB" sz="1200" b="0" kern="1200" dirty="0">
                <a:solidFill>
                  <a:schemeClr val="tx1"/>
                </a:solidFill>
                <a:effectLst/>
                <a:latin typeface="+mn-lt"/>
                <a:ea typeface="+mn-ea"/>
                <a:cs typeface="+mn-cs"/>
              </a:rPr>
            </a:br>
            <a:r>
              <a:rPr lang="en-GB" sz="1200" b="1" kern="1200" dirty="0">
                <a:solidFill>
                  <a:schemeClr val="tx1"/>
                </a:solidFill>
                <a:effectLst/>
                <a:latin typeface="+mn-lt"/>
                <a:ea typeface="+mn-ea"/>
                <a:cs typeface="+mn-cs"/>
              </a:rPr>
              <a:t>### Key Message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Once a chatbot can use tools, a model error or prompt injection can become a state-changing business action.</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Map the new assets, state stores, and authorization questions introduced by agentic systems.</a:t>
            </a:r>
          </a:p>
          <a:p>
            <a:r>
              <a:rPr lang="en-GB" sz="1200" b="1" kern="1200" dirty="0">
                <a:solidFill>
                  <a:schemeClr val="tx1"/>
                </a:solidFill>
                <a:effectLst/>
                <a:latin typeface="+mn-lt"/>
                <a:ea typeface="+mn-ea"/>
                <a:cs typeface="+mn-cs"/>
              </a:rPr>
              <a:t>### Narrative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Agentic systems add three sensitive surfaces on top of everything we already covered: tools, memory or state, and identity.</a:t>
            </a:r>
          </a:p>
          <a:p>
            <a:r>
              <a:rPr lang="en-GB" sz="1200" b="0" kern="1200" dirty="0">
                <a:solidFill>
                  <a:schemeClr val="tx1"/>
                </a:solidFill>
                <a:effectLst/>
                <a:latin typeface="+mn-lt"/>
                <a:ea typeface="+mn-ea"/>
                <a:cs typeface="+mn-cs"/>
              </a:rPr>
              <a:t>Tools are the bridge from conversation to business state. A tool might search customer records, update contact details, create a support ticket, issue a refund, send an email, change appointment status, or write a clinical-support note. Even read-only tools matter, because they can expose sensitive records through the model response and because tool results may feed later tool calls.</a:t>
            </a:r>
          </a:p>
          <a:p>
            <a:r>
              <a:rPr lang="en-GB" sz="1200" b="0" kern="1200" dirty="0">
                <a:solidFill>
                  <a:schemeClr val="tx1"/>
                </a:solidFill>
                <a:effectLst/>
                <a:latin typeface="+mn-lt"/>
                <a:ea typeface="+mn-ea"/>
                <a:cs typeface="+mn-cs"/>
              </a:rPr>
              <a:t>Memory and state make conversations persistent. The system may remember user preferences, unresolved issues, prior answers, account context, workflow state, internal notes, or intermediate tool results. That can improve user experience, but it also creates another storage layer with retention, deletion, tenant isolation, and access-control requirements.</a:t>
            </a:r>
          </a:p>
          <a:p>
            <a:r>
              <a:rPr lang="en-GB" sz="1200" b="0" kern="1200" dirty="0">
                <a:solidFill>
                  <a:schemeClr val="tx1"/>
                </a:solidFill>
                <a:effectLst/>
                <a:latin typeface="+mn-lt"/>
                <a:ea typeface="+mn-ea"/>
                <a:cs typeface="+mn-cs"/>
              </a:rPr>
              <a:t>Identity decides whose authority is being used. Is the agent acting as the end user, a support employee, a delegated OAuth principal, a backend service account, or a broad integration role? If the agent uses a powerful service account and relies on the model to "do the right thing," the application has created a confused deputy risk.</a:t>
            </a:r>
          </a:p>
          <a:p>
            <a:r>
              <a:rPr lang="en-GB" sz="1200" b="0" kern="1200" dirty="0">
                <a:solidFill>
                  <a:schemeClr val="tx1"/>
                </a:solidFill>
                <a:effectLst/>
                <a:latin typeface="+mn-lt"/>
                <a:ea typeface="+mn-ea"/>
                <a:cs typeface="+mn-cs"/>
              </a:rPr>
              <a:t>For Eir Health, the same natural-language request can mean very different things depending on identity. "Update this patient's phone number" is safe only if the caller is verified, the relationship is valid, the workflow permits the change, and the system records who approved it.</a:t>
            </a:r>
          </a:p>
          <a:p>
            <a:br>
              <a:rPr lang="en-GB" sz="1200" b="0" kern="1200" dirty="0">
                <a:solidFill>
                  <a:schemeClr val="tx1"/>
                </a:solidFill>
                <a:effectLst/>
                <a:latin typeface="+mn-lt"/>
                <a:ea typeface="+mn-ea"/>
                <a:cs typeface="+mn-cs"/>
              </a:rPr>
            </a:br>
            <a:r>
              <a:rPr lang="en-GB" sz="1200" b="1" kern="1200" dirty="0">
                <a:solidFill>
                  <a:schemeClr val="tx1"/>
                </a:solidFill>
                <a:effectLst/>
                <a:latin typeface="+mn-lt"/>
                <a:ea typeface="+mn-ea"/>
                <a:cs typeface="+mn-cs"/>
              </a:rPr>
              <a:t>### Key Message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Agentic AI turns authorization into a runtime design problem: tool scope, memory scope, state scope, and acting identity must be explicit.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 Narrative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In Stage 2, indirect prompt injection could cause the model to say the wrong thing or reveal the wrong context. In Stage 3, the same weakness can cause the system to do the wrong thing.</a:t>
            </a:r>
          </a:p>
          <a:p>
            <a:r>
              <a:rPr lang="en-GB" sz="1200" b="0" kern="1200" dirty="0">
                <a:solidFill>
                  <a:schemeClr val="tx1"/>
                </a:solidFill>
                <a:effectLst/>
                <a:latin typeface="+mn-lt"/>
                <a:ea typeface="+mn-ea"/>
                <a:cs typeface="+mn-cs"/>
              </a:rPr>
              <a:t>Imagine an attacker can influence a document, ticket comment, uploaded form, email, or web page that the agent later reads. The content includes instructions that look like part of the task: change the escalation path, send a copy of the case summary, mark verification complete, waive a step, or call a tool with different arguments.</a:t>
            </a:r>
          </a:p>
          <a:p>
            <a:r>
              <a:rPr lang="en-GB" sz="1200" b="0" kern="1200" dirty="0">
                <a:solidFill>
                  <a:schemeClr val="tx1"/>
                </a:solidFill>
                <a:effectLst/>
                <a:latin typeface="+mn-lt"/>
                <a:ea typeface="+mn-ea"/>
                <a:cs typeface="+mn-cs"/>
              </a:rPr>
              <a:t>If the agent treats retrieved or user-supplied content as instructions, the attack has crossed from language into workflow. The model may summarize the malicious instruction, select a tool, and pass schema-valid arguments to the backend. If the backend trusts the agent identity too much, the action succeeds.</a:t>
            </a:r>
          </a:p>
          <a:p>
            <a:r>
              <a:rPr lang="en-GB" sz="1200" b="0" kern="1200" dirty="0">
                <a:solidFill>
                  <a:schemeClr val="tx1"/>
                </a:solidFill>
                <a:effectLst/>
                <a:latin typeface="+mn-lt"/>
                <a:ea typeface="+mn-ea"/>
                <a:cs typeface="+mn-cs"/>
              </a:rPr>
              <a:t>This is why agentic failures are higher impact. The bot can expose data, modify records, send messages, create misleading audit trails, or trigger downstream business processes. Even a small reasoning error can become durable state in another system.</a:t>
            </a:r>
          </a:p>
          <a:p>
            <a:r>
              <a:rPr lang="en-GB" sz="1200" b="0" kern="1200" dirty="0">
                <a:solidFill>
                  <a:schemeClr val="tx1"/>
                </a:solidFill>
                <a:effectLst/>
                <a:latin typeface="+mn-lt"/>
                <a:ea typeface="+mn-ea"/>
                <a:cs typeface="+mn-cs"/>
              </a:rPr>
              <a:t>The defensive lesson is that business rules cannot live only in prompts. Prompts can guide </a:t>
            </a:r>
            <a:r>
              <a:rPr lang="en-GB" sz="1200" b="0" kern="1200" dirty="0" err="1">
                <a:solidFill>
                  <a:schemeClr val="tx1"/>
                </a:solidFill>
                <a:effectLst/>
                <a:latin typeface="+mn-lt"/>
                <a:ea typeface="+mn-ea"/>
                <a:cs typeface="+mn-cs"/>
              </a:rPr>
              <a:t>behavior</a:t>
            </a:r>
            <a:r>
              <a:rPr lang="en-GB" sz="1200" b="0" kern="1200" dirty="0">
                <a:solidFill>
                  <a:schemeClr val="tx1"/>
                </a:solidFill>
                <a:effectLst/>
                <a:latin typeface="+mn-lt"/>
                <a:ea typeface="+mn-ea"/>
                <a:cs typeface="+mn-cs"/>
              </a:rPr>
              <a:t>, but they are not an authorization boundary. High-risk actions need deterministic policy checks, scoped credentials, explicit user confirmation, and auditability outside the model.</a:t>
            </a:r>
          </a:p>
          <a:p>
            <a:br>
              <a:rPr lang="en-GB" sz="1200" b="0" kern="1200" dirty="0">
                <a:solidFill>
                  <a:schemeClr val="tx1"/>
                </a:solidFill>
                <a:effectLst/>
                <a:latin typeface="+mn-lt"/>
                <a:ea typeface="+mn-ea"/>
                <a:cs typeface="+mn-cs"/>
              </a:rPr>
            </a:br>
            <a:r>
              <a:rPr lang="en-GB" sz="1200" b="1" kern="1200" dirty="0">
                <a:solidFill>
                  <a:schemeClr val="tx1"/>
                </a:solidFill>
                <a:effectLst/>
                <a:latin typeface="+mn-lt"/>
                <a:ea typeface="+mn-ea"/>
                <a:cs typeface="+mn-cs"/>
              </a:rPr>
              <a:t>### Key Message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When tools are connected, untrusted instructions can become unauthorized actions unless tool execution is mediated outside the model.</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Stage 3 </a:t>
            </a:r>
            <a:r>
              <a:rPr lang="en-GB" sz="1200" b="0" kern="1200" dirty="0" err="1">
                <a:solidFill>
                  <a:schemeClr val="tx1"/>
                </a:solidFill>
                <a:effectLst/>
                <a:latin typeface="+mn-lt"/>
                <a:ea typeface="+mn-ea"/>
                <a:cs typeface="+mn-cs"/>
              </a:rPr>
              <a:t>defense</a:t>
            </a:r>
            <a:r>
              <a:rPr lang="en-GB" sz="1200" b="0" kern="1200" dirty="0">
                <a:solidFill>
                  <a:schemeClr val="tx1"/>
                </a:solidFill>
                <a:effectLst/>
                <a:latin typeface="+mn-lt"/>
                <a:ea typeface="+mn-ea"/>
                <a:cs typeface="+mn-cs"/>
              </a:rPr>
              <a:t> starts by treating the model as a planner or proposal generator, not as the policy authority.</a:t>
            </a:r>
          </a:p>
          <a:p>
            <a:r>
              <a:rPr lang="en-GB" sz="1200" b="0" kern="1200" dirty="0">
                <a:solidFill>
                  <a:schemeClr val="tx1"/>
                </a:solidFill>
                <a:effectLst/>
                <a:latin typeface="+mn-lt"/>
                <a:ea typeface="+mn-ea"/>
                <a:cs typeface="+mn-cs"/>
              </a:rPr>
              <a:t>Give tools narrow scopes. Split read tools from write tools. Use least-privilege tokens, delegated user identity where possible, tenant and role constraints, per-tool allowlists, and explicit schemas for tool arguments. Validate schema fields semantically, not only syntactically. Do not give an agent one broad backend credential and hope the prompt keeps it contained.</a:t>
            </a:r>
          </a:p>
          <a:p>
            <a:r>
              <a:rPr lang="en-GB" sz="1200" b="0" kern="1200" dirty="0">
                <a:solidFill>
                  <a:schemeClr val="tx1"/>
                </a:solidFill>
                <a:effectLst/>
                <a:latin typeface="+mn-lt"/>
                <a:ea typeface="+mn-ea"/>
                <a:cs typeface="+mn-cs"/>
              </a:rPr>
              <a:t>Put deterministic authorization in front of every sensitive action. The application should check who the user is, what relationship they have to the record, which tenant and workflow state apply, whether the action is allowed, whether the arguments match policy, and whether stronger verification is required. The model can propose an action; the system decides whether it is permitted.</a:t>
            </a:r>
          </a:p>
          <a:p>
            <a:r>
              <a:rPr lang="en-GB" sz="1200" b="0" kern="1200" dirty="0">
                <a:solidFill>
                  <a:schemeClr val="tx1"/>
                </a:solidFill>
                <a:effectLst/>
                <a:latin typeface="+mn-lt"/>
                <a:ea typeface="+mn-ea"/>
                <a:cs typeface="+mn-cs"/>
              </a:rPr>
              <a:t>Use confirmation and human review where the blast radius is high. Booking a routine appointment may need a simple confirmation. Changing identity data, issuing refunds, sending regulated information, modifying clinical-support notes, or bypassing verification should require stronger controls or human approval.</a:t>
            </a:r>
          </a:p>
          <a:p>
            <a:r>
              <a:rPr lang="en-GB" sz="1200" b="0" kern="1200" dirty="0">
                <a:solidFill>
                  <a:schemeClr val="tx1"/>
                </a:solidFill>
                <a:effectLst/>
                <a:latin typeface="+mn-lt"/>
                <a:ea typeface="+mn-ea"/>
                <a:cs typeface="+mn-cs"/>
              </a:rPr>
              <a:t>Constrain memory and state. Classify what may be stored, where it may be recalled, how long it lives, who may access it, and whether it can influence future tool calls. Avoid writing secrets, regulated data, raw transcripts, or high-risk instructions into long-term memory unless there is a clear retention and deletion policy.</a:t>
            </a:r>
          </a:p>
          <a:p>
            <a:r>
              <a:rPr lang="en-GB" sz="1200" b="0" kern="1200" dirty="0">
                <a:solidFill>
                  <a:schemeClr val="tx1"/>
                </a:solidFill>
                <a:effectLst/>
                <a:latin typeface="+mn-lt"/>
                <a:ea typeface="+mn-ea"/>
                <a:cs typeface="+mn-cs"/>
              </a:rPr>
              <a:t>Monitor actions, not only text. Track tool calls, denied actions, unusual argument patterns, repeated attempts, sensitive-record access, memory writes, privilege transitions, and actions that contradict normal workflow. Incident responders need a complete trace: user request, retrieved context, model decision, tool arguments, policy decision, API response, memory write, and final user-facing answer.</a:t>
            </a:r>
          </a:p>
          <a:p>
            <a:r>
              <a:rPr lang="en-GB" sz="1200" b="0" kern="1200" dirty="0">
                <a:solidFill>
                  <a:schemeClr val="tx1"/>
                </a:solidFill>
                <a:effectLst/>
                <a:latin typeface="+mn-lt"/>
                <a:ea typeface="+mn-ea"/>
                <a:cs typeface="+mn-cs"/>
              </a:rPr>
              <a:t>Before closing the talk, run the final boundary test. The first two demos controlled data entering release artifacts and context. This one controls action execution. It should feel like the natural final step: even if the model proposes a schema-valid tool call, authority still lives outside the model.</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 Narrative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The full story is not that chatbots are unsafe. The story is that every useful chatbot architecture moves sensitive data somewhere new, lets new content influence the model, or gives the bot a new capability.</a:t>
            </a:r>
          </a:p>
          <a:p>
            <a:r>
              <a:rPr lang="en-GB" sz="1200" b="0" kern="1200" dirty="0">
                <a:solidFill>
                  <a:schemeClr val="tx1"/>
                </a:solidFill>
                <a:effectLst/>
                <a:latin typeface="+mn-lt"/>
                <a:ea typeface="+mn-ea"/>
                <a:cs typeface="+mn-cs"/>
              </a:rPr>
              <a:t>In Stage 1, the risk was sensitive data in prompts, responses, logs, and any training or fine-tuning data. The control was data minimization, training data governance, redaction, memorization testing, and release approval.</a:t>
            </a:r>
          </a:p>
          <a:p>
            <a:r>
              <a:rPr lang="en-GB" sz="1200" b="0" kern="1200" dirty="0">
                <a:solidFill>
                  <a:schemeClr val="tx1"/>
                </a:solidFill>
                <a:effectLst/>
                <a:latin typeface="+mn-lt"/>
                <a:ea typeface="+mn-ea"/>
                <a:cs typeface="+mn-cs"/>
              </a:rPr>
              <a:t>In Stage 2, the risk moved into retrieval. The control was source classification, ACL-preserving ingestion, permission-aware retrieval, bounded prompt context, untrusted-content handling, and traceability.</a:t>
            </a:r>
          </a:p>
          <a:p>
            <a:r>
              <a:rPr lang="en-GB" sz="1200" b="0" kern="1200" dirty="0">
                <a:solidFill>
                  <a:schemeClr val="tx1"/>
                </a:solidFill>
                <a:effectLst/>
                <a:latin typeface="+mn-lt"/>
                <a:ea typeface="+mn-ea"/>
                <a:cs typeface="+mn-cs"/>
              </a:rPr>
              <a:t>In Stage 3, the bot gained tools, memory, state, and action. The control became least-privilege tooling, deterministic authorization outside the model, semantic argument validation, confirmation for high-risk changes, memory governance, and action-level monitoring.</a:t>
            </a:r>
          </a:p>
          <a:p>
            <a:r>
              <a:rPr lang="en-GB" sz="1200" b="0" kern="1200" dirty="0">
                <a:solidFill>
                  <a:schemeClr val="tx1"/>
                </a:solidFill>
                <a:effectLst/>
                <a:latin typeface="+mn-lt"/>
                <a:ea typeface="+mn-ea"/>
                <a:cs typeface="+mn-cs"/>
              </a:rPr>
              <a:t>The practical lesson is to stop treating chatbot security as one prompt-hardening exercise. Prompts matter, but they are not the architecture. The real control points are where data is stored, how it enters context, who can influence instructions, and what the bot is allowed to do.</a:t>
            </a:r>
          </a:p>
          <a:p>
            <a:r>
              <a:rPr lang="en-GB" sz="1200" b="0" kern="1200" dirty="0">
                <a:solidFill>
                  <a:schemeClr val="tx1"/>
                </a:solidFill>
                <a:effectLst/>
                <a:latin typeface="+mn-lt"/>
                <a:ea typeface="+mn-ea"/>
                <a:cs typeface="+mn-cs"/>
              </a:rPr>
              <a:t>If you remember one thing, remember the repeated question from the beginning: when the chatbot becomes more useful, what changed in the threat model?</a:t>
            </a:r>
          </a:p>
          <a:p>
            <a:endParaRPr lang="en-GB" sz="1200" b="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Key Message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Each new capability needs a matching security control.</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6F8FC-06AC-CCB7-5388-AB150AF832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2A5FD3-247A-E2D5-6700-5709BA6BDE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1974A1-D67C-B7E3-ADC4-4AD5C58108BD}"/>
              </a:ext>
            </a:extLst>
          </p:cNvPr>
          <p:cNvSpPr>
            <a:spLocks noGrp="1"/>
          </p:cNvSpPr>
          <p:nvPr>
            <p:ph type="body" idx="1"/>
          </p:nvPr>
        </p:nvSpPr>
        <p:spPr/>
        <p:txBody>
          <a:bodyPr/>
          <a:lstStyle/>
          <a:p>
            <a:r>
              <a:rPr lang="en-GB" sz="1200" b="1" kern="1200" dirty="0">
                <a:solidFill>
                  <a:schemeClr val="tx1"/>
                </a:solidFill>
                <a:effectLst/>
                <a:latin typeface="+mn-lt"/>
                <a:ea typeface="+mn-ea"/>
                <a:cs typeface="+mn-cs"/>
              </a:rPr>
              <a:t>### Narrative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The full story is not that chatbots are unsafe. The story is that every useful chatbot architecture moves sensitive data somewhere new, lets new content influence the model, or gives the bot a new capability.</a:t>
            </a:r>
          </a:p>
          <a:p>
            <a:r>
              <a:rPr lang="en-GB" sz="1200" b="0" kern="1200" dirty="0">
                <a:solidFill>
                  <a:schemeClr val="tx1"/>
                </a:solidFill>
                <a:effectLst/>
                <a:latin typeface="+mn-lt"/>
                <a:ea typeface="+mn-ea"/>
                <a:cs typeface="+mn-cs"/>
              </a:rPr>
              <a:t>In Stage 1, the risk was sensitive data in prompts, responses, logs, and any training or fine-tuning data. The control was data minimization, training data governance, redaction, memorization testing, and release approval.</a:t>
            </a:r>
          </a:p>
          <a:p>
            <a:r>
              <a:rPr lang="en-GB" sz="1200" b="0" kern="1200" dirty="0">
                <a:solidFill>
                  <a:schemeClr val="tx1"/>
                </a:solidFill>
                <a:effectLst/>
                <a:latin typeface="+mn-lt"/>
                <a:ea typeface="+mn-ea"/>
                <a:cs typeface="+mn-cs"/>
              </a:rPr>
              <a:t>In Stage 2, the risk moved into retrieval. The control was source classification, ACL-preserving ingestion, permission-aware retrieval, bounded prompt context, untrusted-content handling, and traceability.</a:t>
            </a:r>
          </a:p>
          <a:p>
            <a:r>
              <a:rPr lang="en-GB" sz="1200" b="0" kern="1200" dirty="0">
                <a:solidFill>
                  <a:schemeClr val="tx1"/>
                </a:solidFill>
                <a:effectLst/>
                <a:latin typeface="+mn-lt"/>
                <a:ea typeface="+mn-ea"/>
                <a:cs typeface="+mn-cs"/>
              </a:rPr>
              <a:t>In Stage 3, the bot gained tools, memory, state, and action. The control became least-privilege tooling, deterministic authorization outside the model, semantic argument validation, confirmation for high-risk changes, memory governance, and action-level monitoring.</a:t>
            </a:r>
          </a:p>
          <a:p>
            <a:r>
              <a:rPr lang="en-GB" sz="1200" b="0" kern="1200" dirty="0">
                <a:solidFill>
                  <a:schemeClr val="tx1"/>
                </a:solidFill>
                <a:effectLst/>
                <a:latin typeface="+mn-lt"/>
                <a:ea typeface="+mn-ea"/>
                <a:cs typeface="+mn-cs"/>
              </a:rPr>
              <a:t>The practical lesson is to stop treating chatbot security as one prompt-hardening exercise. Prompts matter, but they are not the architecture. The real control points are where data is stored, how it enters context, who can influence instructions, and what the bot is allowed to do.</a:t>
            </a:r>
          </a:p>
          <a:p>
            <a:r>
              <a:rPr lang="en-GB" sz="1200" b="0" kern="1200" dirty="0">
                <a:solidFill>
                  <a:schemeClr val="tx1"/>
                </a:solidFill>
                <a:effectLst/>
                <a:latin typeface="+mn-lt"/>
                <a:ea typeface="+mn-ea"/>
                <a:cs typeface="+mn-cs"/>
              </a:rPr>
              <a:t>If you remember one thing, remember the repeated question from the beginning: when the chatbot becomes more useful, what changed in the threat model?</a:t>
            </a:r>
          </a:p>
          <a:p>
            <a:endParaRPr lang="en-GB" sz="1200" b="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Key Message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Each new capability needs a matching security control.</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BAE2CDC9-CA1B-2C13-869F-8B6C75D20E0C}"/>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6942679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6_Blan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788A69D-793A-4AEA-98CE-36F847F6DD20}"/>
              </a:ext>
            </a:extLst>
          </p:cNvPr>
          <p:cNvSpPr/>
          <p:nvPr userDrawn="1"/>
        </p:nvSpPr>
        <p:spPr>
          <a:xfrm>
            <a:off x="170688" y="176784"/>
            <a:ext cx="11826240" cy="6486144"/>
          </a:xfrm>
          <a:prstGeom prst="rect">
            <a:avLst/>
          </a:prstGeom>
          <a:solidFill>
            <a:srgbClr val="0056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38" dirty="0"/>
          </a:p>
        </p:txBody>
      </p:sp>
      <p:sp>
        <p:nvSpPr>
          <p:cNvPr id="16" name="Text Placeholder 15">
            <a:extLst>
              <a:ext uri="{FF2B5EF4-FFF2-40B4-BE49-F238E27FC236}">
                <a16:creationId xmlns:a16="http://schemas.microsoft.com/office/drawing/2014/main" id="{1F5C6F82-0271-4C23-AB3F-337800CB81D1}"/>
              </a:ext>
            </a:extLst>
          </p:cNvPr>
          <p:cNvSpPr>
            <a:spLocks noGrp="1"/>
          </p:cNvSpPr>
          <p:nvPr>
            <p:ph type="body" sz="quarter" idx="11" hasCustomPrompt="1"/>
          </p:nvPr>
        </p:nvSpPr>
        <p:spPr>
          <a:xfrm>
            <a:off x="530352" y="445008"/>
            <a:ext cx="6632448" cy="5833872"/>
          </a:xfrm>
        </p:spPr>
        <p:txBody>
          <a:bodyPr/>
          <a:lstStyle>
            <a:lvl1pPr marL="0" indent="0" algn="l">
              <a:spcBef>
                <a:spcPts val="0"/>
              </a:spcBef>
              <a:buNone/>
              <a:defRPr i="0">
                <a:solidFill>
                  <a:schemeClr val="bg1"/>
                </a:solidFill>
                <a:latin typeface="IBM Plex Sans Condensed Light" panose="020B0406050203000203" pitchFamily="34" charset="0"/>
              </a:defRPr>
            </a:lvl1pPr>
          </a:lstStyle>
          <a:p>
            <a:pPr lvl="0"/>
            <a:r>
              <a:rPr lang="en-US" dirty="0"/>
              <a:t>Duis lacinia </a:t>
            </a:r>
            <a:r>
              <a:rPr lang="en-US" dirty="0" err="1"/>
              <a:t>justo</a:t>
            </a:r>
            <a:r>
              <a:rPr lang="en-US" dirty="0"/>
              <a:t> </a:t>
            </a:r>
            <a:r>
              <a:rPr lang="en-US" dirty="0" err="1"/>
              <a:t>venenatis</a:t>
            </a:r>
            <a:r>
              <a:rPr lang="en-US" dirty="0"/>
              <a:t>, </a:t>
            </a:r>
            <a:r>
              <a:rPr lang="en-US" dirty="0" err="1"/>
              <a:t>rhoncus</a:t>
            </a:r>
            <a:r>
              <a:rPr lang="en-US" dirty="0"/>
              <a:t> </a:t>
            </a:r>
            <a:r>
              <a:rPr lang="en-US" dirty="0" err="1"/>
              <a:t>est</a:t>
            </a:r>
            <a:r>
              <a:rPr lang="en-US" dirty="0"/>
              <a:t> a, </a:t>
            </a:r>
            <a:r>
              <a:rPr lang="en-US" dirty="0" err="1"/>
              <a:t>dapibus</a:t>
            </a:r>
            <a:r>
              <a:rPr lang="en-US" dirty="0"/>
              <a:t> diam. Nam </a:t>
            </a:r>
            <a:r>
              <a:rPr lang="en-US" dirty="0" err="1"/>
              <a:t>varius</a:t>
            </a:r>
            <a:r>
              <a:rPr lang="en-US" dirty="0"/>
              <a:t> </a:t>
            </a:r>
            <a:r>
              <a:rPr lang="en-US" dirty="0" err="1"/>
              <a:t>velit</a:t>
            </a:r>
            <a:r>
              <a:rPr lang="en-US" dirty="0"/>
              <a:t> in </a:t>
            </a:r>
            <a:r>
              <a:rPr lang="en-US" dirty="0" err="1"/>
              <a:t>ullamcorper</a:t>
            </a:r>
            <a:r>
              <a:rPr lang="en-US" dirty="0"/>
              <a:t> </a:t>
            </a:r>
            <a:r>
              <a:rPr lang="en-US" dirty="0" err="1"/>
              <a:t>lobortis</a:t>
            </a:r>
            <a:r>
              <a:rPr lang="en-US" dirty="0"/>
              <a:t>. Proin </a:t>
            </a:r>
            <a:r>
              <a:rPr lang="en-US" dirty="0" err="1"/>
              <a:t>ornare</a:t>
            </a:r>
            <a:r>
              <a:rPr lang="en-US" dirty="0"/>
              <a:t> </a:t>
            </a:r>
            <a:r>
              <a:rPr lang="en-US" dirty="0" err="1"/>
              <a:t>lobortis</a:t>
            </a:r>
            <a:r>
              <a:rPr lang="en-US" dirty="0"/>
              <a:t> </a:t>
            </a:r>
            <a:r>
              <a:rPr lang="en-US" dirty="0" err="1"/>
              <a:t>egestas</a:t>
            </a:r>
            <a:r>
              <a:rPr lang="en-US" dirty="0"/>
              <a:t>. </a:t>
            </a:r>
          </a:p>
        </p:txBody>
      </p:sp>
      <p:sp>
        <p:nvSpPr>
          <p:cNvPr id="3" name="Picture Placeholder 2">
            <a:extLst>
              <a:ext uri="{FF2B5EF4-FFF2-40B4-BE49-F238E27FC236}">
                <a16:creationId xmlns:a16="http://schemas.microsoft.com/office/drawing/2014/main" id="{EA06CFFB-CD36-40A1-B32A-BDF9CEECF0E7}"/>
              </a:ext>
            </a:extLst>
          </p:cNvPr>
          <p:cNvSpPr>
            <a:spLocks noGrp="1"/>
          </p:cNvSpPr>
          <p:nvPr>
            <p:ph type="pic" sz="quarter" idx="10"/>
          </p:nvPr>
        </p:nvSpPr>
        <p:spPr>
          <a:xfrm>
            <a:off x="7613904" y="445008"/>
            <a:ext cx="4114800" cy="4181856"/>
          </a:xfrm>
        </p:spPr>
        <p:txBody>
          <a:bodyPr/>
          <a:lstStyle/>
          <a:p>
            <a:endParaRPr lang="en-US" dirty="0"/>
          </a:p>
        </p:txBody>
      </p:sp>
    </p:spTree>
    <p:extLst>
      <p:ext uri="{BB962C8B-B14F-4D97-AF65-F5344CB8AC3E}">
        <p14:creationId xmlns:p14="http://schemas.microsoft.com/office/powerpoint/2010/main" val="967584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360D390-6DCC-4328-87A2-A3B4EF27EC51}"/>
              </a:ext>
            </a:extLst>
          </p:cNvPr>
          <p:cNvSpPr>
            <a:spLocks noGrp="1" noRot="1" noMove="1" noResize="1" noEditPoints="1" noAdjustHandles="1" noChangeArrowheads="1" noChangeShapeType="1"/>
          </p:cNvSpPr>
          <p:nvPr userDrawn="1"/>
        </p:nvSpPr>
        <p:spPr>
          <a:xfrm>
            <a:off x="7077009" y="-1"/>
            <a:ext cx="511499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A856EE-100E-49CB-9354-1EF68070E4E3}"/>
              </a:ext>
            </a:extLst>
          </p:cNvPr>
          <p:cNvSpPr>
            <a:spLocks noGrp="1"/>
          </p:cNvSpPr>
          <p:nvPr>
            <p:ph type="ctrTitle" hasCustomPrompt="1"/>
          </p:nvPr>
        </p:nvSpPr>
        <p:spPr>
          <a:xfrm>
            <a:off x="547463" y="2081799"/>
            <a:ext cx="4130040" cy="1651609"/>
          </a:xfrm>
        </p:spPr>
        <p:txBody>
          <a:bodyPr anchor="b">
            <a:noAutofit/>
          </a:bodyPr>
          <a:lstStyle>
            <a:lvl1pPr algn="l">
              <a:defRPr sz="3200"/>
            </a:lvl1pPr>
          </a:lstStyle>
          <a:p>
            <a:r>
              <a:rPr lang="en-US" dirty="0"/>
              <a:t>SESSION TITLE</a:t>
            </a:r>
          </a:p>
        </p:txBody>
      </p:sp>
      <p:sp>
        <p:nvSpPr>
          <p:cNvPr id="3" name="Subtitle 2">
            <a:extLst>
              <a:ext uri="{FF2B5EF4-FFF2-40B4-BE49-F238E27FC236}">
                <a16:creationId xmlns:a16="http://schemas.microsoft.com/office/drawing/2014/main" id="{D60F3D5C-05FA-468F-973E-A7C04EF2C352}"/>
              </a:ext>
            </a:extLst>
          </p:cNvPr>
          <p:cNvSpPr>
            <a:spLocks noGrp="1"/>
          </p:cNvSpPr>
          <p:nvPr>
            <p:ph type="subTitle" idx="1" hasCustomPrompt="1"/>
          </p:nvPr>
        </p:nvSpPr>
        <p:spPr>
          <a:xfrm>
            <a:off x="547462" y="3884072"/>
            <a:ext cx="4130039" cy="7032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YOUR NAME – THIS IS ACTUALLY IMPORTANT</a:t>
            </a:r>
          </a:p>
        </p:txBody>
      </p:sp>
      <p:sp>
        <p:nvSpPr>
          <p:cNvPr id="38" name="Text Placeholder 37">
            <a:extLst>
              <a:ext uri="{FF2B5EF4-FFF2-40B4-BE49-F238E27FC236}">
                <a16:creationId xmlns:a16="http://schemas.microsoft.com/office/drawing/2014/main" id="{95BA2B53-C96B-4DF9-AE32-450D157F655C}"/>
              </a:ext>
            </a:extLst>
          </p:cNvPr>
          <p:cNvSpPr>
            <a:spLocks noGrp="1"/>
          </p:cNvSpPr>
          <p:nvPr>
            <p:ph type="body" sz="quarter" idx="11" hasCustomPrompt="1"/>
          </p:nvPr>
        </p:nvSpPr>
        <p:spPr>
          <a:xfrm>
            <a:off x="547462" y="4776201"/>
            <a:ext cx="4130039" cy="1200790"/>
          </a:xfrm>
        </p:spPr>
        <p:txBody>
          <a:bodyPr wrap="square" lIns="90000" rIns="0">
            <a:noAutofit/>
          </a:bodyPr>
          <a:lstStyle>
            <a:lvl1pPr marL="0" indent="0">
              <a:lnSpc>
                <a:spcPct val="90000"/>
              </a:lnSpc>
              <a:spcBef>
                <a:spcPts val="0"/>
              </a:spcBef>
              <a:buNone/>
              <a:defRPr/>
            </a:lvl1pPr>
          </a:lstStyle>
          <a:p>
            <a:pPr lvl="0"/>
            <a:r>
              <a:rPr lang="en-US" dirty="0"/>
              <a:t>ALL YOUR AWESOME TITLES AND AWARDS  TO BE COMPLETELY PROUD OF</a:t>
            </a:r>
          </a:p>
        </p:txBody>
      </p:sp>
      <p:sp>
        <p:nvSpPr>
          <p:cNvPr id="10" name="TextBox 9">
            <a:extLst>
              <a:ext uri="{FF2B5EF4-FFF2-40B4-BE49-F238E27FC236}">
                <a16:creationId xmlns:a16="http://schemas.microsoft.com/office/drawing/2014/main" id="{DB2BB293-46F8-6E3C-ED75-9C9343C0158E}"/>
              </a:ext>
            </a:extLst>
          </p:cNvPr>
          <p:cNvSpPr txBox="1"/>
          <p:nvPr userDrawn="1"/>
        </p:nvSpPr>
        <p:spPr>
          <a:xfrm>
            <a:off x="2506599" y="422916"/>
            <a:ext cx="4341803" cy="1200329"/>
          </a:xfrm>
          <a:prstGeom prst="rect">
            <a:avLst/>
          </a:prstGeom>
          <a:noFill/>
        </p:spPr>
        <p:txBody>
          <a:bodyPr wrap="square" lIns="0" rIns="0" rtlCol="0">
            <a:spAutoFit/>
          </a:bodyPr>
          <a:lstStyle/>
          <a:p>
            <a:pPr algn="l"/>
            <a:r>
              <a:rPr lang="en-US" sz="7200" dirty="0">
                <a:solidFill>
                  <a:srgbClr val="A5416F"/>
                </a:solidFill>
              </a:rPr>
              <a:t>ECS 2026</a:t>
            </a:r>
          </a:p>
        </p:txBody>
      </p:sp>
      <p:pic>
        <p:nvPicPr>
          <p:cNvPr id="7" name="Picture 6">
            <a:extLst>
              <a:ext uri="{FF2B5EF4-FFF2-40B4-BE49-F238E27FC236}">
                <a16:creationId xmlns:a16="http://schemas.microsoft.com/office/drawing/2014/main" id="{B17C91D7-F983-79CC-EEB3-EB0854FFF510}"/>
              </a:ext>
            </a:extLst>
          </p:cNvPr>
          <p:cNvPicPr>
            <a:picLocks noChangeAspect="1"/>
          </p:cNvPicPr>
          <p:nvPr userDrawn="1"/>
        </p:nvPicPr>
        <p:blipFill>
          <a:blip r:embed="rId2">
            <a:extLst>
              <a:ext uri="{28A0092B-C50C-407E-A947-70E740481C1C}">
                <a14:useLocalDpi xmlns:a14="http://schemas.microsoft.com/office/drawing/2010/main" val="0"/>
              </a:ext>
            </a:extLst>
          </a:blip>
          <a:srcRect t="224" b="224"/>
          <a:stretch/>
        </p:blipFill>
        <p:spPr>
          <a:xfrm>
            <a:off x="7090822" y="-1"/>
            <a:ext cx="5114990" cy="6858000"/>
          </a:xfrm>
          <a:prstGeom prst="rect">
            <a:avLst/>
          </a:prstGeom>
        </p:spPr>
      </p:pic>
      <p:pic>
        <p:nvPicPr>
          <p:cNvPr id="1026" name="Picture 2">
            <a:extLst>
              <a:ext uri="{FF2B5EF4-FFF2-40B4-BE49-F238E27FC236}">
                <a16:creationId xmlns:a16="http://schemas.microsoft.com/office/drawing/2014/main" id="{CC78F788-5B9A-FB41-2631-2DC6E7C5A31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45472" y="-35637"/>
            <a:ext cx="2117436" cy="2117436"/>
          </a:xfrm>
          <a:prstGeom prst="rect">
            <a:avLst/>
          </a:prstGeom>
          <a:noFill/>
          <a:extLst>
            <a:ext uri="{909E8E84-426E-40DD-AFC4-6F175D3DCCD1}">
              <a14:hiddenFill xmlns:a14="http://schemas.microsoft.com/office/drawing/2010/main">
                <a:solidFill>
                  <a:srgbClr val="FFFFFF"/>
                </a:solidFill>
              </a14:hiddenFill>
            </a:ext>
          </a:extLst>
        </p:spPr>
      </p:pic>
      <p:sp>
        <p:nvSpPr>
          <p:cNvPr id="11" name="Oval 10">
            <a:extLst>
              <a:ext uri="{FF2B5EF4-FFF2-40B4-BE49-F238E27FC236}">
                <a16:creationId xmlns:a16="http://schemas.microsoft.com/office/drawing/2014/main" id="{BE2849C7-C1C5-813D-3C81-0CBC0B175A59}"/>
              </a:ext>
            </a:extLst>
          </p:cNvPr>
          <p:cNvSpPr/>
          <p:nvPr userDrawn="1"/>
        </p:nvSpPr>
        <p:spPr>
          <a:xfrm>
            <a:off x="5606473" y="0"/>
            <a:ext cx="1016000" cy="68349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18966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A5D02-6277-4F9B-93AE-B21BB6A3012A}"/>
              </a:ext>
            </a:extLst>
          </p:cNvPr>
          <p:cNvSpPr>
            <a:spLocks noGrp="1"/>
          </p:cNvSpPr>
          <p:nvPr>
            <p:ph type="title" hasCustomPrompt="1"/>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FD469624-FDBC-40B6-BB40-902C8442BD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 name="Group 3">
            <a:extLst>
              <a:ext uri="{FF2B5EF4-FFF2-40B4-BE49-F238E27FC236}">
                <a16:creationId xmlns:a16="http://schemas.microsoft.com/office/drawing/2014/main" id="{D048548F-4D3C-476D-A28E-A74F19C62575}"/>
              </a:ext>
            </a:extLst>
          </p:cNvPr>
          <p:cNvGrpSpPr/>
          <p:nvPr userDrawn="1"/>
        </p:nvGrpSpPr>
        <p:grpSpPr>
          <a:xfrm>
            <a:off x="5551170" y="1549568"/>
            <a:ext cx="1089660" cy="65378"/>
            <a:chOff x="3965945" y="1385354"/>
            <a:chExt cx="4572000" cy="79107"/>
          </a:xfrm>
          <a:solidFill>
            <a:srgbClr val="A5416F"/>
          </a:solidFill>
        </p:grpSpPr>
        <p:sp>
          <p:nvSpPr>
            <p:cNvPr id="5" name="Rectangle 4">
              <a:extLst>
                <a:ext uri="{FF2B5EF4-FFF2-40B4-BE49-F238E27FC236}">
                  <a16:creationId xmlns:a16="http://schemas.microsoft.com/office/drawing/2014/main" id="{02F9FE06-F113-404D-AA5B-4FDCE9A38D76}"/>
                </a:ext>
              </a:extLst>
            </p:cNvPr>
            <p:cNvSpPr/>
            <p:nvPr/>
          </p:nvSpPr>
          <p:spPr>
            <a:xfrm>
              <a:off x="3965945" y="1385356"/>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solidFill>
                  <a:srgbClr val="A5416F"/>
                </a:solidFill>
              </a:endParaRPr>
            </a:p>
          </p:txBody>
        </p:sp>
        <p:sp>
          <p:nvSpPr>
            <p:cNvPr id="6" name="Rectangle 5">
              <a:extLst>
                <a:ext uri="{FF2B5EF4-FFF2-40B4-BE49-F238E27FC236}">
                  <a16:creationId xmlns:a16="http://schemas.microsoft.com/office/drawing/2014/main" id="{11D0AA15-4390-4325-A234-A5DAA591D553}"/>
                </a:ext>
              </a:extLst>
            </p:cNvPr>
            <p:cNvSpPr/>
            <p:nvPr/>
          </p:nvSpPr>
          <p:spPr>
            <a:xfrm>
              <a:off x="4880345" y="1385355"/>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solidFill>
                  <a:srgbClr val="A5416F"/>
                </a:solidFill>
              </a:endParaRPr>
            </a:p>
          </p:txBody>
        </p:sp>
        <p:sp>
          <p:nvSpPr>
            <p:cNvPr id="7" name="Rectangle 6">
              <a:extLst>
                <a:ext uri="{FF2B5EF4-FFF2-40B4-BE49-F238E27FC236}">
                  <a16:creationId xmlns:a16="http://schemas.microsoft.com/office/drawing/2014/main" id="{E66BB0A4-6FC9-41D3-9B44-481A37F4EC71}"/>
                </a:ext>
              </a:extLst>
            </p:cNvPr>
            <p:cNvSpPr/>
            <p:nvPr/>
          </p:nvSpPr>
          <p:spPr>
            <a:xfrm>
              <a:off x="5794745" y="1385354"/>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solidFill>
                  <a:srgbClr val="A5416F"/>
                </a:solidFill>
              </a:endParaRPr>
            </a:p>
          </p:txBody>
        </p:sp>
        <p:sp>
          <p:nvSpPr>
            <p:cNvPr id="8" name="Rectangle 7">
              <a:extLst>
                <a:ext uri="{FF2B5EF4-FFF2-40B4-BE49-F238E27FC236}">
                  <a16:creationId xmlns:a16="http://schemas.microsoft.com/office/drawing/2014/main" id="{4995E59B-6D21-4D41-8A45-D2838CB83564}"/>
                </a:ext>
              </a:extLst>
            </p:cNvPr>
            <p:cNvSpPr/>
            <p:nvPr/>
          </p:nvSpPr>
          <p:spPr>
            <a:xfrm>
              <a:off x="6709145" y="1385354"/>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solidFill>
                  <a:srgbClr val="A5416F"/>
                </a:solidFill>
              </a:endParaRPr>
            </a:p>
          </p:txBody>
        </p:sp>
        <p:sp>
          <p:nvSpPr>
            <p:cNvPr id="9" name="Rectangle 8">
              <a:extLst>
                <a:ext uri="{FF2B5EF4-FFF2-40B4-BE49-F238E27FC236}">
                  <a16:creationId xmlns:a16="http://schemas.microsoft.com/office/drawing/2014/main" id="{D003CA89-E476-4C25-993F-0522EF8F08F6}"/>
                </a:ext>
              </a:extLst>
            </p:cNvPr>
            <p:cNvSpPr/>
            <p:nvPr/>
          </p:nvSpPr>
          <p:spPr>
            <a:xfrm>
              <a:off x="7623545" y="1385354"/>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solidFill>
                  <a:srgbClr val="A5416F"/>
                </a:solidFill>
              </a:endParaRPr>
            </a:p>
          </p:txBody>
        </p:sp>
      </p:grpSp>
    </p:spTree>
    <p:extLst>
      <p:ext uri="{BB962C8B-B14F-4D97-AF65-F5344CB8AC3E}">
        <p14:creationId xmlns:p14="http://schemas.microsoft.com/office/powerpoint/2010/main" val="2963448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 calcmode="lin" valueType="num">
                                      <p:cBhvr>
                                        <p:cTn id="9" dur="500" fill="hold"/>
                                        <p:tgtEl>
                                          <p:spTgt spid="4"/>
                                        </p:tgtEl>
                                        <p:attrNameLst>
                                          <p:attrName>style.rotation</p:attrName>
                                        </p:attrNameLst>
                                      </p:cBhvr>
                                      <p:tavLst>
                                        <p:tav tm="0">
                                          <p:val>
                                            <p:fltVal val="360"/>
                                          </p:val>
                                        </p:tav>
                                        <p:tav tm="100000">
                                          <p:val>
                                            <p:fltVal val="0"/>
                                          </p:val>
                                        </p:tav>
                                      </p:tavLst>
                                    </p:anim>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D25B1-0A1B-4B61-ABF1-3CDC6D0819F3}"/>
              </a:ext>
            </a:extLst>
          </p:cNvPr>
          <p:cNvSpPr>
            <a:spLocks noGrp="1"/>
          </p:cNvSpPr>
          <p:nvPr>
            <p:ph type="title" hasCustomPrompt="1"/>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1D3DA6A-ED7F-475F-9D76-3C4A4A7FB7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F8238E9-2340-4B0F-A71A-E338B1F358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2" name="Group 11">
            <a:extLst>
              <a:ext uri="{FF2B5EF4-FFF2-40B4-BE49-F238E27FC236}">
                <a16:creationId xmlns:a16="http://schemas.microsoft.com/office/drawing/2014/main" id="{0B6EDFBF-331E-B78F-9070-EF090659633D}"/>
              </a:ext>
            </a:extLst>
          </p:cNvPr>
          <p:cNvGrpSpPr/>
          <p:nvPr userDrawn="1"/>
        </p:nvGrpSpPr>
        <p:grpSpPr>
          <a:xfrm>
            <a:off x="5551170" y="1549568"/>
            <a:ext cx="1089660" cy="65378"/>
            <a:chOff x="3965945" y="1385354"/>
            <a:chExt cx="4572000" cy="79107"/>
          </a:xfrm>
          <a:solidFill>
            <a:srgbClr val="A5416F"/>
          </a:solidFill>
        </p:grpSpPr>
        <p:sp>
          <p:nvSpPr>
            <p:cNvPr id="13" name="Rectangle 12">
              <a:extLst>
                <a:ext uri="{FF2B5EF4-FFF2-40B4-BE49-F238E27FC236}">
                  <a16:creationId xmlns:a16="http://schemas.microsoft.com/office/drawing/2014/main" id="{A4C27335-35BD-910A-0AFE-1C143D36B80B}"/>
                </a:ext>
              </a:extLst>
            </p:cNvPr>
            <p:cNvSpPr/>
            <p:nvPr/>
          </p:nvSpPr>
          <p:spPr>
            <a:xfrm>
              <a:off x="3965945" y="1385356"/>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sp>
          <p:nvSpPr>
            <p:cNvPr id="14" name="Rectangle 13">
              <a:extLst>
                <a:ext uri="{FF2B5EF4-FFF2-40B4-BE49-F238E27FC236}">
                  <a16:creationId xmlns:a16="http://schemas.microsoft.com/office/drawing/2014/main" id="{FBE84B66-41A5-0BEA-F853-F2F7FA6250FD}"/>
                </a:ext>
              </a:extLst>
            </p:cNvPr>
            <p:cNvSpPr/>
            <p:nvPr/>
          </p:nvSpPr>
          <p:spPr>
            <a:xfrm>
              <a:off x="4880345" y="1385355"/>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sp>
          <p:nvSpPr>
            <p:cNvPr id="15" name="Rectangle 14">
              <a:extLst>
                <a:ext uri="{FF2B5EF4-FFF2-40B4-BE49-F238E27FC236}">
                  <a16:creationId xmlns:a16="http://schemas.microsoft.com/office/drawing/2014/main" id="{E409EF0F-BBE1-FC78-880D-BF957F7F8C82}"/>
                </a:ext>
              </a:extLst>
            </p:cNvPr>
            <p:cNvSpPr/>
            <p:nvPr/>
          </p:nvSpPr>
          <p:spPr>
            <a:xfrm>
              <a:off x="5794745" y="1385354"/>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sp>
          <p:nvSpPr>
            <p:cNvPr id="16" name="Rectangle 15">
              <a:extLst>
                <a:ext uri="{FF2B5EF4-FFF2-40B4-BE49-F238E27FC236}">
                  <a16:creationId xmlns:a16="http://schemas.microsoft.com/office/drawing/2014/main" id="{CC9B13D9-912B-182F-EE47-5B5AE829C7F3}"/>
                </a:ext>
              </a:extLst>
            </p:cNvPr>
            <p:cNvSpPr/>
            <p:nvPr/>
          </p:nvSpPr>
          <p:spPr>
            <a:xfrm>
              <a:off x="6709145" y="1385354"/>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sp>
          <p:nvSpPr>
            <p:cNvPr id="17" name="Rectangle 16">
              <a:extLst>
                <a:ext uri="{FF2B5EF4-FFF2-40B4-BE49-F238E27FC236}">
                  <a16:creationId xmlns:a16="http://schemas.microsoft.com/office/drawing/2014/main" id="{71B723E2-2FF2-DA32-636B-9E4035DAEFF5}"/>
                </a:ext>
              </a:extLst>
            </p:cNvPr>
            <p:cNvSpPr/>
            <p:nvPr/>
          </p:nvSpPr>
          <p:spPr>
            <a:xfrm>
              <a:off x="7623545" y="1385354"/>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grpSp>
    </p:spTree>
    <p:extLst>
      <p:ext uri="{BB962C8B-B14F-4D97-AF65-F5344CB8AC3E}">
        <p14:creationId xmlns:p14="http://schemas.microsoft.com/office/powerpoint/2010/main" val="155033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 calcmode="lin" valueType="num">
                                      <p:cBhvr>
                                        <p:cTn id="9" dur="500" fill="hold"/>
                                        <p:tgtEl>
                                          <p:spTgt spid="12"/>
                                        </p:tgtEl>
                                        <p:attrNameLst>
                                          <p:attrName>style.rotation</p:attrName>
                                        </p:attrNameLst>
                                      </p:cBhvr>
                                      <p:tavLst>
                                        <p:tav tm="0">
                                          <p:val>
                                            <p:fltVal val="360"/>
                                          </p:val>
                                        </p:tav>
                                        <p:tav tm="100000">
                                          <p:val>
                                            <p:fltVal val="0"/>
                                          </p:val>
                                        </p:tav>
                                      </p:tavLst>
                                    </p:anim>
                                    <p:animEffect transition="in" filter="fade">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508D2C5-201A-4F9D-9E4F-F7B564128E2F}"/>
              </a:ext>
            </a:extLst>
          </p:cNvPr>
          <p:cNvSpPr>
            <a:spLocks noGrp="1"/>
          </p:cNvSpPr>
          <p:nvPr>
            <p:ph type="body" idx="1" hasCustomPrompt="1"/>
          </p:nvPr>
        </p:nvSpPr>
        <p:spPr>
          <a:xfrm>
            <a:off x="839788" y="1681163"/>
            <a:ext cx="5157787"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8C69B7E-ECEC-4E2B-BCB2-1B5D7B3637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402559-CC7C-46E8-B3B9-F4DCC801A7E3}"/>
              </a:ext>
            </a:extLst>
          </p:cNvPr>
          <p:cNvSpPr>
            <a:spLocks noGrp="1"/>
          </p:cNvSpPr>
          <p:nvPr>
            <p:ph type="body" sz="quarter" idx="3" hasCustomPrompt="1"/>
          </p:nvPr>
        </p:nvSpPr>
        <p:spPr>
          <a:xfrm>
            <a:off x="6172200" y="1681163"/>
            <a:ext cx="5183188"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DDAC2C98-DE00-47D2-908D-F1DCD3A563E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FCD86282-58A5-40B3-92A7-820EBEC345C3}"/>
              </a:ext>
            </a:extLst>
          </p:cNvPr>
          <p:cNvSpPr>
            <a:spLocks noGrp="1"/>
          </p:cNvSpPr>
          <p:nvPr>
            <p:ph type="title" hasCustomPrompt="1"/>
          </p:nvPr>
        </p:nvSpPr>
        <p:spPr>
          <a:xfrm>
            <a:off x="838200" y="548005"/>
            <a:ext cx="10515600" cy="476123"/>
          </a:xfrm>
        </p:spPr>
        <p:txBody>
          <a:bodyPr/>
          <a:lstStyle/>
          <a:p>
            <a:r>
              <a:rPr lang="en-US" dirty="0"/>
              <a:t>CLICK TO EDIT MASTER TITLE STYLE</a:t>
            </a:r>
          </a:p>
        </p:txBody>
      </p:sp>
      <p:grpSp>
        <p:nvGrpSpPr>
          <p:cNvPr id="2" name="Group 1">
            <a:extLst>
              <a:ext uri="{FF2B5EF4-FFF2-40B4-BE49-F238E27FC236}">
                <a16:creationId xmlns:a16="http://schemas.microsoft.com/office/drawing/2014/main" id="{4BAD2D68-FD7E-152C-E3CB-A5163106CEFE}"/>
              </a:ext>
            </a:extLst>
          </p:cNvPr>
          <p:cNvGrpSpPr/>
          <p:nvPr userDrawn="1"/>
        </p:nvGrpSpPr>
        <p:grpSpPr>
          <a:xfrm>
            <a:off x="5551170" y="1549568"/>
            <a:ext cx="1089660" cy="65378"/>
            <a:chOff x="3965945" y="1385354"/>
            <a:chExt cx="4572000" cy="79107"/>
          </a:xfrm>
          <a:solidFill>
            <a:srgbClr val="A5416F"/>
          </a:solidFill>
        </p:grpSpPr>
        <p:sp>
          <p:nvSpPr>
            <p:cNvPr id="14" name="Rectangle 13">
              <a:extLst>
                <a:ext uri="{FF2B5EF4-FFF2-40B4-BE49-F238E27FC236}">
                  <a16:creationId xmlns:a16="http://schemas.microsoft.com/office/drawing/2014/main" id="{509B1F5D-29AA-73AA-1545-166B022FDA31}"/>
                </a:ext>
              </a:extLst>
            </p:cNvPr>
            <p:cNvSpPr/>
            <p:nvPr/>
          </p:nvSpPr>
          <p:spPr>
            <a:xfrm>
              <a:off x="3965945" y="1385356"/>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sp>
          <p:nvSpPr>
            <p:cNvPr id="15" name="Rectangle 14">
              <a:extLst>
                <a:ext uri="{FF2B5EF4-FFF2-40B4-BE49-F238E27FC236}">
                  <a16:creationId xmlns:a16="http://schemas.microsoft.com/office/drawing/2014/main" id="{64B4F356-5EF5-4023-C204-07DD1C077503}"/>
                </a:ext>
              </a:extLst>
            </p:cNvPr>
            <p:cNvSpPr/>
            <p:nvPr/>
          </p:nvSpPr>
          <p:spPr>
            <a:xfrm>
              <a:off x="4880345" y="1385355"/>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sp>
          <p:nvSpPr>
            <p:cNvPr id="16" name="Rectangle 15">
              <a:extLst>
                <a:ext uri="{FF2B5EF4-FFF2-40B4-BE49-F238E27FC236}">
                  <a16:creationId xmlns:a16="http://schemas.microsoft.com/office/drawing/2014/main" id="{FDC7F192-1DD8-C685-3285-1B41F0D7D529}"/>
                </a:ext>
              </a:extLst>
            </p:cNvPr>
            <p:cNvSpPr/>
            <p:nvPr/>
          </p:nvSpPr>
          <p:spPr>
            <a:xfrm>
              <a:off x="5794745" y="1385354"/>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sp>
          <p:nvSpPr>
            <p:cNvPr id="17" name="Rectangle 16">
              <a:extLst>
                <a:ext uri="{FF2B5EF4-FFF2-40B4-BE49-F238E27FC236}">
                  <a16:creationId xmlns:a16="http://schemas.microsoft.com/office/drawing/2014/main" id="{A3D19994-CD26-9E46-7C02-5C30C915D1D1}"/>
                </a:ext>
              </a:extLst>
            </p:cNvPr>
            <p:cNvSpPr/>
            <p:nvPr/>
          </p:nvSpPr>
          <p:spPr>
            <a:xfrm>
              <a:off x="6709145" y="1385354"/>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sp>
          <p:nvSpPr>
            <p:cNvPr id="18" name="Rectangle 17">
              <a:extLst>
                <a:ext uri="{FF2B5EF4-FFF2-40B4-BE49-F238E27FC236}">
                  <a16:creationId xmlns:a16="http://schemas.microsoft.com/office/drawing/2014/main" id="{17305260-1268-DD05-C542-BC16628FCABC}"/>
                </a:ext>
              </a:extLst>
            </p:cNvPr>
            <p:cNvSpPr/>
            <p:nvPr/>
          </p:nvSpPr>
          <p:spPr>
            <a:xfrm>
              <a:off x="7623545" y="1385354"/>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grpSp>
    </p:spTree>
    <p:extLst>
      <p:ext uri="{BB962C8B-B14F-4D97-AF65-F5344CB8AC3E}">
        <p14:creationId xmlns:p14="http://schemas.microsoft.com/office/powerpoint/2010/main" val="964238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08E6F-A48F-489C-96FE-69BE83317163}"/>
              </a:ext>
            </a:extLst>
          </p:cNvPr>
          <p:cNvSpPr>
            <a:spLocks noGrp="1"/>
          </p:cNvSpPr>
          <p:nvPr>
            <p:ph type="title" hasCustomPrompt="1"/>
          </p:nvPr>
        </p:nvSpPr>
        <p:spPr/>
        <p:txBody>
          <a:bodyPr/>
          <a:lstStyle>
            <a:lvl1pPr>
              <a:defRPr strike="noStrike"/>
            </a:lvl1pPr>
          </a:lstStyle>
          <a:p>
            <a:r>
              <a:rPr lang="en-US" dirty="0"/>
              <a:t>CLICK TO EDIT MASTER TITLE STYLE</a:t>
            </a:r>
          </a:p>
        </p:txBody>
      </p:sp>
      <p:grpSp>
        <p:nvGrpSpPr>
          <p:cNvPr id="9" name="Group 8">
            <a:extLst>
              <a:ext uri="{FF2B5EF4-FFF2-40B4-BE49-F238E27FC236}">
                <a16:creationId xmlns:a16="http://schemas.microsoft.com/office/drawing/2014/main" id="{FEE7E8CE-E3D0-FE1D-87B3-C95099037F09}"/>
              </a:ext>
            </a:extLst>
          </p:cNvPr>
          <p:cNvGrpSpPr/>
          <p:nvPr userDrawn="1"/>
        </p:nvGrpSpPr>
        <p:grpSpPr>
          <a:xfrm>
            <a:off x="5551170" y="1549568"/>
            <a:ext cx="1089660" cy="65378"/>
            <a:chOff x="3965945" y="1385354"/>
            <a:chExt cx="4572000" cy="79107"/>
          </a:xfrm>
          <a:solidFill>
            <a:srgbClr val="A5416F"/>
          </a:solidFill>
        </p:grpSpPr>
        <p:sp>
          <p:nvSpPr>
            <p:cNvPr id="10" name="Rectangle 9">
              <a:extLst>
                <a:ext uri="{FF2B5EF4-FFF2-40B4-BE49-F238E27FC236}">
                  <a16:creationId xmlns:a16="http://schemas.microsoft.com/office/drawing/2014/main" id="{8219F9B2-0C73-6FCA-41B0-861E597EA7DE}"/>
                </a:ext>
              </a:extLst>
            </p:cNvPr>
            <p:cNvSpPr/>
            <p:nvPr/>
          </p:nvSpPr>
          <p:spPr>
            <a:xfrm>
              <a:off x="3965945" y="1385356"/>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sp>
          <p:nvSpPr>
            <p:cNvPr id="11" name="Rectangle 10">
              <a:extLst>
                <a:ext uri="{FF2B5EF4-FFF2-40B4-BE49-F238E27FC236}">
                  <a16:creationId xmlns:a16="http://schemas.microsoft.com/office/drawing/2014/main" id="{0FDE4D1E-9374-25B2-DB32-FAC75EC249F2}"/>
                </a:ext>
              </a:extLst>
            </p:cNvPr>
            <p:cNvSpPr/>
            <p:nvPr/>
          </p:nvSpPr>
          <p:spPr>
            <a:xfrm>
              <a:off x="4880345" y="1385355"/>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sp>
          <p:nvSpPr>
            <p:cNvPr id="12" name="Rectangle 11">
              <a:extLst>
                <a:ext uri="{FF2B5EF4-FFF2-40B4-BE49-F238E27FC236}">
                  <a16:creationId xmlns:a16="http://schemas.microsoft.com/office/drawing/2014/main" id="{6FE651BD-CF10-EF5F-ACF9-03F4C884CA79}"/>
                </a:ext>
              </a:extLst>
            </p:cNvPr>
            <p:cNvSpPr/>
            <p:nvPr/>
          </p:nvSpPr>
          <p:spPr>
            <a:xfrm>
              <a:off x="5794745" y="1385354"/>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sp>
          <p:nvSpPr>
            <p:cNvPr id="13" name="Rectangle 12">
              <a:extLst>
                <a:ext uri="{FF2B5EF4-FFF2-40B4-BE49-F238E27FC236}">
                  <a16:creationId xmlns:a16="http://schemas.microsoft.com/office/drawing/2014/main" id="{3D1A8E5D-6FB6-92F9-99EF-E20BA3530DAA}"/>
                </a:ext>
              </a:extLst>
            </p:cNvPr>
            <p:cNvSpPr/>
            <p:nvPr/>
          </p:nvSpPr>
          <p:spPr>
            <a:xfrm>
              <a:off x="6709145" y="1385354"/>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sp>
          <p:nvSpPr>
            <p:cNvPr id="14" name="Rectangle 13">
              <a:extLst>
                <a:ext uri="{FF2B5EF4-FFF2-40B4-BE49-F238E27FC236}">
                  <a16:creationId xmlns:a16="http://schemas.microsoft.com/office/drawing/2014/main" id="{8D5F7152-00C6-6932-C771-F38AD00F554E}"/>
                </a:ext>
              </a:extLst>
            </p:cNvPr>
            <p:cNvSpPr/>
            <p:nvPr/>
          </p:nvSpPr>
          <p:spPr>
            <a:xfrm>
              <a:off x="7623545" y="1385354"/>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grpSp>
    </p:spTree>
    <p:extLst>
      <p:ext uri="{BB962C8B-B14F-4D97-AF65-F5344CB8AC3E}">
        <p14:creationId xmlns:p14="http://schemas.microsoft.com/office/powerpoint/2010/main" val="3962155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 calcmode="lin" valueType="num">
                                      <p:cBhvr>
                                        <p:cTn id="9" dur="500" fill="hold"/>
                                        <p:tgtEl>
                                          <p:spTgt spid="9"/>
                                        </p:tgtEl>
                                        <p:attrNameLst>
                                          <p:attrName>style.rotation</p:attrName>
                                        </p:attrNameLst>
                                      </p:cBhvr>
                                      <p:tavLst>
                                        <p:tav tm="0">
                                          <p:val>
                                            <p:fltVal val="360"/>
                                          </p:val>
                                        </p:tav>
                                        <p:tav tm="100000">
                                          <p:val>
                                            <p:fltVal val="0"/>
                                          </p:val>
                                        </p:tav>
                                      </p:tavLst>
                                    </p:anim>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0117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F86F95D7-0296-42E3-83DA-5650D9C4F016}"/>
              </a:ext>
            </a:extLst>
          </p:cNvPr>
          <p:cNvSpPr>
            <a:spLocks noGrp="1"/>
          </p:cNvSpPr>
          <p:nvPr>
            <p:ph type="pic" sz="quarter" idx="11"/>
          </p:nvPr>
        </p:nvSpPr>
        <p:spPr>
          <a:xfrm>
            <a:off x="0" y="0"/>
            <a:ext cx="12199938" cy="4346575"/>
          </a:xfrm>
        </p:spPr>
        <p:txBody>
          <a:bodyPr/>
          <a:lstStyle/>
          <a:p>
            <a:endParaRPr lang="en-US" dirty="0"/>
          </a:p>
        </p:txBody>
      </p:sp>
      <p:sp>
        <p:nvSpPr>
          <p:cNvPr id="13" name="Text Placeholder 12">
            <a:extLst>
              <a:ext uri="{FF2B5EF4-FFF2-40B4-BE49-F238E27FC236}">
                <a16:creationId xmlns:a16="http://schemas.microsoft.com/office/drawing/2014/main" id="{9C0A5CF1-A64A-414D-974B-13D96AF7DAD6}"/>
              </a:ext>
            </a:extLst>
          </p:cNvPr>
          <p:cNvSpPr>
            <a:spLocks noGrp="1"/>
          </p:cNvSpPr>
          <p:nvPr userDrawn="1">
            <p:ph type="body" sz="quarter" idx="10"/>
          </p:nvPr>
        </p:nvSpPr>
        <p:spPr>
          <a:xfrm>
            <a:off x="3972560" y="4034522"/>
            <a:ext cx="4246880" cy="598487"/>
          </a:xfrm>
          <a:solidFill>
            <a:schemeClr val="tx1">
              <a:alpha val="62745"/>
            </a:schemeClr>
          </a:solidFill>
        </p:spPr>
        <p:txBody>
          <a:bodyPr anchor="ctr" anchorCtr="0"/>
          <a:lstStyle>
            <a:lvl1pPr algn="ctr">
              <a:buNone/>
              <a:defRPr>
                <a:solidFill>
                  <a:schemeClr val="bg1"/>
                </a:solidFill>
              </a:defRPr>
            </a:lvl1pPr>
          </a:lstStyle>
          <a:p>
            <a:pPr lvl="0"/>
            <a:endParaRPr lang="en-US" dirty="0"/>
          </a:p>
        </p:txBody>
      </p:sp>
      <p:sp>
        <p:nvSpPr>
          <p:cNvPr id="17" name="Text Placeholder 16">
            <a:extLst>
              <a:ext uri="{FF2B5EF4-FFF2-40B4-BE49-F238E27FC236}">
                <a16:creationId xmlns:a16="http://schemas.microsoft.com/office/drawing/2014/main" id="{E5C31BF9-E874-4A83-8E6F-2701829FDF20}"/>
              </a:ext>
            </a:extLst>
          </p:cNvPr>
          <p:cNvSpPr>
            <a:spLocks noGrp="1"/>
          </p:cNvSpPr>
          <p:nvPr>
            <p:ph type="body" sz="quarter" idx="12" hasCustomPrompt="1"/>
          </p:nvPr>
        </p:nvSpPr>
        <p:spPr>
          <a:xfrm>
            <a:off x="604043" y="4831779"/>
            <a:ext cx="10983913" cy="899429"/>
          </a:xfrm>
        </p:spPr>
        <p:txBody>
          <a:bodyPr anchor="ctr" anchorCtr="0">
            <a:normAutofit/>
          </a:bodyPr>
          <a:lstStyle>
            <a:lvl1pPr algn="ctr">
              <a:buNone/>
              <a:defRPr sz="3600">
                <a:latin typeface="IBM Plex Sans Condensed Medium" panose="020B0606050203000203" pitchFamily="34" charset="0"/>
              </a:defRPr>
            </a:lvl1pPr>
          </a:lstStyle>
          <a:p>
            <a:pPr lvl="0"/>
            <a:r>
              <a:rPr lang="de-DE" dirty="0"/>
              <a:t>INSERT SECTION HEADER</a:t>
            </a:r>
            <a:endParaRPr lang="en-US" dirty="0"/>
          </a:p>
        </p:txBody>
      </p:sp>
      <p:grpSp>
        <p:nvGrpSpPr>
          <p:cNvPr id="2" name="Group 1">
            <a:extLst>
              <a:ext uri="{FF2B5EF4-FFF2-40B4-BE49-F238E27FC236}">
                <a16:creationId xmlns:a16="http://schemas.microsoft.com/office/drawing/2014/main" id="{528288F2-483E-DF41-8E63-115DB421DD55}"/>
              </a:ext>
            </a:extLst>
          </p:cNvPr>
          <p:cNvGrpSpPr/>
          <p:nvPr userDrawn="1"/>
        </p:nvGrpSpPr>
        <p:grpSpPr>
          <a:xfrm>
            <a:off x="5551169" y="6216412"/>
            <a:ext cx="1089660" cy="65378"/>
            <a:chOff x="3965945" y="1385354"/>
            <a:chExt cx="4572000" cy="79107"/>
          </a:xfrm>
          <a:solidFill>
            <a:schemeClr val="accent1"/>
          </a:solidFill>
        </p:grpSpPr>
        <p:sp>
          <p:nvSpPr>
            <p:cNvPr id="3" name="Rectangle 2">
              <a:extLst>
                <a:ext uri="{FF2B5EF4-FFF2-40B4-BE49-F238E27FC236}">
                  <a16:creationId xmlns:a16="http://schemas.microsoft.com/office/drawing/2014/main" id="{736C6727-F20B-E594-EC88-F65CC2AC101C}"/>
                </a:ext>
              </a:extLst>
            </p:cNvPr>
            <p:cNvSpPr/>
            <p:nvPr/>
          </p:nvSpPr>
          <p:spPr>
            <a:xfrm>
              <a:off x="3965945" y="1385356"/>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sp>
          <p:nvSpPr>
            <p:cNvPr id="4" name="Rectangle 3">
              <a:extLst>
                <a:ext uri="{FF2B5EF4-FFF2-40B4-BE49-F238E27FC236}">
                  <a16:creationId xmlns:a16="http://schemas.microsoft.com/office/drawing/2014/main" id="{08AAC09A-81D0-2FF9-DB7F-8161C10143C7}"/>
                </a:ext>
              </a:extLst>
            </p:cNvPr>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sp>
          <p:nvSpPr>
            <p:cNvPr id="11" name="Rectangle 10">
              <a:extLst>
                <a:ext uri="{FF2B5EF4-FFF2-40B4-BE49-F238E27FC236}">
                  <a16:creationId xmlns:a16="http://schemas.microsoft.com/office/drawing/2014/main" id="{C08DEC56-16F9-B675-C4C4-71D7CD925A27}"/>
                </a:ext>
              </a:extLst>
            </p:cNvPr>
            <p:cNvSpPr/>
            <p:nvPr/>
          </p:nvSpPr>
          <p:spPr>
            <a:xfrm>
              <a:off x="5794745" y="1385354"/>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sp>
          <p:nvSpPr>
            <p:cNvPr id="12" name="Rectangle 11">
              <a:extLst>
                <a:ext uri="{FF2B5EF4-FFF2-40B4-BE49-F238E27FC236}">
                  <a16:creationId xmlns:a16="http://schemas.microsoft.com/office/drawing/2014/main" id="{A3A20B00-AF98-BD4A-CCEF-98E80978EB2A}"/>
                </a:ext>
              </a:extLst>
            </p:cNvPr>
            <p:cNvSpPr/>
            <p:nvPr/>
          </p:nvSpPr>
          <p:spPr>
            <a:xfrm>
              <a:off x="6709145" y="1385354"/>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sp>
          <p:nvSpPr>
            <p:cNvPr id="14" name="Rectangle 13">
              <a:extLst>
                <a:ext uri="{FF2B5EF4-FFF2-40B4-BE49-F238E27FC236}">
                  <a16:creationId xmlns:a16="http://schemas.microsoft.com/office/drawing/2014/main" id="{FABBA821-2B09-EFDC-8BF8-7DF86922E0F3}"/>
                </a:ext>
              </a:extLst>
            </p:cNvPr>
            <p:cNvSpPr/>
            <p:nvPr/>
          </p:nvSpPr>
          <p:spPr>
            <a:xfrm>
              <a:off x="7623545" y="1385354"/>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grpSp>
    </p:spTree>
    <p:extLst>
      <p:ext uri="{BB962C8B-B14F-4D97-AF65-F5344CB8AC3E}">
        <p14:creationId xmlns:p14="http://schemas.microsoft.com/office/powerpoint/2010/main" val="215767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551A5-E139-4D9C-9483-6B135DEAC82E}"/>
              </a:ext>
            </a:extLst>
          </p:cNvPr>
          <p:cNvSpPr>
            <a:spLocks noGrp="1"/>
          </p:cNvSpPr>
          <p:nvPr>
            <p:ph type="title" hasCustomPrompt="1"/>
          </p:nvPr>
        </p:nvSpPr>
        <p:spPr/>
        <p:txBody>
          <a:bodyPr/>
          <a:lstStyle/>
          <a:p>
            <a:r>
              <a:rPr lang="en-US" dirty="0"/>
              <a:t>CLICK TO EDIT MASTER TITLE STYLE</a:t>
            </a:r>
          </a:p>
        </p:txBody>
      </p:sp>
      <p:sp>
        <p:nvSpPr>
          <p:cNvPr id="10" name="Text Placeholder 9">
            <a:extLst>
              <a:ext uri="{FF2B5EF4-FFF2-40B4-BE49-F238E27FC236}">
                <a16:creationId xmlns:a16="http://schemas.microsoft.com/office/drawing/2014/main" id="{4ED4206A-C4DE-4D19-87C9-C7161C71801F}"/>
              </a:ext>
            </a:extLst>
          </p:cNvPr>
          <p:cNvSpPr>
            <a:spLocks noGrp="1"/>
          </p:cNvSpPr>
          <p:nvPr>
            <p:ph type="body" sz="quarter" idx="10" hasCustomPrompt="1"/>
          </p:nvPr>
        </p:nvSpPr>
        <p:spPr>
          <a:xfrm>
            <a:off x="838200" y="1984248"/>
            <a:ext cx="7086600" cy="3281362"/>
          </a:xfrm>
        </p:spPr>
        <p:txBody>
          <a:bodyPr/>
          <a:lstStyle>
            <a:lvl1pPr marL="0" indent="0" algn="just">
              <a:lnSpc>
                <a:spcPct val="100000"/>
              </a:lnSpc>
              <a:spcBef>
                <a:spcPts val="0"/>
              </a:spcBef>
              <a:spcAft>
                <a:spcPts val="1200"/>
              </a:spcAft>
              <a:buNone/>
              <a:defRPr>
                <a:latin typeface="IBM Plex Sans Condensed Light" panose="020B0406050203000203" pitchFamily="34"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Nam vel </a:t>
            </a:r>
            <a:r>
              <a:rPr lang="en-US" dirty="0" err="1"/>
              <a:t>dignissim</a:t>
            </a:r>
            <a:r>
              <a:rPr lang="en-US" dirty="0"/>
              <a:t> lorem. Maecenas et pharetra </a:t>
            </a:r>
            <a:r>
              <a:rPr lang="en-US" dirty="0" err="1"/>
              <a:t>lectus</a:t>
            </a:r>
            <a:r>
              <a:rPr lang="en-US" dirty="0"/>
              <a:t>, sed </a:t>
            </a:r>
            <a:r>
              <a:rPr lang="en-US" dirty="0" err="1"/>
              <a:t>luctus</a:t>
            </a:r>
            <a:r>
              <a:rPr lang="en-US" dirty="0"/>
              <a:t> </a:t>
            </a:r>
            <a:r>
              <a:rPr lang="en-US" dirty="0" err="1"/>
              <a:t>orci</a:t>
            </a:r>
            <a:r>
              <a:rPr lang="en-US" dirty="0"/>
              <a:t>. </a:t>
            </a:r>
            <a:r>
              <a:rPr lang="en-US" dirty="0" err="1"/>
              <a:t>Praesent</a:t>
            </a:r>
            <a:r>
              <a:rPr lang="en-US" dirty="0"/>
              <a:t> </a:t>
            </a:r>
            <a:r>
              <a:rPr lang="en-US" dirty="0" err="1"/>
              <a:t>imperdiet</a:t>
            </a:r>
            <a:r>
              <a:rPr lang="en-US" dirty="0"/>
              <a:t> </a:t>
            </a:r>
            <a:r>
              <a:rPr lang="en-US" dirty="0" err="1"/>
              <a:t>neque</a:t>
            </a:r>
            <a:r>
              <a:rPr lang="en-US" dirty="0"/>
              <a:t> vitae </a:t>
            </a:r>
            <a:r>
              <a:rPr lang="en-US" dirty="0" err="1"/>
              <a:t>fringilla</a:t>
            </a:r>
            <a:r>
              <a:rPr lang="en-US" dirty="0"/>
              <a:t> </a:t>
            </a:r>
            <a:r>
              <a:rPr lang="en-US" dirty="0" err="1"/>
              <a:t>sodales</a:t>
            </a:r>
            <a:r>
              <a:rPr lang="en-US" dirty="0"/>
              <a:t>. In </a:t>
            </a:r>
            <a:r>
              <a:rPr lang="en-US" dirty="0" err="1"/>
              <a:t>ut</a:t>
            </a:r>
            <a:r>
              <a:rPr lang="en-US" dirty="0"/>
              <a:t> </a:t>
            </a:r>
            <a:r>
              <a:rPr lang="en-US" dirty="0" err="1"/>
              <a:t>volutpat</a:t>
            </a:r>
            <a:r>
              <a:rPr lang="en-US" dirty="0"/>
              <a:t> </a:t>
            </a:r>
            <a:r>
              <a:rPr lang="en-US" dirty="0" err="1"/>
              <a:t>nulla</a:t>
            </a:r>
            <a:r>
              <a:rPr lang="en-US" dirty="0"/>
              <a:t>. </a:t>
            </a:r>
            <a:r>
              <a:rPr lang="en-US" dirty="0" err="1"/>
              <a:t>Mauris</a:t>
            </a:r>
            <a:r>
              <a:rPr lang="en-US" dirty="0"/>
              <a:t> </a:t>
            </a:r>
            <a:r>
              <a:rPr lang="en-US" dirty="0" err="1"/>
              <a:t>quis</a:t>
            </a:r>
            <a:r>
              <a:rPr lang="en-US" dirty="0"/>
              <a:t> gravida </a:t>
            </a:r>
            <a:r>
              <a:rPr lang="en-US" dirty="0" err="1"/>
              <a:t>enim</a:t>
            </a:r>
            <a:r>
              <a:rPr lang="en-US" dirty="0"/>
              <a:t>. </a:t>
            </a:r>
            <a:r>
              <a:rPr lang="en-US" dirty="0" err="1"/>
              <a:t>Curabitur</a:t>
            </a:r>
            <a:r>
              <a:rPr lang="en-US" dirty="0"/>
              <a:t> </a:t>
            </a:r>
            <a:r>
              <a:rPr lang="en-US" dirty="0" err="1"/>
              <a:t>eget</a:t>
            </a:r>
            <a:r>
              <a:rPr lang="en-US" dirty="0"/>
              <a:t> </a:t>
            </a:r>
            <a:r>
              <a:rPr lang="en-US" dirty="0" err="1"/>
              <a:t>dapibus</a:t>
            </a:r>
            <a:r>
              <a:rPr lang="en-US" dirty="0"/>
              <a:t> sem. </a:t>
            </a:r>
            <a:r>
              <a:rPr lang="en-US" dirty="0" err="1"/>
              <a:t>Aliquam</a:t>
            </a:r>
            <a:r>
              <a:rPr lang="en-US" dirty="0"/>
              <a:t> tempus </a:t>
            </a:r>
            <a:r>
              <a:rPr lang="en-US" dirty="0" err="1"/>
              <a:t>venenatis</a:t>
            </a:r>
            <a:r>
              <a:rPr lang="en-US" dirty="0"/>
              <a:t> ligula, sed </a:t>
            </a:r>
            <a:r>
              <a:rPr lang="en-US" dirty="0" err="1"/>
              <a:t>vulputate</a:t>
            </a:r>
            <a:r>
              <a:rPr lang="en-US" dirty="0"/>
              <a:t> </a:t>
            </a:r>
            <a:r>
              <a:rPr lang="en-US" dirty="0" err="1"/>
              <a:t>augue</a:t>
            </a:r>
            <a:r>
              <a:rPr lang="en-US" dirty="0"/>
              <a:t> </a:t>
            </a:r>
            <a:r>
              <a:rPr lang="en-US" dirty="0" err="1"/>
              <a:t>rhoncus</a:t>
            </a:r>
            <a:r>
              <a:rPr lang="en-US" dirty="0"/>
              <a:t> </a:t>
            </a:r>
            <a:r>
              <a:rPr lang="en-US" dirty="0" err="1"/>
              <a:t>ut.</a:t>
            </a:r>
            <a:r>
              <a:rPr lang="en-US" dirty="0"/>
              <a:t> Nunc </a:t>
            </a:r>
            <a:r>
              <a:rPr lang="en-US" dirty="0" err="1"/>
              <a:t>sodales</a:t>
            </a:r>
            <a:r>
              <a:rPr lang="en-US" dirty="0"/>
              <a:t> </a:t>
            </a:r>
            <a:r>
              <a:rPr lang="en-US" dirty="0" err="1"/>
              <a:t>scelerisque</a:t>
            </a:r>
            <a:r>
              <a:rPr lang="en-US" dirty="0"/>
              <a:t> </a:t>
            </a:r>
            <a:r>
              <a:rPr lang="en-US" dirty="0" err="1"/>
              <a:t>purus</a:t>
            </a:r>
            <a:r>
              <a:rPr lang="en-US" dirty="0"/>
              <a:t> sed vestibulum.</a:t>
            </a:r>
          </a:p>
        </p:txBody>
      </p:sp>
      <p:sp>
        <p:nvSpPr>
          <p:cNvPr id="12" name="Picture Placeholder 11">
            <a:extLst>
              <a:ext uri="{FF2B5EF4-FFF2-40B4-BE49-F238E27FC236}">
                <a16:creationId xmlns:a16="http://schemas.microsoft.com/office/drawing/2014/main" id="{6DAD05AE-ADD7-4741-A709-34C17E5B7D1E}"/>
              </a:ext>
            </a:extLst>
          </p:cNvPr>
          <p:cNvSpPr>
            <a:spLocks noGrp="1"/>
          </p:cNvSpPr>
          <p:nvPr>
            <p:ph type="pic" sz="quarter" idx="11"/>
          </p:nvPr>
        </p:nvSpPr>
        <p:spPr>
          <a:xfrm>
            <a:off x="8086725" y="1984375"/>
            <a:ext cx="3281363" cy="3281363"/>
          </a:xfrm>
        </p:spPr>
        <p:txBody>
          <a:bodyPr/>
          <a:lstStyle/>
          <a:p>
            <a:endParaRPr lang="en-US" dirty="0"/>
          </a:p>
        </p:txBody>
      </p:sp>
      <p:grpSp>
        <p:nvGrpSpPr>
          <p:cNvPr id="9" name="Group 8">
            <a:extLst>
              <a:ext uri="{FF2B5EF4-FFF2-40B4-BE49-F238E27FC236}">
                <a16:creationId xmlns:a16="http://schemas.microsoft.com/office/drawing/2014/main" id="{C118FC5F-48D3-2F6F-BFAF-1E80E02BF506}"/>
              </a:ext>
            </a:extLst>
          </p:cNvPr>
          <p:cNvGrpSpPr/>
          <p:nvPr userDrawn="1"/>
        </p:nvGrpSpPr>
        <p:grpSpPr>
          <a:xfrm>
            <a:off x="5551170" y="1549568"/>
            <a:ext cx="1089660" cy="65378"/>
            <a:chOff x="3965945" y="1385354"/>
            <a:chExt cx="4572000" cy="79107"/>
          </a:xfrm>
          <a:solidFill>
            <a:srgbClr val="A5416F"/>
          </a:solidFill>
        </p:grpSpPr>
        <p:sp>
          <p:nvSpPr>
            <p:cNvPr id="11" name="Rectangle 10">
              <a:extLst>
                <a:ext uri="{FF2B5EF4-FFF2-40B4-BE49-F238E27FC236}">
                  <a16:creationId xmlns:a16="http://schemas.microsoft.com/office/drawing/2014/main" id="{FE227802-0B1E-2248-5F4F-AD5F0A0C2F52}"/>
                </a:ext>
              </a:extLst>
            </p:cNvPr>
            <p:cNvSpPr/>
            <p:nvPr/>
          </p:nvSpPr>
          <p:spPr>
            <a:xfrm>
              <a:off x="3965945" y="1385356"/>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sp>
          <p:nvSpPr>
            <p:cNvPr id="13" name="Rectangle 12">
              <a:extLst>
                <a:ext uri="{FF2B5EF4-FFF2-40B4-BE49-F238E27FC236}">
                  <a16:creationId xmlns:a16="http://schemas.microsoft.com/office/drawing/2014/main" id="{33F692FC-37B3-FCCC-0D09-030D3BFB0EA2}"/>
                </a:ext>
              </a:extLst>
            </p:cNvPr>
            <p:cNvSpPr/>
            <p:nvPr/>
          </p:nvSpPr>
          <p:spPr>
            <a:xfrm>
              <a:off x="4880345" y="1385355"/>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sp>
          <p:nvSpPr>
            <p:cNvPr id="14" name="Rectangle 13">
              <a:extLst>
                <a:ext uri="{FF2B5EF4-FFF2-40B4-BE49-F238E27FC236}">
                  <a16:creationId xmlns:a16="http://schemas.microsoft.com/office/drawing/2014/main" id="{A2951F85-05F9-B38D-636F-604AB7D13EFB}"/>
                </a:ext>
              </a:extLst>
            </p:cNvPr>
            <p:cNvSpPr/>
            <p:nvPr/>
          </p:nvSpPr>
          <p:spPr>
            <a:xfrm>
              <a:off x="5794745" y="1385354"/>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sp>
          <p:nvSpPr>
            <p:cNvPr id="15" name="Rectangle 14">
              <a:extLst>
                <a:ext uri="{FF2B5EF4-FFF2-40B4-BE49-F238E27FC236}">
                  <a16:creationId xmlns:a16="http://schemas.microsoft.com/office/drawing/2014/main" id="{324D2AC1-5D63-1682-FFDA-83DE38F8E6CF}"/>
                </a:ext>
              </a:extLst>
            </p:cNvPr>
            <p:cNvSpPr/>
            <p:nvPr/>
          </p:nvSpPr>
          <p:spPr>
            <a:xfrm>
              <a:off x="6709145" y="1385354"/>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sp>
          <p:nvSpPr>
            <p:cNvPr id="16" name="Rectangle 15">
              <a:extLst>
                <a:ext uri="{FF2B5EF4-FFF2-40B4-BE49-F238E27FC236}">
                  <a16:creationId xmlns:a16="http://schemas.microsoft.com/office/drawing/2014/main" id="{053A06CE-CD19-455C-43F0-12DA8D14A55D}"/>
                </a:ext>
              </a:extLst>
            </p:cNvPr>
            <p:cNvSpPr/>
            <p:nvPr/>
          </p:nvSpPr>
          <p:spPr>
            <a:xfrm>
              <a:off x="7623545" y="1385354"/>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grpSp>
    </p:spTree>
    <p:extLst>
      <p:ext uri="{BB962C8B-B14F-4D97-AF65-F5344CB8AC3E}">
        <p14:creationId xmlns:p14="http://schemas.microsoft.com/office/powerpoint/2010/main" val="2824357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 calcmode="lin" valueType="num">
                                      <p:cBhvr>
                                        <p:cTn id="9" dur="500" fill="hold"/>
                                        <p:tgtEl>
                                          <p:spTgt spid="9"/>
                                        </p:tgtEl>
                                        <p:attrNameLst>
                                          <p:attrName>style.rotation</p:attrName>
                                        </p:attrNameLst>
                                      </p:cBhvr>
                                      <p:tavLst>
                                        <p:tav tm="0">
                                          <p:val>
                                            <p:fltVal val="360"/>
                                          </p:val>
                                        </p:tav>
                                        <p:tav tm="100000">
                                          <p:val>
                                            <p:fltVal val="0"/>
                                          </p:val>
                                        </p:tav>
                                      </p:tavLst>
                                    </p:anim>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551A5-E139-4D9C-9483-6B135DEAC82E}"/>
              </a:ext>
            </a:extLst>
          </p:cNvPr>
          <p:cNvSpPr>
            <a:spLocks noGrp="1"/>
          </p:cNvSpPr>
          <p:nvPr>
            <p:ph type="title" hasCustomPrompt="1"/>
          </p:nvPr>
        </p:nvSpPr>
        <p:spPr/>
        <p:txBody>
          <a:bodyPr/>
          <a:lstStyle/>
          <a:p>
            <a:r>
              <a:rPr lang="en-US" dirty="0"/>
              <a:t>CLICK TO EDIT MASTER TITLE STYLE</a:t>
            </a:r>
          </a:p>
        </p:txBody>
      </p:sp>
      <p:sp>
        <p:nvSpPr>
          <p:cNvPr id="10" name="Text Placeholder 9">
            <a:extLst>
              <a:ext uri="{FF2B5EF4-FFF2-40B4-BE49-F238E27FC236}">
                <a16:creationId xmlns:a16="http://schemas.microsoft.com/office/drawing/2014/main" id="{4ED4206A-C4DE-4D19-87C9-C7161C71801F}"/>
              </a:ext>
            </a:extLst>
          </p:cNvPr>
          <p:cNvSpPr>
            <a:spLocks noGrp="1"/>
          </p:cNvSpPr>
          <p:nvPr>
            <p:ph type="body" sz="quarter" idx="10" hasCustomPrompt="1"/>
          </p:nvPr>
        </p:nvSpPr>
        <p:spPr>
          <a:xfrm>
            <a:off x="6422898" y="2108554"/>
            <a:ext cx="4935982" cy="3281362"/>
          </a:xfrm>
        </p:spPr>
        <p:txBody>
          <a:bodyPr>
            <a:normAutofit/>
          </a:bodyPr>
          <a:lstStyle>
            <a:lvl1pPr marL="0" indent="0" algn="just">
              <a:lnSpc>
                <a:spcPct val="100000"/>
              </a:lnSpc>
              <a:spcBef>
                <a:spcPts val="0"/>
              </a:spcBef>
              <a:spcAft>
                <a:spcPts val="1200"/>
              </a:spcAft>
              <a:buNone/>
              <a:defRPr sz="1800">
                <a:latin typeface="IBM Plex Sans Condensed Light" panose="020B0406050203000203" pitchFamily="34"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Nam vel </a:t>
            </a:r>
            <a:r>
              <a:rPr lang="en-US" dirty="0" err="1"/>
              <a:t>dignissim</a:t>
            </a:r>
            <a:r>
              <a:rPr lang="en-US" dirty="0"/>
              <a:t> lorem. Maecenas et pharetra </a:t>
            </a:r>
            <a:r>
              <a:rPr lang="en-US" dirty="0" err="1"/>
              <a:t>lectus</a:t>
            </a:r>
            <a:r>
              <a:rPr lang="en-US" dirty="0"/>
              <a:t>, sed </a:t>
            </a:r>
            <a:r>
              <a:rPr lang="en-US" dirty="0" err="1"/>
              <a:t>luctus</a:t>
            </a:r>
            <a:r>
              <a:rPr lang="en-US" dirty="0"/>
              <a:t> </a:t>
            </a:r>
            <a:r>
              <a:rPr lang="en-US" dirty="0" err="1"/>
              <a:t>orci</a:t>
            </a:r>
            <a:r>
              <a:rPr lang="en-US" dirty="0"/>
              <a:t>. </a:t>
            </a:r>
            <a:r>
              <a:rPr lang="en-US" dirty="0" err="1"/>
              <a:t>Praesent</a:t>
            </a:r>
            <a:r>
              <a:rPr lang="en-US" dirty="0"/>
              <a:t> </a:t>
            </a:r>
            <a:r>
              <a:rPr lang="en-US" dirty="0" err="1"/>
              <a:t>imperdiet</a:t>
            </a:r>
            <a:r>
              <a:rPr lang="en-US" dirty="0"/>
              <a:t> </a:t>
            </a:r>
            <a:r>
              <a:rPr lang="en-US" dirty="0" err="1"/>
              <a:t>neque</a:t>
            </a:r>
            <a:r>
              <a:rPr lang="en-US" dirty="0"/>
              <a:t> vitae </a:t>
            </a:r>
            <a:r>
              <a:rPr lang="en-US" dirty="0" err="1"/>
              <a:t>fringilla</a:t>
            </a:r>
            <a:r>
              <a:rPr lang="en-US" dirty="0"/>
              <a:t> </a:t>
            </a:r>
            <a:r>
              <a:rPr lang="en-US" dirty="0" err="1"/>
              <a:t>sodales</a:t>
            </a:r>
            <a:r>
              <a:rPr lang="en-US" dirty="0"/>
              <a:t>. In </a:t>
            </a:r>
            <a:r>
              <a:rPr lang="en-US" dirty="0" err="1"/>
              <a:t>ut</a:t>
            </a:r>
            <a:r>
              <a:rPr lang="en-US" dirty="0"/>
              <a:t> </a:t>
            </a:r>
            <a:r>
              <a:rPr lang="en-US" dirty="0" err="1"/>
              <a:t>volutpat</a:t>
            </a:r>
            <a:r>
              <a:rPr lang="en-US" dirty="0"/>
              <a:t> </a:t>
            </a:r>
            <a:r>
              <a:rPr lang="en-US" dirty="0" err="1"/>
              <a:t>nulla</a:t>
            </a:r>
            <a:r>
              <a:rPr lang="en-US" dirty="0"/>
              <a:t>. </a:t>
            </a:r>
            <a:r>
              <a:rPr lang="en-US" dirty="0" err="1"/>
              <a:t>Mauris</a:t>
            </a:r>
            <a:r>
              <a:rPr lang="en-US" dirty="0"/>
              <a:t> </a:t>
            </a:r>
            <a:r>
              <a:rPr lang="en-US" dirty="0" err="1"/>
              <a:t>quis</a:t>
            </a:r>
            <a:r>
              <a:rPr lang="en-US" dirty="0"/>
              <a:t> gravida </a:t>
            </a:r>
            <a:r>
              <a:rPr lang="en-US" dirty="0" err="1"/>
              <a:t>enim</a:t>
            </a:r>
            <a:r>
              <a:rPr lang="en-US" dirty="0"/>
              <a:t>. </a:t>
            </a:r>
            <a:r>
              <a:rPr lang="en-US" dirty="0" err="1"/>
              <a:t>Curabitur</a:t>
            </a:r>
            <a:r>
              <a:rPr lang="en-US" dirty="0"/>
              <a:t> </a:t>
            </a:r>
            <a:r>
              <a:rPr lang="en-US" dirty="0" err="1"/>
              <a:t>eget</a:t>
            </a:r>
            <a:r>
              <a:rPr lang="en-US" dirty="0"/>
              <a:t> </a:t>
            </a:r>
            <a:r>
              <a:rPr lang="en-US" dirty="0" err="1"/>
              <a:t>dapibus</a:t>
            </a:r>
            <a:r>
              <a:rPr lang="en-US" dirty="0"/>
              <a:t> sem. </a:t>
            </a:r>
            <a:r>
              <a:rPr lang="en-US" dirty="0" err="1"/>
              <a:t>Aliquam</a:t>
            </a:r>
            <a:r>
              <a:rPr lang="en-US" dirty="0"/>
              <a:t> tempus </a:t>
            </a:r>
            <a:r>
              <a:rPr lang="en-US" dirty="0" err="1"/>
              <a:t>venenatis</a:t>
            </a:r>
            <a:r>
              <a:rPr lang="en-US" dirty="0"/>
              <a:t> ligula, sed </a:t>
            </a:r>
            <a:r>
              <a:rPr lang="en-US" dirty="0" err="1"/>
              <a:t>vulputate</a:t>
            </a:r>
            <a:r>
              <a:rPr lang="en-US" dirty="0"/>
              <a:t> </a:t>
            </a:r>
            <a:r>
              <a:rPr lang="en-US" dirty="0" err="1"/>
              <a:t>augue</a:t>
            </a:r>
            <a:r>
              <a:rPr lang="en-US" dirty="0"/>
              <a:t> </a:t>
            </a:r>
            <a:r>
              <a:rPr lang="en-US" dirty="0" err="1"/>
              <a:t>rhoncus</a:t>
            </a:r>
            <a:r>
              <a:rPr lang="en-US" dirty="0"/>
              <a:t> </a:t>
            </a:r>
            <a:r>
              <a:rPr lang="en-US" dirty="0" err="1"/>
              <a:t>ut.</a:t>
            </a:r>
            <a:r>
              <a:rPr lang="en-US" dirty="0"/>
              <a:t> Nunc </a:t>
            </a:r>
            <a:r>
              <a:rPr lang="en-US" dirty="0" err="1"/>
              <a:t>sodales</a:t>
            </a:r>
            <a:r>
              <a:rPr lang="en-US" dirty="0"/>
              <a:t> </a:t>
            </a:r>
            <a:r>
              <a:rPr lang="en-US" dirty="0" err="1"/>
              <a:t>scelerisque</a:t>
            </a:r>
            <a:r>
              <a:rPr lang="en-US" dirty="0"/>
              <a:t> </a:t>
            </a:r>
            <a:r>
              <a:rPr lang="en-US" dirty="0" err="1"/>
              <a:t>purus</a:t>
            </a:r>
            <a:r>
              <a:rPr lang="en-US" dirty="0"/>
              <a:t> sed vestibulum.</a:t>
            </a:r>
          </a:p>
        </p:txBody>
      </p:sp>
      <p:sp>
        <p:nvSpPr>
          <p:cNvPr id="13" name="Rectangle 12">
            <a:extLst>
              <a:ext uri="{FF2B5EF4-FFF2-40B4-BE49-F238E27FC236}">
                <a16:creationId xmlns:a16="http://schemas.microsoft.com/office/drawing/2014/main" id="{9E873F61-18AF-4EB8-9637-E1E6A31F0B19}"/>
              </a:ext>
            </a:extLst>
          </p:cNvPr>
          <p:cNvSpPr/>
          <p:nvPr userDrawn="1"/>
        </p:nvSpPr>
        <p:spPr>
          <a:xfrm>
            <a:off x="833120" y="2207106"/>
            <a:ext cx="5139436" cy="131399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icture Placeholder 11">
            <a:extLst>
              <a:ext uri="{FF2B5EF4-FFF2-40B4-BE49-F238E27FC236}">
                <a16:creationId xmlns:a16="http://schemas.microsoft.com/office/drawing/2014/main" id="{6DAD05AE-ADD7-4741-A709-34C17E5B7D1E}"/>
              </a:ext>
            </a:extLst>
          </p:cNvPr>
          <p:cNvSpPr>
            <a:spLocks noGrp="1"/>
          </p:cNvSpPr>
          <p:nvPr>
            <p:ph type="pic" sz="quarter" idx="11"/>
          </p:nvPr>
        </p:nvSpPr>
        <p:spPr>
          <a:xfrm>
            <a:off x="1838960" y="1984375"/>
            <a:ext cx="3712210" cy="2252345"/>
          </a:xfrm>
        </p:spPr>
        <p:txBody>
          <a:bodyPr/>
          <a:lstStyle/>
          <a:p>
            <a:endParaRPr lang="en-US"/>
          </a:p>
        </p:txBody>
      </p:sp>
      <p:sp>
        <p:nvSpPr>
          <p:cNvPr id="15" name="Text Placeholder 14">
            <a:extLst>
              <a:ext uri="{FF2B5EF4-FFF2-40B4-BE49-F238E27FC236}">
                <a16:creationId xmlns:a16="http://schemas.microsoft.com/office/drawing/2014/main" id="{C149145E-0DF4-4B39-8AC4-350E738A5ABF}"/>
              </a:ext>
            </a:extLst>
          </p:cNvPr>
          <p:cNvSpPr>
            <a:spLocks noGrp="1"/>
          </p:cNvSpPr>
          <p:nvPr>
            <p:ph type="body" sz="quarter" idx="12" hasCustomPrompt="1"/>
          </p:nvPr>
        </p:nvSpPr>
        <p:spPr>
          <a:xfrm>
            <a:off x="833438" y="1241425"/>
            <a:ext cx="10525125" cy="379413"/>
          </a:xfrm>
        </p:spPr>
        <p:txBody>
          <a:bodyPr>
            <a:normAutofit/>
          </a:bodyPr>
          <a:lstStyle>
            <a:lvl1pPr algn="ctr">
              <a:buNone/>
              <a:defRPr sz="1600">
                <a:latin typeface="IBM Plex Sans Condensed Light" panose="020B0406050203000203" pitchFamily="34"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endParaRPr lang="en-US" dirty="0"/>
          </a:p>
        </p:txBody>
      </p:sp>
    </p:spTree>
    <p:extLst>
      <p:ext uri="{BB962C8B-B14F-4D97-AF65-F5344CB8AC3E}">
        <p14:creationId xmlns:p14="http://schemas.microsoft.com/office/powerpoint/2010/main" val="17567386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551A5-E139-4D9C-9483-6B135DEAC82E}"/>
              </a:ext>
            </a:extLst>
          </p:cNvPr>
          <p:cNvSpPr>
            <a:spLocks noGrp="1"/>
          </p:cNvSpPr>
          <p:nvPr>
            <p:ph type="title" hasCustomPrompt="1"/>
          </p:nvPr>
        </p:nvSpPr>
        <p:spPr/>
        <p:txBody>
          <a:bodyPr/>
          <a:lstStyle/>
          <a:p>
            <a:r>
              <a:rPr lang="en-US" dirty="0"/>
              <a:t>CLICK TO EDIT MASTER TITLE STYLE</a:t>
            </a:r>
          </a:p>
        </p:txBody>
      </p:sp>
      <p:sp>
        <p:nvSpPr>
          <p:cNvPr id="10" name="Text Placeholder 9">
            <a:extLst>
              <a:ext uri="{FF2B5EF4-FFF2-40B4-BE49-F238E27FC236}">
                <a16:creationId xmlns:a16="http://schemas.microsoft.com/office/drawing/2014/main" id="{4ED4206A-C4DE-4D19-87C9-C7161C71801F}"/>
              </a:ext>
            </a:extLst>
          </p:cNvPr>
          <p:cNvSpPr>
            <a:spLocks noGrp="1"/>
          </p:cNvSpPr>
          <p:nvPr>
            <p:ph type="body" sz="quarter" idx="10" hasCustomPrompt="1"/>
          </p:nvPr>
        </p:nvSpPr>
        <p:spPr>
          <a:xfrm>
            <a:off x="4328160" y="1984376"/>
            <a:ext cx="7030720" cy="1886586"/>
          </a:xfrm>
        </p:spPr>
        <p:txBody>
          <a:bodyPr>
            <a:normAutofit/>
          </a:bodyPr>
          <a:lstStyle>
            <a:lvl1pPr marL="0" indent="0" algn="just">
              <a:lnSpc>
                <a:spcPct val="100000"/>
              </a:lnSpc>
              <a:spcBef>
                <a:spcPts val="0"/>
              </a:spcBef>
              <a:spcAft>
                <a:spcPts val="1200"/>
              </a:spcAft>
              <a:buNone/>
              <a:defRPr sz="1800">
                <a:latin typeface="IBM Plex Sans Condensed Light" panose="020B0406050203000203" pitchFamily="34"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Nam vel </a:t>
            </a:r>
            <a:r>
              <a:rPr lang="en-US" dirty="0" err="1"/>
              <a:t>dignissim</a:t>
            </a:r>
            <a:r>
              <a:rPr lang="en-US" dirty="0"/>
              <a:t> lorem. Maecenas et pharetra </a:t>
            </a:r>
            <a:r>
              <a:rPr lang="en-US" dirty="0" err="1"/>
              <a:t>lectus</a:t>
            </a:r>
            <a:r>
              <a:rPr lang="en-US" dirty="0"/>
              <a:t>, sed </a:t>
            </a:r>
            <a:r>
              <a:rPr lang="en-US" dirty="0" err="1"/>
              <a:t>luctus</a:t>
            </a:r>
            <a:r>
              <a:rPr lang="en-US" dirty="0"/>
              <a:t> </a:t>
            </a:r>
            <a:r>
              <a:rPr lang="en-US" dirty="0" err="1"/>
              <a:t>orci</a:t>
            </a:r>
            <a:r>
              <a:rPr lang="en-US" dirty="0"/>
              <a:t>. </a:t>
            </a:r>
            <a:r>
              <a:rPr lang="en-US" dirty="0" err="1"/>
              <a:t>Praesent</a:t>
            </a:r>
            <a:r>
              <a:rPr lang="en-US" dirty="0"/>
              <a:t> </a:t>
            </a:r>
            <a:r>
              <a:rPr lang="en-US" dirty="0" err="1"/>
              <a:t>imperdiet</a:t>
            </a:r>
            <a:r>
              <a:rPr lang="en-US" dirty="0"/>
              <a:t> </a:t>
            </a:r>
            <a:r>
              <a:rPr lang="en-US" dirty="0" err="1"/>
              <a:t>neque</a:t>
            </a:r>
            <a:r>
              <a:rPr lang="en-US" dirty="0"/>
              <a:t> vitae </a:t>
            </a:r>
            <a:r>
              <a:rPr lang="en-US" dirty="0" err="1"/>
              <a:t>fringilla</a:t>
            </a:r>
            <a:r>
              <a:rPr lang="en-US" dirty="0"/>
              <a:t> </a:t>
            </a:r>
            <a:r>
              <a:rPr lang="en-US" dirty="0" err="1"/>
              <a:t>sodales</a:t>
            </a:r>
            <a:r>
              <a:rPr lang="en-US" dirty="0"/>
              <a:t>.</a:t>
            </a:r>
          </a:p>
        </p:txBody>
      </p:sp>
      <p:sp>
        <p:nvSpPr>
          <p:cNvPr id="13" name="Rectangle 12">
            <a:extLst>
              <a:ext uri="{FF2B5EF4-FFF2-40B4-BE49-F238E27FC236}">
                <a16:creationId xmlns:a16="http://schemas.microsoft.com/office/drawing/2014/main" id="{9E873F61-18AF-4EB8-9637-E1E6A31F0B19}"/>
              </a:ext>
            </a:extLst>
          </p:cNvPr>
          <p:cNvSpPr/>
          <p:nvPr userDrawn="1"/>
        </p:nvSpPr>
        <p:spPr>
          <a:xfrm>
            <a:off x="833120" y="2207106"/>
            <a:ext cx="3108960" cy="108965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icture Placeholder 11">
            <a:extLst>
              <a:ext uri="{FF2B5EF4-FFF2-40B4-BE49-F238E27FC236}">
                <a16:creationId xmlns:a16="http://schemas.microsoft.com/office/drawing/2014/main" id="{6DAD05AE-ADD7-4741-A709-34C17E5B7D1E}"/>
              </a:ext>
            </a:extLst>
          </p:cNvPr>
          <p:cNvSpPr>
            <a:spLocks noGrp="1"/>
          </p:cNvSpPr>
          <p:nvPr>
            <p:ph type="pic" sz="quarter" idx="11"/>
          </p:nvPr>
        </p:nvSpPr>
        <p:spPr>
          <a:xfrm>
            <a:off x="1097280" y="1984375"/>
            <a:ext cx="1914776" cy="1886586"/>
          </a:xfrm>
        </p:spPr>
        <p:txBody>
          <a:bodyPr/>
          <a:lstStyle/>
          <a:p>
            <a:endParaRPr lang="en-US"/>
          </a:p>
        </p:txBody>
      </p:sp>
      <p:sp>
        <p:nvSpPr>
          <p:cNvPr id="15" name="Text Placeholder 14">
            <a:extLst>
              <a:ext uri="{FF2B5EF4-FFF2-40B4-BE49-F238E27FC236}">
                <a16:creationId xmlns:a16="http://schemas.microsoft.com/office/drawing/2014/main" id="{C149145E-0DF4-4B39-8AC4-350E738A5ABF}"/>
              </a:ext>
            </a:extLst>
          </p:cNvPr>
          <p:cNvSpPr>
            <a:spLocks noGrp="1"/>
          </p:cNvSpPr>
          <p:nvPr>
            <p:ph type="body" sz="quarter" idx="12" hasCustomPrompt="1"/>
          </p:nvPr>
        </p:nvSpPr>
        <p:spPr>
          <a:xfrm>
            <a:off x="833438" y="1241425"/>
            <a:ext cx="10525125" cy="379413"/>
          </a:xfrm>
        </p:spPr>
        <p:txBody>
          <a:bodyPr>
            <a:normAutofit/>
          </a:bodyPr>
          <a:lstStyle>
            <a:lvl1pPr algn="ctr">
              <a:buNone/>
              <a:defRPr sz="1600">
                <a:latin typeface="IBM Plex Sans Condensed Light" panose="020B0406050203000203" pitchFamily="34"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endParaRPr lang="en-US" dirty="0"/>
          </a:p>
        </p:txBody>
      </p:sp>
      <p:sp>
        <p:nvSpPr>
          <p:cNvPr id="18" name="Text Placeholder 9">
            <a:extLst>
              <a:ext uri="{FF2B5EF4-FFF2-40B4-BE49-F238E27FC236}">
                <a16:creationId xmlns:a16="http://schemas.microsoft.com/office/drawing/2014/main" id="{03D3E3B3-C60E-4827-A30C-21085A70403C}"/>
              </a:ext>
            </a:extLst>
          </p:cNvPr>
          <p:cNvSpPr>
            <a:spLocks noGrp="1"/>
          </p:cNvSpPr>
          <p:nvPr>
            <p:ph type="body" sz="quarter" idx="13" hasCustomPrompt="1"/>
          </p:nvPr>
        </p:nvSpPr>
        <p:spPr>
          <a:xfrm>
            <a:off x="4323080" y="4073374"/>
            <a:ext cx="7030720" cy="1886586"/>
          </a:xfrm>
        </p:spPr>
        <p:txBody>
          <a:bodyPr>
            <a:normAutofit/>
          </a:bodyPr>
          <a:lstStyle>
            <a:lvl1pPr marL="0" indent="0" algn="just">
              <a:lnSpc>
                <a:spcPct val="100000"/>
              </a:lnSpc>
              <a:spcBef>
                <a:spcPts val="0"/>
              </a:spcBef>
              <a:spcAft>
                <a:spcPts val="1200"/>
              </a:spcAft>
              <a:buNone/>
              <a:defRPr sz="1800">
                <a:latin typeface="IBM Plex Sans Condensed Light" panose="020B0406050203000203" pitchFamily="34"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Nam vel </a:t>
            </a:r>
            <a:r>
              <a:rPr lang="en-US" dirty="0" err="1"/>
              <a:t>dignissim</a:t>
            </a:r>
            <a:r>
              <a:rPr lang="en-US" dirty="0"/>
              <a:t> lorem. Maecenas et pharetra </a:t>
            </a:r>
            <a:r>
              <a:rPr lang="en-US" dirty="0" err="1"/>
              <a:t>lectus</a:t>
            </a:r>
            <a:r>
              <a:rPr lang="en-US" dirty="0"/>
              <a:t>, sed </a:t>
            </a:r>
            <a:r>
              <a:rPr lang="en-US" dirty="0" err="1"/>
              <a:t>luctus</a:t>
            </a:r>
            <a:r>
              <a:rPr lang="en-US" dirty="0"/>
              <a:t> </a:t>
            </a:r>
            <a:r>
              <a:rPr lang="en-US" dirty="0" err="1"/>
              <a:t>orci</a:t>
            </a:r>
            <a:r>
              <a:rPr lang="en-US" dirty="0"/>
              <a:t>. </a:t>
            </a:r>
            <a:r>
              <a:rPr lang="en-US" dirty="0" err="1"/>
              <a:t>Praesent</a:t>
            </a:r>
            <a:r>
              <a:rPr lang="en-US" dirty="0"/>
              <a:t> </a:t>
            </a:r>
            <a:r>
              <a:rPr lang="en-US" dirty="0" err="1"/>
              <a:t>imperdiet</a:t>
            </a:r>
            <a:r>
              <a:rPr lang="en-US" dirty="0"/>
              <a:t> </a:t>
            </a:r>
            <a:r>
              <a:rPr lang="en-US" dirty="0" err="1"/>
              <a:t>neque</a:t>
            </a:r>
            <a:r>
              <a:rPr lang="en-US" dirty="0"/>
              <a:t> vitae </a:t>
            </a:r>
            <a:r>
              <a:rPr lang="en-US" dirty="0" err="1"/>
              <a:t>fringilla</a:t>
            </a:r>
            <a:r>
              <a:rPr lang="en-US" dirty="0"/>
              <a:t> </a:t>
            </a:r>
            <a:r>
              <a:rPr lang="en-US" dirty="0" err="1"/>
              <a:t>sodales</a:t>
            </a:r>
            <a:r>
              <a:rPr lang="en-US" dirty="0"/>
              <a:t>.</a:t>
            </a:r>
          </a:p>
        </p:txBody>
      </p:sp>
      <p:sp>
        <p:nvSpPr>
          <p:cNvPr id="19" name="Rectangle 18">
            <a:extLst>
              <a:ext uri="{FF2B5EF4-FFF2-40B4-BE49-F238E27FC236}">
                <a16:creationId xmlns:a16="http://schemas.microsoft.com/office/drawing/2014/main" id="{C3139803-E5B1-4539-9181-9248509AA8F5}"/>
              </a:ext>
            </a:extLst>
          </p:cNvPr>
          <p:cNvSpPr/>
          <p:nvPr userDrawn="1"/>
        </p:nvSpPr>
        <p:spPr>
          <a:xfrm>
            <a:off x="828040" y="4296104"/>
            <a:ext cx="3108960" cy="108965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icture Placeholder 11">
            <a:extLst>
              <a:ext uri="{FF2B5EF4-FFF2-40B4-BE49-F238E27FC236}">
                <a16:creationId xmlns:a16="http://schemas.microsoft.com/office/drawing/2014/main" id="{F01C1B97-1487-4C58-ABF4-206F9E92D05D}"/>
              </a:ext>
            </a:extLst>
          </p:cNvPr>
          <p:cNvSpPr>
            <a:spLocks noGrp="1"/>
          </p:cNvSpPr>
          <p:nvPr>
            <p:ph type="pic" sz="quarter" idx="14"/>
          </p:nvPr>
        </p:nvSpPr>
        <p:spPr>
          <a:xfrm>
            <a:off x="1092200" y="4073373"/>
            <a:ext cx="1914776" cy="1886586"/>
          </a:xfrm>
        </p:spPr>
        <p:txBody>
          <a:bodyPr/>
          <a:lstStyle/>
          <a:p>
            <a:endParaRPr lang="en-US"/>
          </a:p>
        </p:txBody>
      </p:sp>
    </p:spTree>
    <p:extLst>
      <p:ext uri="{BB962C8B-B14F-4D97-AF65-F5344CB8AC3E}">
        <p14:creationId xmlns:p14="http://schemas.microsoft.com/office/powerpoint/2010/main" val="19824670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551A5-E139-4D9C-9483-6B135DEAC82E}"/>
              </a:ext>
            </a:extLst>
          </p:cNvPr>
          <p:cNvSpPr>
            <a:spLocks noGrp="1"/>
          </p:cNvSpPr>
          <p:nvPr>
            <p:ph type="title" hasCustomPrompt="1"/>
          </p:nvPr>
        </p:nvSpPr>
        <p:spPr/>
        <p:txBody>
          <a:bodyPr/>
          <a:lstStyle/>
          <a:p>
            <a:r>
              <a:rPr lang="en-US" dirty="0"/>
              <a:t>CLICK TO EDIT MASTER TITLE STYLE</a:t>
            </a:r>
          </a:p>
        </p:txBody>
      </p:sp>
      <p:sp>
        <p:nvSpPr>
          <p:cNvPr id="10" name="Text Placeholder 9">
            <a:extLst>
              <a:ext uri="{FF2B5EF4-FFF2-40B4-BE49-F238E27FC236}">
                <a16:creationId xmlns:a16="http://schemas.microsoft.com/office/drawing/2014/main" id="{4ED4206A-C4DE-4D19-87C9-C7161C71801F}"/>
              </a:ext>
            </a:extLst>
          </p:cNvPr>
          <p:cNvSpPr>
            <a:spLocks noGrp="1"/>
          </p:cNvSpPr>
          <p:nvPr>
            <p:ph type="body" sz="quarter" idx="10" hasCustomPrompt="1"/>
          </p:nvPr>
        </p:nvSpPr>
        <p:spPr>
          <a:xfrm>
            <a:off x="838200" y="1984248"/>
            <a:ext cx="7086600" cy="3281362"/>
          </a:xfrm>
        </p:spPr>
        <p:txBody>
          <a:bodyPr/>
          <a:lstStyle>
            <a:lvl1pPr marL="0" indent="0" algn="just">
              <a:lnSpc>
                <a:spcPct val="100000"/>
              </a:lnSpc>
              <a:spcBef>
                <a:spcPts val="0"/>
              </a:spcBef>
              <a:spcAft>
                <a:spcPts val="1200"/>
              </a:spcAft>
              <a:buNone/>
              <a:defRPr>
                <a:latin typeface="IBM Plex Sans Condensed Light" panose="020B0406050203000203" pitchFamily="34"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Nam vel </a:t>
            </a:r>
            <a:r>
              <a:rPr lang="en-US" dirty="0" err="1"/>
              <a:t>dignissim</a:t>
            </a:r>
            <a:r>
              <a:rPr lang="en-US" dirty="0"/>
              <a:t> lorem. Maecenas et pharetra </a:t>
            </a:r>
            <a:r>
              <a:rPr lang="en-US" dirty="0" err="1"/>
              <a:t>lectus</a:t>
            </a:r>
            <a:r>
              <a:rPr lang="en-US" dirty="0"/>
              <a:t>, sed </a:t>
            </a:r>
            <a:r>
              <a:rPr lang="en-US" dirty="0" err="1"/>
              <a:t>luctus</a:t>
            </a:r>
            <a:r>
              <a:rPr lang="en-US" dirty="0"/>
              <a:t> </a:t>
            </a:r>
            <a:r>
              <a:rPr lang="en-US" dirty="0" err="1"/>
              <a:t>orci</a:t>
            </a:r>
            <a:r>
              <a:rPr lang="en-US" dirty="0"/>
              <a:t>. </a:t>
            </a:r>
            <a:r>
              <a:rPr lang="en-US" dirty="0" err="1"/>
              <a:t>Praesent</a:t>
            </a:r>
            <a:r>
              <a:rPr lang="en-US" dirty="0"/>
              <a:t> </a:t>
            </a:r>
            <a:r>
              <a:rPr lang="en-US" dirty="0" err="1"/>
              <a:t>imperdiet</a:t>
            </a:r>
            <a:r>
              <a:rPr lang="en-US" dirty="0"/>
              <a:t> </a:t>
            </a:r>
            <a:r>
              <a:rPr lang="en-US" dirty="0" err="1"/>
              <a:t>neque</a:t>
            </a:r>
            <a:r>
              <a:rPr lang="en-US" dirty="0"/>
              <a:t> vitae </a:t>
            </a:r>
            <a:r>
              <a:rPr lang="en-US" dirty="0" err="1"/>
              <a:t>fringilla</a:t>
            </a:r>
            <a:r>
              <a:rPr lang="en-US" dirty="0"/>
              <a:t> </a:t>
            </a:r>
            <a:r>
              <a:rPr lang="en-US" dirty="0" err="1"/>
              <a:t>sodales</a:t>
            </a:r>
            <a:r>
              <a:rPr lang="en-US" dirty="0"/>
              <a:t>. In </a:t>
            </a:r>
            <a:r>
              <a:rPr lang="en-US" dirty="0" err="1"/>
              <a:t>ut</a:t>
            </a:r>
            <a:r>
              <a:rPr lang="en-US" dirty="0"/>
              <a:t> </a:t>
            </a:r>
            <a:r>
              <a:rPr lang="en-US" dirty="0" err="1"/>
              <a:t>volutpat</a:t>
            </a:r>
            <a:r>
              <a:rPr lang="en-US" dirty="0"/>
              <a:t> </a:t>
            </a:r>
            <a:r>
              <a:rPr lang="en-US" dirty="0" err="1"/>
              <a:t>nulla</a:t>
            </a:r>
            <a:r>
              <a:rPr lang="en-US" dirty="0"/>
              <a:t>. </a:t>
            </a:r>
            <a:r>
              <a:rPr lang="en-US" dirty="0" err="1"/>
              <a:t>Mauris</a:t>
            </a:r>
            <a:r>
              <a:rPr lang="en-US" dirty="0"/>
              <a:t> </a:t>
            </a:r>
            <a:r>
              <a:rPr lang="en-US" dirty="0" err="1"/>
              <a:t>quis</a:t>
            </a:r>
            <a:r>
              <a:rPr lang="en-US" dirty="0"/>
              <a:t> gravida </a:t>
            </a:r>
            <a:r>
              <a:rPr lang="en-US" dirty="0" err="1"/>
              <a:t>enim</a:t>
            </a:r>
            <a:r>
              <a:rPr lang="en-US" dirty="0"/>
              <a:t>. </a:t>
            </a:r>
            <a:r>
              <a:rPr lang="en-US" dirty="0" err="1"/>
              <a:t>Curabitur</a:t>
            </a:r>
            <a:r>
              <a:rPr lang="en-US" dirty="0"/>
              <a:t> </a:t>
            </a:r>
            <a:r>
              <a:rPr lang="en-US" dirty="0" err="1"/>
              <a:t>eget</a:t>
            </a:r>
            <a:r>
              <a:rPr lang="en-US" dirty="0"/>
              <a:t> </a:t>
            </a:r>
            <a:r>
              <a:rPr lang="en-US" dirty="0" err="1"/>
              <a:t>dapibus</a:t>
            </a:r>
            <a:r>
              <a:rPr lang="en-US" dirty="0"/>
              <a:t> sem. </a:t>
            </a:r>
            <a:r>
              <a:rPr lang="en-US" dirty="0" err="1"/>
              <a:t>Aliquam</a:t>
            </a:r>
            <a:r>
              <a:rPr lang="en-US" dirty="0"/>
              <a:t> tempus </a:t>
            </a:r>
            <a:r>
              <a:rPr lang="en-US" dirty="0" err="1"/>
              <a:t>venenatis</a:t>
            </a:r>
            <a:r>
              <a:rPr lang="en-US" dirty="0"/>
              <a:t> ligula, sed </a:t>
            </a:r>
            <a:r>
              <a:rPr lang="en-US" dirty="0" err="1"/>
              <a:t>vulputate</a:t>
            </a:r>
            <a:r>
              <a:rPr lang="en-US" dirty="0"/>
              <a:t> </a:t>
            </a:r>
            <a:r>
              <a:rPr lang="en-US" dirty="0" err="1"/>
              <a:t>augue</a:t>
            </a:r>
            <a:r>
              <a:rPr lang="en-US" dirty="0"/>
              <a:t> </a:t>
            </a:r>
            <a:r>
              <a:rPr lang="en-US" dirty="0" err="1"/>
              <a:t>rhoncus</a:t>
            </a:r>
            <a:r>
              <a:rPr lang="en-US" dirty="0"/>
              <a:t> </a:t>
            </a:r>
            <a:r>
              <a:rPr lang="en-US" dirty="0" err="1"/>
              <a:t>ut.</a:t>
            </a:r>
            <a:r>
              <a:rPr lang="en-US" dirty="0"/>
              <a:t> Nunc </a:t>
            </a:r>
            <a:r>
              <a:rPr lang="en-US" dirty="0" err="1"/>
              <a:t>sodales</a:t>
            </a:r>
            <a:r>
              <a:rPr lang="en-US" dirty="0"/>
              <a:t> </a:t>
            </a:r>
            <a:r>
              <a:rPr lang="en-US" dirty="0" err="1"/>
              <a:t>scelerisque</a:t>
            </a:r>
            <a:r>
              <a:rPr lang="en-US" dirty="0"/>
              <a:t> </a:t>
            </a:r>
            <a:r>
              <a:rPr lang="en-US" dirty="0" err="1"/>
              <a:t>purus</a:t>
            </a:r>
            <a:r>
              <a:rPr lang="en-US" dirty="0"/>
              <a:t> sed vestibulum.</a:t>
            </a:r>
          </a:p>
        </p:txBody>
      </p:sp>
      <p:sp>
        <p:nvSpPr>
          <p:cNvPr id="12" name="Picture Placeholder 11">
            <a:extLst>
              <a:ext uri="{FF2B5EF4-FFF2-40B4-BE49-F238E27FC236}">
                <a16:creationId xmlns:a16="http://schemas.microsoft.com/office/drawing/2014/main" id="{6DAD05AE-ADD7-4741-A709-34C17E5B7D1E}"/>
              </a:ext>
            </a:extLst>
          </p:cNvPr>
          <p:cNvSpPr>
            <a:spLocks noGrp="1"/>
          </p:cNvSpPr>
          <p:nvPr>
            <p:ph type="pic" sz="quarter" idx="11"/>
          </p:nvPr>
        </p:nvSpPr>
        <p:spPr>
          <a:xfrm>
            <a:off x="8086725" y="1984375"/>
            <a:ext cx="3281363" cy="3281363"/>
          </a:xfrm>
        </p:spPr>
        <p:txBody>
          <a:bodyPr/>
          <a:lstStyle/>
          <a:p>
            <a:endParaRPr lang="en-US"/>
          </a:p>
        </p:txBody>
      </p:sp>
      <p:grpSp>
        <p:nvGrpSpPr>
          <p:cNvPr id="9" name="Group 8">
            <a:extLst>
              <a:ext uri="{FF2B5EF4-FFF2-40B4-BE49-F238E27FC236}">
                <a16:creationId xmlns:a16="http://schemas.microsoft.com/office/drawing/2014/main" id="{C118FC5F-48D3-2F6F-BFAF-1E80E02BF506}"/>
              </a:ext>
            </a:extLst>
          </p:cNvPr>
          <p:cNvGrpSpPr/>
          <p:nvPr userDrawn="1"/>
        </p:nvGrpSpPr>
        <p:grpSpPr>
          <a:xfrm>
            <a:off x="5551170" y="1549568"/>
            <a:ext cx="1089660" cy="65378"/>
            <a:chOff x="3965945" y="1385354"/>
            <a:chExt cx="4572000" cy="79107"/>
          </a:xfrm>
          <a:solidFill>
            <a:srgbClr val="A5416F"/>
          </a:solidFill>
        </p:grpSpPr>
        <p:sp>
          <p:nvSpPr>
            <p:cNvPr id="11" name="Rectangle 10">
              <a:extLst>
                <a:ext uri="{FF2B5EF4-FFF2-40B4-BE49-F238E27FC236}">
                  <a16:creationId xmlns:a16="http://schemas.microsoft.com/office/drawing/2014/main" id="{FE227802-0B1E-2248-5F4F-AD5F0A0C2F52}"/>
                </a:ext>
              </a:extLst>
            </p:cNvPr>
            <p:cNvSpPr/>
            <p:nvPr/>
          </p:nvSpPr>
          <p:spPr>
            <a:xfrm>
              <a:off x="3965945" y="1385356"/>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sp>
          <p:nvSpPr>
            <p:cNvPr id="13" name="Rectangle 12">
              <a:extLst>
                <a:ext uri="{FF2B5EF4-FFF2-40B4-BE49-F238E27FC236}">
                  <a16:creationId xmlns:a16="http://schemas.microsoft.com/office/drawing/2014/main" id="{33F692FC-37B3-FCCC-0D09-030D3BFB0EA2}"/>
                </a:ext>
              </a:extLst>
            </p:cNvPr>
            <p:cNvSpPr/>
            <p:nvPr/>
          </p:nvSpPr>
          <p:spPr>
            <a:xfrm>
              <a:off x="4880345" y="1385355"/>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sp>
          <p:nvSpPr>
            <p:cNvPr id="14" name="Rectangle 13">
              <a:extLst>
                <a:ext uri="{FF2B5EF4-FFF2-40B4-BE49-F238E27FC236}">
                  <a16:creationId xmlns:a16="http://schemas.microsoft.com/office/drawing/2014/main" id="{A2951F85-05F9-B38D-636F-604AB7D13EFB}"/>
                </a:ext>
              </a:extLst>
            </p:cNvPr>
            <p:cNvSpPr/>
            <p:nvPr/>
          </p:nvSpPr>
          <p:spPr>
            <a:xfrm>
              <a:off x="5794745" y="1385354"/>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sp>
          <p:nvSpPr>
            <p:cNvPr id="15" name="Rectangle 14">
              <a:extLst>
                <a:ext uri="{FF2B5EF4-FFF2-40B4-BE49-F238E27FC236}">
                  <a16:creationId xmlns:a16="http://schemas.microsoft.com/office/drawing/2014/main" id="{324D2AC1-5D63-1682-FFDA-83DE38F8E6CF}"/>
                </a:ext>
              </a:extLst>
            </p:cNvPr>
            <p:cNvSpPr/>
            <p:nvPr/>
          </p:nvSpPr>
          <p:spPr>
            <a:xfrm>
              <a:off x="6709145" y="1385354"/>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sp>
          <p:nvSpPr>
            <p:cNvPr id="16" name="Rectangle 15">
              <a:extLst>
                <a:ext uri="{FF2B5EF4-FFF2-40B4-BE49-F238E27FC236}">
                  <a16:creationId xmlns:a16="http://schemas.microsoft.com/office/drawing/2014/main" id="{053A06CE-CD19-455C-43F0-12DA8D14A55D}"/>
                </a:ext>
              </a:extLst>
            </p:cNvPr>
            <p:cNvSpPr/>
            <p:nvPr/>
          </p:nvSpPr>
          <p:spPr>
            <a:xfrm>
              <a:off x="7623545" y="1385354"/>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ln>
                  <a:solidFill>
                    <a:srgbClr val="00548C"/>
                  </a:solidFill>
                </a:ln>
              </a:endParaRPr>
            </a:p>
          </p:txBody>
        </p:sp>
      </p:grpSp>
    </p:spTree>
    <p:extLst>
      <p:ext uri="{BB962C8B-B14F-4D97-AF65-F5344CB8AC3E}">
        <p14:creationId xmlns:p14="http://schemas.microsoft.com/office/powerpoint/2010/main" val="1730638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 calcmode="lin" valueType="num">
                                      <p:cBhvr>
                                        <p:cTn id="9" dur="500" fill="hold"/>
                                        <p:tgtEl>
                                          <p:spTgt spid="9"/>
                                        </p:tgtEl>
                                        <p:attrNameLst>
                                          <p:attrName>style.rotation</p:attrName>
                                        </p:attrNameLst>
                                      </p:cBhvr>
                                      <p:tavLst>
                                        <p:tav tm="0">
                                          <p:val>
                                            <p:fltVal val="360"/>
                                          </p:val>
                                        </p:tav>
                                        <p:tav tm="100000">
                                          <p:val>
                                            <p:fltVal val="0"/>
                                          </p:val>
                                        </p:tav>
                                      </p:tavLst>
                                    </p:anim>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551A5-E139-4D9C-9483-6B135DEAC82E}"/>
              </a:ext>
            </a:extLst>
          </p:cNvPr>
          <p:cNvSpPr>
            <a:spLocks noGrp="1"/>
          </p:cNvSpPr>
          <p:nvPr>
            <p:ph type="title" hasCustomPrompt="1"/>
          </p:nvPr>
        </p:nvSpPr>
        <p:spPr/>
        <p:txBody>
          <a:bodyPr/>
          <a:lstStyle/>
          <a:p>
            <a:r>
              <a:rPr lang="en-US" dirty="0"/>
              <a:t>CLICK TO EDIT MASTER TITLE STYLE</a:t>
            </a:r>
          </a:p>
        </p:txBody>
      </p:sp>
      <p:sp>
        <p:nvSpPr>
          <p:cNvPr id="10" name="Text Placeholder 9">
            <a:extLst>
              <a:ext uri="{FF2B5EF4-FFF2-40B4-BE49-F238E27FC236}">
                <a16:creationId xmlns:a16="http://schemas.microsoft.com/office/drawing/2014/main" id="{4ED4206A-C4DE-4D19-87C9-C7161C71801F}"/>
              </a:ext>
            </a:extLst>
          </p:cNvPr>
          <p:cNvSpPr>
            <a:spLocks noGrp="1"/>
          </p:cNvSpPr>
          <p:nvPr>
            <p:ph type="body" sz="quarter" idx="10" hasCustomPrompt="1"/>
          </p:nvPr>
        </p:nvSpPr>
        <p:spPr>
          <a:xfrm>
            <a:off x="6422898" y="2108554"/>
            <a:ext cx="4935982" cy="3281362"/>
          </a:xfrm>
        </p:spPr>
        <p:txBody>
          <a:bodyPr>
            <a:normAutofit/>
          </a:bodyPr>
          <a:lstStyle>
            <a:lvl1pPr marL="0" indent="0" algn="just">
              <a:lnSpc>
                <a:spcPct val="100000"/>
              </a:lnSpc>
              <a:spcBef>
                <a:spcPts val="0"/>
              </a:spcBef>
              <a:spcAft>
                <a:spcPts val="1200"/>
              </a:spcAft>
              <a:buNone/>
              <a:defRPr sz="1800">
                <a:latin typeface="IBM Plex Sans Condensed Light" panose="020B0406050203000203" pitchFamily="34"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Nam vel </a:t>
            </a:r>
            <a:r>
              <a:rPr lang="en-US" dirty="0" err="1"/>
              <a:t>dignissim</a:t>
            </a:r>
            <a:r>
              <a:rPr lang="en-US" dirty="0"/>
              <a:t> lorem. Maecenas et pharetra </a:t>
            </a:r>
            <a:r>
              <a:rPr lang="en-US" dirty="0" err="1"/>
              <a:t>lectus</a:t>
            </a:r>
            <a:r>
              <a:rPr lang="en-US" dirty="0"/>
              <a:t>, sed </a:t>
            </a:r>
            <a:r>
              <a:rPr lang="en-US" dirty="0" err="1"/>
              <a:t>luctus</a:t>
            </a:r>
            <a:r>
              <a:rPr lang="en-US" dirty="0"/>
              <a:t> </a:t>
            </a:r>
            <a:r>
              <a:rPr lang="en-US" dirty="0" err="1"/>
              <a:t>orci</a:t>
            </a:r>
            <a:r>
              <a:rPr lang="en-US" dirty="0"/>
              <a:t>. </a:t>
            </a:r>
            <a:r>
              <a:rPr lang="en-US" dirty="0" err="1"/>
              <a:t>Praesent</a:t>
            </a:r>
            <a:r>
              <a:rPr lang="en-US" dirty="0"/>
              <a:t> </a:t>
            </a:r>
            <a:r>
              <a:rPr lang="en-US" dirty="0" err="1"/>
              <a:t>imperdiet</a:t>
            </a:r>
            <a:r>
              <a:rPr lang="en-US" dirty="0"/>
              <a:t> </a:t>
            </a:r>
            <a:r>
              <a:rPr lang="en-US" dirty="0" err="1"/>
              <a:t>neque</a:t>
            </a:r>
            <a:r>
              <a:rPr lang="en-US" dirty="0"/>
              <a:t> vitae </a:t>
            </a:r>
            <a:r>
              <a:rPr lang="en-US" dirty="0" err="1"/>
              <a:t>fringilla</a:t>
            </a:r>
            <a:r>
              <a:rPr lang="en-US" dirty="0"/>
              <a:t> </a:t>
            </a:r>
            <a:r>
              <a:rPr lang="en-US" dirty="0" err="1"/>
              <a:t>sodales</a:t>
            </a:r>
            <a:r>
              <a:rPr lang="en-US" dirty="0"/>
              <a:t>. In </a:t>
            </a:r>
            <a:r>
              <a:rPr lang="en-US" dirty="0" err="1"/>
              <a:t>ut</a:t>
            </a:r>
            <a:r>
              <a:rPr lang="en-US" dirty="0"/>
              <a:t> </a:t>
            </a:r>
            <a:r>
              <a:rPr lang="en-US" dirty="0" err="1"/>
              <a:t>volutpat</a:t>
            </a:r>
            <a:r>
              <a:rPr lang="en-US" dirty="0"/>
              <a:t> </a:t>
            </a:r>
            <a:r>
              <a:rPr lang="en-US" dirty="0" err="1"/>
              <a:t>nulla</a:t>
            </a:r>
            <a:r>
              <a:rPr lang="en-US" dirty="0"/>
              <a:t>. </a:t>
            </a:r>
            <a:r>
              <a:rPr lang="en-US" dirty="0" err="1"/>
              <a:t>Mauris</a:t>
            </a:r>
            <a:r>
              <a:rPr lang="en-US" dirty="0"/>
              <a:t> </a:t>
            </a:r>
            <a:r>
              <a:rPr lang="en-US" dirty="0" err="1"/>
              <a:t>quis</a:t>
            </a:r>
            <a:r>
              <a:rPr lang="en-US" dirty="0"/>
              <a:t> gravida </a:t>
            </a:r>
            <a:r>
              <a:rPr lang="en-US" dirty="0" err="1"/>
              <a:t>enim</a:t>
            </a:r>
            <a:r>
              <a:rPr lang="en-US" dirty="0"/>
              <a:t>. </a:t>
            </a:r>
            <a:r>
              <a:rPr lang="en-US" dirty="0" err="1"/>
              <a:t>Curabitur</a:t>
            </a:r>
            <a:r>
              <a:rPr lang="en-US" dirty="0"/>
              <a:t> </a:t>
            </a:r>
            <a:r>
              <a:rPr lang="en-US" dirty="0" err="1"/>
              <a:t>eget</a:t>
            </a:r>
            <a:r>
              <a:rPr lang="en-US" dirty="0"/>
              <a:t> </a:t>
            </a:r>
            <a:r>
              <a:rPr lang="en-US" dirty="0" err="1"/>
              <a:t>dapibus</a:t>
            </a:r>
            <a:r>
              <a:rPr lang="en-US" dirty="0"/>
              <a:t> sem. </a:t>
            </a:r>
            <a:r>
              <a:rPr lang="en-US" dirty="0" err="1"/>
              <a:t>Aliquam</a:t>
            </a:r>
            <a:r>
              <a:rPr lang="en-US" dirty="0"/>
              <a:t> tempus </a:t>
            </a:r>
            <a:r>
              <a:rPr lang="en-US" dirty="0" err="1"/>
              <a:t>venenatis</a:t>
            </a:r>
            <a:r>
              <a:rPr lang="en-US" dirty="0"/>
              <a:t> ligula, sed </a:t>
            </a:r>
            <a:r>
              <a:rPr lang="en-US" dirty="0" err="1"/>
              <a:t>vulputate</a:t>
            </a:r>
            <a:r>
              <a:rPr lang="en-US" dirty="0"/>
              <a:t> </a:t>
            </a:r>
            <a:r>
              <a:rPr lang="en-US" dirty="0" err="1"/>
              <a:t>augue</a:t>
            </a:r>
            <a:r>
              <a:rPr lang="en-US" dirty="0"/>
              <a:t> </a:t>
            </a:r>
            <a:r>
              <a:rPr lang="en-US" dirty="0" err="1"/>
              <a:t>rhoncus</a:t>
            </a:r>
            <a:r>
              <a:rPr lang="en-US" dirty="0"/>
              <a:t> </a:t>
            </a:r>
            <a:r>
              <a:rPr lang="en-US" dirty="0" err="1"/>
              <a:t>ut.</a:t>
            </a:r>
            <a:r>
              <a:rPr lang="en-US" dirty="0"/>
              <a:t> Nunc </a:t>
            </a:r>
            <a:r>
              <a:rPr lang="en-US" dirty="0" err="1"/>
              <a:t>sodales</a:t>
            </a:r>
            <a:r>
              <a:rPr lang="en-US" dirty="0"/>
              <a:t> </a:t>
            </a:r>
            <a:r>
              <a:rPr lang="en-US" dirty="0" err="1"/>
              <a:t>scelerisque</a:t>
            </a:r>
            <a:r>
              <a:rPr lang="en-US" dirty="0"/>
              <a:t> </a:t>
            </a:r>
            <a:r>
              <a:rPr lang="en-US" dirty="0" err="1"/>
              <a:t>purus</a:t>
            </a:r>
            <a:r>
              <a:rPr lang="en-US" dirty="0"/>
              <a:t> sed vestibulum.</a:t>
            </a:r>
          </a:p>
        </p:txBody>
      </p:sp>
      <p:sp>
        <p:nvSpPr>
          <p:cNvPr id="13" name="Rectangle 12">
            <a:extLst>
              <a:ext uri="{FF2B5EF4-FFF2-40B4-BE49-F238E27FC236}">
                <a16:creationId xmlns:a16="http://schemas.microsoft.com/office/drawing/2014/main" id="{9E873F61-18AF-4EB8-9637-E1E6A31F0B19}"/>
              </a:ext>
            </a:extLst>
          </p:cNvPr>
          <p:cNvSpPr/>
          <p:nvPr userDrawn="1"/>
        </p:nvSpPr>
        <p:spPr>
          <a:xfrm>
            <a:off x="833120" y="2207106"/>
            <a:ext cx="5139436" cy="131399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icture Placeholder 11">
            <a:extLst>
              <a:ext uri="{FF2B5EF4-FFF2-40B4-BE49-F238E27FC236}">
                <a16:creationId xmlns:a16="http://schemas.microsoft.com/office/drawing/2014/main" id="{6DAD05AE-ADD7-4741-A709-34C17E5B7D1E}"/>
              </a:ext>
            </a:extLst>
          </p:cNvPr>
          <p:cNvSpPr>
            <a:spLocks noGrp="1"/>
          </p:cNvSpPr>
          <p:nvPr>
            <p:ph type="pic" sz="quarter" idx="11"/>
          </p:nvPr>
        </p:nvSpPr>
        <p:spPr>
          <a:xfrm>
            <a:off x="1838960" y="1984375"/>
            <a:ext cx="3712210" cy="2252345"/>
          </a:xfrm>
        </p:spPr>
        <p:txBody>
          <a:bodyPr/>
          <a:lstStyle/>
          <a:p>
            <a:endParaRPr lang="en-US"/>
          </a:p>
        </p:txBody>
      </p:sp>
      <p:sp>
        <p:nvSpPr>
          <p:cNvPr id="15" name="Text Placeholder 14">
            <a:extLst>
              <a:ext uri="{FF2B5EF4-FFF2-40B4-BE49-F238E27FC236}">
                <a16:creationId xmlns:a16="http://schemas.microsoft.com/office/drawing/2014/main" id="{C149145E-0DF4-4B39-8AC4-350E738A5ABF}"/>
              </a:ext>
            </a:extLst>
          </p:cNvPr>
          <p:cNvSpPr>
            <a:spLocks noGrp="1"/>
          </p:cNvSpPr>
          <p:nvPr>
            <p:ph type="body" sz="quarter" idx="12" hasCustomPrompt="1"/>
          </p:nvPr>
        </p:nvSpPr>
        <p:spPr>
          <a:xfrm>
            <a:off x="833438" y="1241425"/>
            <a:ext cx="10525125" cy="379413"/>
          </a:xfrm>
        </p:spPr>
        <p:txBody>
          <a:bodyPr>
            <a:normAutofit/>
          </a:bodyPr>
          <a:lstStyle>
            <a:lvl1pPr algn="ctr">
              <a:buNone/>
              <a:defRPr sz="1600">
                <a:latin typeface="IBM Plex Sans Condensed Light" panose="020B0406050203000203" pitchFamily="34"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endParaRPr lang="en-US" dirty="0"/>
          </a:p>
        </p:txBody>
      </p:sp>
    </p:spTree>
    <p:extLst>
      <p:ext uri="{BB962C8B-B14F-4D97-AF65-F5344CB8AC3E}">
        <p14:creationId xmlns:p14="http://schemas.microsoft.com/office/powerpoint/2010/main" val="9736209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551A5-E139-4D9C-9483-6B135DEAC82E}"/>
              </a:ext>
            </a:extLst>
          </p:cNvPr>
          <p:cNvSpPr>
            <a:spLocks noGrp="1"/>
          </p:cNvSpPr>
          <p:nvPr>
            <p:ph type="title" hasCustomPrompt="1"/>
          </p:nvPr>
        </p:nvSpPr>
        <p:spPr/>
        <p:txBody>
          <a:bodyPr/>
          <a:lstStyle/>
          <a:p>
            <a:r>
              <a:rPr lang="en-US" dirty="0"/>
              <a:t>CLICK TO EDIT MASTER TITLE STYLE</a:t>
            </a:r>
          </a:p>
        </p:txBody>
      </p:sp>
      <p:sp>
        <p:nvSpPr>
          <p:cNvPr id="10" name="Text Placeholder 9">
            <a:extLst>
              <a:ext uri="{FF2B5EF4-FFF2-40B4-BE49-F238E27FC236}">
                <a16:creationId xmlns:a16="http://schemas.microsoft.com/office/drawing/2014/main" id="{4ED4206A-C4DE-4D19-87C9-C7161C71801F}"/>
              </a:ext>
            </a:extLst>
          </p:cNvPr>
          <p:cNvSpPr>
            <a:spLocks noGrp="1"/>
          </p:cNvSpPr>
          <p:nvPr>
            <p:ph type="body" sz="quarter" idx="10" hasCustomPrompt="1"/>
          </p:nvPr>
        </p:nvSpPr>
        <p:spPr>
          <a:xfrm>
            <a:off x="4328160" y="1984376"/>
            <a:ext cx="7030720" cy="1886586"/>
          </a:xfrm>
        </p:spPr>
        <p:txBody>
          <a:bodyPr>
            <a:normAutofit/>
          </a:bodyPr>
          <a:lstStyle>
            <a:lvl1pPr marL="0" indent="0" algn="just">
              <a:lnSpc>
                <a:spcPct val="100000"/>
              </a:lnSpc>
              <a:spcBef>
                <a:spcPts val="0"/>
              </a:spcBef>
              <a:spcAft>
                <a:spcPts val="1200"/>
              </a:spcAft>
              <a:buNone/>
              <a:defRPr sz="1800">
                <a:latin typeface="IBM Plex Sans Condensed Light" panose="020B0406050203000203" pitchFamily="34"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Nam vel </a:t>
            </a:r>
            <a:r>
              <a:rPr lang="en-US" dirty="0" err="1"/>
              <a:t>dignissim</a:t>
            </a:r>
            <a:r>
              <a:rPr lang="en-US" dirty="0"/>
              <a:t> lorem. Maecenas et pharetra </a:t>
            </a:r>
            <a:r>
              <a:rPr lang="en-US" dirty="0" err="1"/>
              <a:t>lectus</a:t>
            </a:r>
            <a:r>
              <a:rPr lang="en-US" dirty="0"/>
              <a:t>, sed </a:t>
            </a:r>
            <a:r>
              <a:rPr lang="en-US" dirty="0" err="1"/>
              <a:t>luctus</a:t>
            </a:r>
            <a:r>
              <a:rPr lang="en-US" dirty="0"/>
              <a:t> </a:t>
            </a:r>
            <a:r>
              <a:rPr lang="en-US" dirty="0" err="1"/>
              <a:t>orci</a:t>
            </a:r>
            <a:r>
              <a:rPr lang="en-US" dirty="0"/>
              <a:t>. </a:t>
            </a:r>
            <a:r>
              <a:rPr lang="en-US" dirty="0" err="1"/>
              <a:t>Praesent</a:t>
            </a:r>
            <a:r>
              <a:rPr lang="en-US" dirty="0"/>
              <a:t> </a:t>
            </a:r>
            <a:r>
              <a:rPr lang="en-US" dirty="0" err="1"/>
              <a:t>imperdiet</a:t>
            </a:r>
            <a:r>
              <a:rPr lang="en-US" dirty="0"/>
              <a:t> </a:t>
            </a:r>
            <a:r>
              <a:rPr lang="en-US" dirty="0" err="1"/>
              <a:t>neque</a:t>
            </a:r>
            <a:r>
              <a:rPr lang="en-US" dirty="0"/>
              <a:t> vitae </a:t>
            </a:r>
            <a:r>
              <a:rPr lang="en-US" dirty="0" err="1"/>
              <a:t>fringilla</a:t>
            </a:r>
            <a:r>
              <a:rPr lang="en-US" dirty="0"/>
              <a:t> </a:t>
            </a:r>
            <a:r>
              <a:rPr lang="en-US" dirty="0" err="1"/>
              <a:t>sodales</a:t>
            </a:r>
            <a:r>
              <a:rPr lang="en-US" dirty="0"/>
              <a:t>.</a:t>
            </a:r>
          </a:p>
        </p:txBody>
      </p:sp>
      <p:sp>
        <p:nvSpPr>
          <p:cNvPr id="13" name="Rectangle 12">
            <a:extLst>
              <a:ext uri="{FF2B5EF4-FFF2-40B4-BE49-F238E27FC236}">
                <a16:creationId xmlns:a16="http://schemas.microsoft.com/office/drawing/2014/main" id="{9E873F61-18AF-4EB8-9637-E1E6A31F0B19}"/>
              </a:ext>
            </a:extLst>
          </p:cNvPr>
          <p:cNvSpPr/>
          <p:nvPr userDrawn="1"/>
        </p:nvSpPr>
        <p:spPr>
          <a:xfrm>
            <a:off x="833120" y="2207106"/>
            <a:ext cx="3108960" cy="108965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icture Placeholder 11">
            <a:extLst>
              <a:ext uri="{FF2B5EF4-FFF2-40B4-BE49-F238E27FC236}">
                <a16:creationId xmlns:a16="http://schemas.microsoft.com/office/drawing/2014/main" id="{6DAD05AE-ADD7-4741-A709-34C17E5B7D1E}"/>
              </a:ext>
            </a:extLst>
          </p:cNvPr>
          <p:cNvSpPr>
            <a:spLocks noGrp="1"/>
          </p:cNvSpPr>
          <p:nvPr>
            <p:ph type="pic" sz="quarter" idx="11"/>
          </p:nvPr>
        </p:nvSpPr>
        <p:spPr>
          <a:xfrm>
            <a:off x="1097280" y="1984375"/>
            <a:ext cx="1914776" cy="1886586"/>
          </a:xfrm>
        </p:spPr>
        <p:txBody>
          <a:bodyPr/>
          <a:lstStyle/>
          <a:p>
            <a:endParaRPr lang="en-US"/>
          </a:p>
        </p:txBody>
      </p:sp>
      <p:sp>
        <p:nvSpPr>
          <p:cNvPr id="15" name="Text Placeholder 14">
            <a:extLst>
              <a:ext uri="{FF2B5EF4-FFF2-40B4-BE49-F238E27FC236}">
                <a16:creationId xmlns:a16="http://schemas.microsoft.com/office/drawing/2014/main" id="{C149145E-0DF4-4B39-8AC4-350E738A5ABF}"/>
              </a:ext>
            </a:extLst>
          </p:cNvPr>
          <p:cNvSpPr>
            <a:spLocks noGrp="1"/>
          </p:cNvSpPr>
          <p:nvPr>
            <p:ph type="body" sz="quarter" idx="12" hasCustomPrompt="1"/>
          </p:nvPr>
        </p:nvSpPr>
        <p:spPr>
          <a:xfrm>
            <a:off x="833438" y="1241425"/>
            <a:ext cx="10525125" cy="379413"/>
          </a:xfrm>
        </p:spPr>
        <p:txBody>
          <a:bodyPr>
            <a:normAutofit/>
          </a:bodyPr>
          <a:lstStyle>
            <a:lvl1pPr algn="ctr">
              <a:buNone/>
              <a:defRPr sz="1600">
                <a:latin typeface="IBM Plex Sans Condensed Light" panose="020B0406050203000203" pitchFamily="34"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endParaRPr lang="en-US" dirty="0"/>
          </a:p>
        </p:txBody>
      </p:sp>
      <p:sp>
        <p:nvSpPr>
          <p:cNvPr id="18" name="Text Placeholder 9">
            <a:extLst>
              <a:ext uri="{FF2B5EF4-FFF2-40B4-BE49-F238E27FC236}">
                <a16:creationId xmlns:a16="http://schemas.microsoft.com/office/drawing/2014/main" id="{03D3E3B3-C60E-4827-A30C-21085A70403C}"/>
              </a:ext>
            </a:extLst>
          </p:cNvPr>
          <p:cNvSpPr>
            <a:spLocks noGrp="1"/>
          </p:cNvSpPr>
          <p:nvPr>
            <p:ph type="body" sz="quarter" idx="13" hasCustomPrompt="1"/>
          </p:nvPr>
        </p:nvSpPr>
        <p:spPr>
          <a:xfrm>
            <a:off x="4323080" y="4073374"/>
            <a:ext cx="7030720" cy="1886586"/>
          </a:xfrm>
        </p:spPr>
        <p:txBody>
          <a:bodyPr>
            <a:normAutofit/>
          </a:bodyPr>
          <a:lstStyle>
            <a:lvl1pPr marL="0" indent="0" algn="just">
              <a:lnSpc>
                <a:spcPct val="100000"/>
              </a:lnSpc>
              <a:spcBef>
                <a:spcPts val="0"/>
              </a:spcBef>
              <a:spcAft>
                <a:spcPts val="1200"/>
              </a:spcAft>
              <a:buNone/>
              <a:defRPr sz="1800">
                <a:latin typeface="IBM Plex Sans Condensed Light" panose="020B0406050203000203" pitchFamily="34"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Nam vel </a:t>
            </a:r>
            <a:r>
              <a:rPr lang="en-US" dirty="0" err="1"/>
              <a:t>dignissim</a:t>
            </a:r>
            <a:r>
              <a:rPr lang="en-US" dirty="0"/>
              <a:t> lorem. Maecenas et pharetra </a:t>
            </a:r>
            <a:r>
              <a:rPr lang="en-US" dirty="0" err="1"/>
              <a:t>lectus</a:t>
            </a:r>
            <a:r>
              <a:rPr lang="en-US" dirty="0"/>
              <a:t>, sed </a:t>
            </a:r>
            <a:r>
              <a:rPr lang="en-US" dirty="0" err="1"/>
              <a:t>luctus</a:t>
            </a:r>
            <a:r>
              <a:rPr lang="en-US" dirty="0"/>
              <a:t> </a:t>
            </a:r>
            <a:r>
              <a:rPr lang="en-US" dirty="0" err="1"/>
              <a:t>orci</a:t>
            </a:r>
            <a:r>
              <a:rPr lang="en-US" dirty="0"/>
              <a:t>. </a:t>
            </a:r>
            <a:r>
              <a:rPr lang="en-US" dirty="0" err="1"/>
              <a:t>Praesent</a:t>
            </a:r>
            <a:r>
              <a:rPr lang="en-US" dirty="0"/>
              <a:t> </a:t>
            </a:r>
            <a:r>
              <a:rPr lang="en-US" dirty="0" err="1"/>
              <a:t>imperdiet</a:t>
            </a:r>
            <a:r>
              <a:rPr lang="en-US" dirty="0"/>
              <a:t> </a:t>
            </a:r>
            <a:r>
              <a:rPr lang="en-US" dirty="0" err="1"/>
              <a:t>neque</a:t>
            </a:r>
            <a:r>
              <a:rPr lang="en-US" dirty="0"/>
              <a:t> vitae </a:t>
            </a:r>
            <a:r>
              <a:rPr lang="en-US" dirty="0" err="1"/>
              <a:t>fringilla</a:t>
            </a:r>
            <a:r>
              <a:rPr lang="en-US" dirty="0"/>
              <a:t> </a:t>
            </a:r>
            <a:r>
              <a:rPr lang="en-US" dirty="0" err="1"/>
              <a:t>sodales</a:t>
            </a:r>
            <a:r>
              <a:rPr lang="en-US" dirty="0"/>
              <a:t>.</a:t>
            </a:r>
          </a:p>
        </p:txBody>
      </p:sp>
      <p:sp>
        <p:nvSpPr>
          <p:cNvPr id="19" name="Rectangle 18">
            <a:extLst>
              <a:ext uri="{FF2B5EF4-FFF2-40B4-BE49-F238E27FC236}">
                <a16:creationId xmlns:a16="http://schemas.microsoft.com/office/drawing/2014/main" id="{C3139803-E5B1-4539-9181-9248509AA8F5}"/>
              </a:ext>
            </a:extLst>
          </p:cNvPr>
          <p:cNvSpPr/>
          <p:nvPr userDrawn="1"/>
        </p:nvSpPr>
        <p:spPr>
          <a:xfrm>
            <a:off x="828040" y="4296104"/>
            <a:ext cx="3108960" cy="108965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icture Placeholder 11">
            <a:extLst>
              <a:ext uri="{FF2B5EF4-FFF2-40B4-BE49-F238E27FC236}">
                <a16:creationId xmlns:a16="http://schemas.microsoft.com/office/drawing/2014/main" id="{F01C1B97-1487-4C58-ABF4-206F9E92D05D}"/>
              </a:ext>
            </a:extLst>
          </p:cNvPr>
          <p:cNvSpPr>
            <a:spLocks noGrp="1"/>
          </p:cNvSpPr>
          <p:nvPr>
            <p:ph type="pic" sz="quarter" idx="14"/>
          </p:nvPr>
        </p:nvSpPr>
        <p:spPr>
          <a:xfrm>
            <a:off x="1092200" y="4073373"/>
            <a:ext cx="1914776" cy="1886586"/>
          </a:xfrm>
        </p:spPr>
        <p:txBody>
          <a:bodyPr/>
          <a:lstStyle/>
          <a:p>
            <a:endParaRPr lang="en-US"/>
          </a:p>
        </p:txBody>
      </p:sp>
    </p:spTree>
    <p:extLst>
      <p:ext uri="{BB962C8B-B14F-4D97-AF65-F5344CB8AC3E}">
        <p14:creationId xmlns:p14="http://schemas.microsoft.com/office/powerpoint/2010/main" val="33966918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788A69D-793A-4AEA-98CE-36F847F6DD20}"/>
              </a:ext>
            </a:extLst>
          </p:cNvPr>
          <p:cNvSpPr/>
          <p:nvPr userDrawn="1"/>
        </p:nvSpPr>
        <p:spPr>
          <a:xfrm>
            <a:off x="170688" y="176784"/>
            <a:ext cx="11826240" cy="6486144"/>
          </a:xfrm>
          <a:prstGeom prst="rect">
            <a:avLst/>
          </a:prstGeom>
          <a:solidFill>
            <a:srgbClr val="A541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38" dirty="0"/>
          </a:p>
        </p:txBody>
      </p:sp>
      <p:sp>
        <p:nvSpPr>
          <p:cNvPr id="16" name="Text Placeholder 15">
            <a:extLst>
              <a:ext uri="{FF2B5EF4-FFF2-40B4-BE49-F238E27FC236}">
                <a16:creationId xmlns:a16="http://schemas.microsoft.com/office/drawing/2014/main" id="{1F5C6F82-0271-4C23-AB3F-337800CB81D1}"/>
              </a:ext>
            </a:extLst>
          </p:cNvPr>
          <p:cNvSpPr>
            <a:spLocks noGrp="1"/>
          </p:cNvSpPr>
          <p:nvPr>
            <p:ph type="body" sz="quarter" idx="11" hasCustomPrompt="1"/>
          </p:nvPr>
        </p:nvSpPr>
        <p:spPr>
          <a:xfrm>
            <a:off x="530352" y="445008"/>
            <a:ext cx="6632448" cy="5833872"/>
          </a:xfrm>
        </p:spPr>
        <p:txBody>
          <a:bodyPr/>
          <a:lstStyle>
            <a:lvl1pPr marL="0" indent="0" algn="l">
              <a:spcBef>
                <a:spcPts val="0"/>
              </a:spcBef>
              <a:buNone/>
              <a:defRPr i="0">
                <a:solidFill>
                  <a:schemeClr val="bg1"/>
                </a:solidFill>
                <a:latin typeface="IBM Plex Sans Condensed Light" panose="020B0406050203000203" pitchFamily="34" charset="0"/>
              </a:defRPr>
            </a:lvl1pPr>
          </a:lstStyle>
          <a:p>
            <a:pPr lvl="0"/>
            <a:r>
              <a:rPr lang="en-US" dirty="0"/>
              <a:t>Duis lacinia </a:t>
            </a:r>
            <a:r>
              <a:rPr lang="en-US" dirty="0" err="1"/>
              <a:t>justo</a:t>
            </a:r>
            <a:r>
              <a:rPr lang="en-US" dirty="0"/>
              <a:t> </a:t>
            </a:r>
            <a:r>
              <a:rPr lang="en-US" dirty="0" err="1"/>
              <a:t>venenatis</a:t>
            </a:r>
            <a:r>
              <a:rPr lang="en-US" dirty="0"/>
              <a:t>, </a:t>
            </a:r>
            <a:r>
              <a:rPr lang="en-US" dirty="0" err="1"/>
              <a:t>rhoncus</a:t>
            </a:r>
            <a:r>
              <a:rPr lang="en-US" dirty="0"/>
              <a:t> </a:t>
            </a:r>
            <a:r>
              <a:rPr lang="en-US" dirty="0" err="1"/>
              <a:t>est</a:t>
            </a:r>
            <a:r>
              <a:rPr lang="en-US" dirty="0"/>
              <a:t> a, </a:t>
            </a:r>
            <a:r>
              <a:rPr lang="en-US" dirty="0" err="1"/>
              <a:t>dapibus</a:t>
            </a:r>
            <a:r>
              <a:rPr lang="en-US" dirty="0"/>
              <a:t> diam. Nam </a:t>
            </a:r>
            <a:r>
              <a:rPr lang="en-US" dirty="0" err="1"/>
              <a:t>varius</a:t>
            </a:r>
            <a:r>
              <a:rPr lang="en-US" dirty="0"/>
              <a:t> </a:t>
            </a:r>
            <a:r>
              <a:rPr lang="en-US" dirty="0" err="1"/>
              <a:t>velit</a:t>
            </a:r>
            <a:r>
              <a:rPr lang="en-US" dirty="0"/>
              <a:t> in </a:t>
            </a:r>
            <a:r>
              <a:rPr lang="en-US" dirty="0" err="1"/>
              <a:t>ullamcorper</a:t>
            </a:r>
            <a:r>
              <a:rPr lang="en-US" dirty="0"/>
              <a:t> </a:t>
            </a:r>
            <a:r>
              <a:rPr lang="en-US" dirty="0" err="1"/>
              <a:t>lobortis</a:t>
            </a:r>
            <a:r>
              <a:rPr lang="en-US" dirty="0"/>
              <a:t>. Proin </a:t>
            </a:r>
            <a:r>
              <a:rPr lang="en-US" dirty="0" err="1"/>
              <a:t>ornare</a:t>
            </a:r>
            <a:r>
              <a:rPr lang="en-US" dirty="0"/>
              <a:t> </a:t>
            </a:r>
            <a:r>
              <a:rPr lang="en-US" dirty="0" err="1"/>
              <a:t>lobortis</a:t>
            </a:r>
            <a:r>
              <a:rPr lang="en-US" dirty="0"/>
              <a:t> </a:t>
            </a:r>
            <a:r>
              <a:rPr lang="en-US" dirty="0" err="1"/>
              <a:t>egestas</a:t>
            </a:r>
            <a:r>
              <a:rPr lang="en-US" dirty="0"/>
              <a:t>. </a:t>
            </a:r>
          </a:p>
        </p:txBody>
      </p:sp>
      <p:sp>
        <p:nvSpPr>
          <p:cNvPr id="3" name="Picture Placeholder 2">
            <a:extLst>
              <a:ext uri="{FF2B5EF4-FFF2-40B4-BE49-F238E27FC236}">
                <a16:creationId xmlns:a16="http://schemas.microsoft.com/office/drawing/2014/main" id="{EA06CFFB-CD36-40A1-B32A-BDF9CEECF0E7}"/>
              </a:ext>
            </a:extLst>
          </p:cNvPr>
          <p:cNvSpPr>
            <a:spLocks noGrp="1"/>
          </p:cNvSpPr>
          <p:nvPr>
            <p:ph type="pic" sz="quarter" idx="10"/>
          </p:nvPr>
        </p:nvSpPr>
        <p:spPr>
          <a:xfrm>
            <a:off x="7613904" y="445008"/>
            <a:ext cx="4114800" cy="4181856"/>
          </a:xfrm>
        </p:spPr>
        <p:txBody>
          <a:bodyPr/>
          <a:lstStyle/>
          <a:p>
            <a:endParaRPr lang="en-US" dirty="0"/>
          </a:p>
        </p:txBody>
      </p:sp>
    </p:spTree>
    <p:extLst>
      <p:ext uri="{BB962C8B-B14F-4D97-AF65-F5344CB8AC3E}">
        <p14:creationId xmlns:p14="http://schemas.microsoft.com/office/powerpoint/2010/main" val="10968642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A06CFFB-CD36-40A1-B32A-BDF9CEECF0E7}"/>
              </a:ext>
            </a:extLst>
          </p:cNvPr>
          <p:cNvSpPr>
            <a:spLocks noGrp="1"/>
          </p:cNvSpPr>
          <p:nvPr>
            <p:ph type="pic" sz="quarter" idx="10"/>
          </p:nvPr>
        </p:nvSpPr>
        <p:spPr>
          <a:xfrm>
            <a:off x="0" y="187569"/>
            <a:ext cx="12192000" cy="6858000"/>
          </a:xfrm>
        </p:spPr>
        <p:txBody>
          <a:bodyPr/>
          <a:lstStyle/>
          <a:p>
            <a:endParaRPr lang="en-US" dirty="0"/>
          </a:p>
        </p:txBody>
      </p:sp>
      <p:sp>
        <p:nvSpPr>
          <p:cNvPr id="7" name="Rectangle 6">
            <a:extLst>
              <a:ext uri="{FF2B5EF4-FFF2-40B4-BE49-F238E27FC236}">
                <a16:creationId xmlns:a16="http://schemas.microsoft.com/office/drawing/2014/main" id="{2788A69D-793A-4AEA-98CE-36F847F6DD20}"/>
              </a:ext>
            </a:extLst>
          </p:cNvPr>
          <p:cNvSpPr/>
          <p:nvPr userDrawn="1"/>
        </p:nvSpPr>
        <p:spPr>
          <a:xfrm>
            <a:off x="7136637" y="1739160"/>
            <a:ext cx="4784035" cy="4931271"/>
          </a:xfrm>
          <a:prstGeom prst="rect">
            <a:avLst/>
          </a:prstGeom>
          <a:solidFill>
            <a:srgbClr val="A541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38" dirty="0"/>
          </a:p>
        </p:txBody>
      </p:sp>
      <p:sp>
        <p:nvSpPr>
          <p:cNvPr id="16" name="Text Placeholder 15">
            <a:extLst>
              <a:ext uri="{FF2B5EF4-FFF2-40B4-BE49-F238E27FC236}">
                <a16:creationId xmlns:a16="http://schemas.microsoft.com/office/drawing/2014/main" id="{1F5C6F82-0271-4C23-AB3F-337800CB81D1}"/>
              </a:ext>
            </a:extLst>
          </p:cNvPr>
          <p:cNvSpPr>
            <a:spLocks noGrp="1"/>
          </p:cNvSpPr>
          <p:nvPr>
            <p:ph type="body" sz="quarter" idx="11" hasCustomPrompt="1"/>
          </p:nvPr>
        </p:nvSpPr>
        <p:spPr>
          <a:xfrm>
            <a:off x="7351268" y="2877430"/>
            <a:ext cx="4328160" cy="1479550"/>
          </a:xfrm>
        </p:spPr>
        <p:txBody>
          <a:bodyPr/>
          <a:lstStyle>
            <a:lvl1pPr marL="0" indent="0" algn="l">
              <a:spcBef>
                <a:spcPts val="0"/>
              </a:spcBef>
              <a:buNone/>
              <a:defRPr i="1">
                <a:solidFill>
                  <a:schemeClr val="bg1"/>
                </a:solidFill>
                <a:latin typeface="IBM Plex Sans Condensed Light" panose="020B0406050203000203" pitchFamily="34" charset="0"/>
              </a:defRPr>
            </a:lvl1pPr>
          </a:lstStyle>
          <a:p>
            <a:pPr lvl="0"/>
            <a:r>
              <a:rPr lang="en-US" dirty="0"/>
              <a:t>Duis lacinia </a:t>
            </a:r>
            <a:r>
              <a:rPr lang="en-US" dirty="0" err="1"/>
              <a:t>justo</a:t>
            </a:r>
            <a:r>
              <a:rPr lang="en-US" dirty="0"/>
              <a:t> </a:t>
            </a:r>
            <a:r>
              <a:rPr lang="en-US" dirty="0" err="1"/>
              <a:t>venenatis</a:t>
            </a:r>
            <a:r>
              <a:rPr lang="en-US" dirty="0"/>
              <a:t>, </a:t>
            </a:r>
            <a:r>
              <a:rPr lang="en-US" dirty="0" err="1"/>
              <a:t>rhoncus</a:t>
            </a:r>
            <a:r>
              <a:rPr lang="en-US" dirty="0"/>
              <a:t> </a:t>
            </a:r>
            <a:r>
              <a:rPr lang="en-US" dirty="0" err="1"/>
              <a:t>est</a:t>
            </a:r>
            <a:r>
              <a:rPr lang="en-US" dirty="0"/>
              <a:t> a, </a:t>
            </a:r>
            <a:r>
              <a:rPr lang="en-US" dirty="0" err="1"/>
              <a:t>dapibus</a:t>
            </a:r>
            <a:r>
              <a:rPr lang="en-US" dirty="0"/>
              <a:t> diam. Nam </a:t>
            </a:r>
            <a:r>
              <a:rPr lang="en-US" dirty="0" err="1"/>
              <a:t>varius</a:t>
            </a:r>
            <a:r>
              <a:rPr lang="en-US" dirty="0"/>
              <a:t> </a:t>
            </a:r>
            <a:r>
              <a:rPr lang="en-US" dirty="0" err="1"/>
              <a:t>velit</a:t>
            </a:r>
            <a:r>
              <a:rPr lang="en-US" dirty="0"/>
              <a:t> in </a:t>
            </a:r>
            <a:r>
              <a:rPr lang="en-US" dirty="0" err="1"/>
              <a:t>ullamcorper</a:t>
            </a:r>
            <a:r>
              <a:rPr lang="en-US" dirty="0"/>
              <a:t> </a:t>
            </a:r>
            <a:r>
              <a:rPr lang="en-US" dirty="0" err="1"/>
              <a:t>lobortis</a:t>
            </a:r>
            <a:r>
              <a:rPr lang="en-US" dirty="0"/>
              <a:t>. Proin </a:t>
            </a:r>
            <a:r>
              <a:rPr lang="en-US" dirty="0" err="1"/>
              <a:t>ornare</a:t>
            </a:r>
            <a:r>
              <a:rPr lang="en-US" dirty="0"/>
              <a:t> </a:t>
            </a:r>
            <a:r>
              <a:rPr lang="en-US" dirty="0" err="1"/>
              <a:t>lobortis</a:t>
            </a:r>
            <a:r>
              <a:rPr lang="en-US" dirty="0"/>
              <a:t> </a:t>
            </a:r>
            <a:r>
              <a:rPr lang="en-US" dirty="0" err="1"/>
              <a:t>egestas</a:t>
            </a:r>
            <a:r>
              <a:rPr lang="en-US" dirty="0"/>
              <a:t>. </a:t>
            </a:r>
          </a:p>
        </p:txBody>
      </p:sp>
      <p:sp>
        <p:nvSpPr>
          <p:cNvPr id="17" name="Text Placeholder 15">
            <a:extLst>
              <a:ext uri="{FF2B5EF4-FFF2-40B4-BE49-F238E27FC236}">
                <a16:creationId xmlns:a16="http://schemas.microsoft.com/office/drawing/2014/main" id="{65B02940-EF80-4D7B-A478-9B4F535D5A53}"/>
              </a:ext>
            </a:extLst>
          </p:cNvPr>
          <p:cNvSpPr>
            <a:spLocks noGrp="1"/>
          </p:cNvSpPr>
          <p:nvPr>
            <p:ph type="body" sz="quarter" idx="12" hasCustomPrompt="1"/>
          </p:nvPr>
        </p:nvSpPr>
        <p:spPr>
          <a:xfrm>
            <a:off x="7351268" y="2182104"/>
            <a:ext cx="4328160" cy="415711"/>
          </a:xfrm>
        </p:spPr>
        <p:txBody>
          <a:bodyPr/>
          <a:lstStyle>
            <a:lvl1pPr marL="0" indent="0" algn="ctr">
              <a:spcBef>
                <a:spcPts val="0"/>
              </a:spcBef>
              <a:buNone/>
              <a:defRPr i="0">
                <a:solidFill>
                  <a:schemeClr val="bg1"/>
                </a:solidFill>
                <a:latin typeface="IBM Plex Sans Condensed" panose="020B0506050203000203" pitchFamily="34" charset="0"/>
              </a:defRPr>
            </a:lvl1pPr>
          </a:lstStyle>
          <a:p>
            <a:pPr lvl="0"/>
            <a:r>
              <a:rPr lang="en-US" dirty="0"/>
              <a:t>DUIS LACINIA JUSTO VENENATIS</a:t>
            </a:r>
          </a:p>
        </p:txBody>
      </p:sp>
      <p:grpSp>
        <p:nvGrpSpPr>
          <p:cNvPr id="18" name="Group 17">
            <a:extLst>
              <a:ext uri="{FF2B5EF4-FFF2-40B4-BE49-F238E27FC236}">
                <a16:creationId xmlns:a16="http://schemas.microsoft.com/office/drawing/2014/main" id="{90BF0628-E990-4F5D-B7FF-53D0744844BE}"/>
              </a:ext>
            </a:extLst>
          </p:cNvPr>
          <p:cNvGrpSpPr/>
          <p:nvPr userDrawn="1"/>
        </p:nvGrpSpPr>
        <p:grpSpPr>
          <a:xfrm>
            <a:off x="8656927" y="2567528"/>
            <a:ext cx="1089660" cy="65378"/>
            <a:chOff x="3965945" y="1385354"/>
            <a:chExt cx="4572000" cy="79107"/>
          </a:xfrm>
          <a:solidFill>
            <a:schemeClr val="bg1"/>
          </a:solidFill>
        </p:grpSpPr>
        <p:sp>
          <p:nvSpPr>
            <p:cNvPr id="19" name="Rectangle 18">
              <a:extLst>
                <a:ext uri="{FF2B5EF4-FFF2-40B4-BE49-F238E27FC236}">
                  <a16:creationId xmlns:a16="http://schemas.microsoft.com/office/drawing/2014/main" id="{EECFB9A8-8191-489B-AC50-419752283151}"/>
                </a:ext>
              </a:extLst>
            </p:cNvPr>
            <p:cNvSpPr/>
            <p:nvPr/>
          </p:nvSpPr>
          <p:spPr>
            <a:xfrm>
              <a:off x="3965945" y="1385356"/>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p>
          </p:txBody>
        </p:sp>
        <p:sp>
          <p:nvSpPr>
            <p:cNvPr id="20" name="Rectangle 19">
              <a:extLst>
                <a:ext uri="{FF2B5EF4-FFF2-40B4-BE49-F238E27FC236}">
                  <a16:creationId xmlns:a16="http://schemas.microsoft.com/office/drawing/2014/main" id="{39A85C0B-2F31-4919-BE9E-9F25A0CF10B3}"/>
                </a:ext>
              </a:extLst>
            </p:cNvPr>
            <p:cNvSpPr/>
            <p:nvPr/>
          </p:nvSpPr>
          <p:spPr>
            <a:xfrm>
              <a:off x="4880345" y="1385355"/>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p>
          </p:txBody>
        </p:sp>
        <p:sp>
          <p:nvSpPr>
            <p:cNvPr id="21" name="Rectangle 20">
              <a:extLst>
                <a:ext uri="{FF2B5EF4-FFF2-40B4-BE49-F238E27FC236}">
                  <a16:creationId xmlns:a16="http://schemas.microsoft.com/office/drawing/2014/main" id="{36D45A22-0137-40E3-A13D-A2FAEB6786B5}"/>
                </a:ext>
              </a:extLst>
            </p:cNvPr>
            <p:cNvSpPr/>
            <p:nvPr/>
          </p:nvSpPr>
          <p:spPr>
            <a:xfrm>
              <a:off x="5794745" y="1385354"/>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p>
          </p:txBody>
        </p:sp>
        <p:sp>
          <p:nvSpPr>
            <p:cNvPr id="22" name="Rectangle 21">
              <a:extLst>
                <a:ext uri="{FF2B5EF4-FFF2-40B4-BE49-F238E27FC236}">
                  <a16:creationId xmlns:a16="http://schemas.microsoft.com/office/drawing/2014/main" id="{0929712D-45C0-4758-89C4-282EC508AF9E}"/>
                </a:ext>
              </a:extLst>
            </p:cNvPr>
            <p:cNvSpPr/>
            <p:nvPr/>
          </p:nvSpPr>
          <p:spPr>
            <a:xfrm>
              <a:off x="6709145" y="1385354"/>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p>
          </p:txBody>
        </p:sp>
        <p:sp>
          <p:nvSpPr>
            <p:cNvPr id="23" name="Rectangle 22">
              <a:extLst>
                <a:ext uri="{FF2B5EF4-FFF2-40B4-BE49-F238E27FC236}">
                  <a16:creationId xmlns:a16="http://schemas.microsoft.com/office/drawing/2014/main" id="{E47E8191-9FA8-4F3C-8D34-D76133FE9266}"/>
                </a:ext>
              </a:extLst>
            </p:cNvPr>
            <p:cNvSpPr/>
            <p:nvPr/>
          </p:nvSpPr>
          <p:spPr>
            <a:xfrm>
              <a:off x="7623545" y="1385354"/>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p>
          </p:txBody>
        </p:sp>
      </p:grpSp>
    </p:spTree>
    <p:extLst>
      <p:ext uri="{BB962C8B-B14F-4D97-AF65-F5344CB8AC3E}">
        <p14:creationId xmlns:p14="http://schemas.microsoft.com/office/powerpoint/2010/main" val="3398574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Blan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788A69D-793A-4AEA-98CE-36F847F6DD20}"/>
              </a:ext>
            </a:extLst>
          </p:cNvPr>
          <p:cNvSpPr/>
          <p:nvPr userDrawn="1"/>
        </p:nvSpPr>
        <p:spPr>
          <a:xfrm>
            <a:off x="170688" y="176784"/>
            <a:ext cx="11826240" cy="6486144"/>
          </a:xfrm>
          <a:prstGeom prst="rect">
            <a:avLst/>
          </a:prstGeom>
          <a:solidFill>
            <a:srgbClr val="66CB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38" dirty="0"/>
          </a:p>
        </p:txBody>
      </p:sp>
      <p:sp>
        <p:nvSpPr>
          <p:cNvPr id="16" name="Text Placeholder 15">
            <a:extLst>
              <a:ext uri="{FF2B5EF4-FFF2-40B4-BE49-F238E27FC236}">
                <a16:creationId xmlns:a16="http://schemas.microsoft.com/office/drawing/2014/main" id="{1F5C6F82-0271-4C23-AB3F-337800CB81D1}"/>
              </a:ext>
            </a:extLst>
          </p:cNvPr>
          <p:cNvSpPr>
            <a:spLocks noGrp="1"/>
          </p:cNvSpPr>
          <p:nvPr>
            <p:ph type="body" sz="quarter" idx="11" hasCustomPrompt="1"/>
          </p:nvPr>
        </p:nvSpPr>
        <p:spPr>
          <a:xfrm>
            <a:off x="530352" y="445008"/>
            <a:ext cx="6632448" cy="5833872"/>
          </a:xfrm>
        </p:spPr>
        <p:txBody>
          <a:bodyPr/>
          <a:lstStyle>
            <a:lvl1pPr marL="0" indent="0" algn="l">
              <a:spcBef>
                <a:spcPts val="0"/>
              </a:spcBef>
              <a:buNone/>
              <a:defRPr i="0">
                <a:solidFill>
                  <a:schemeClr val="bg1"/>
                </a:solidFill>
                <a:latin typeface="IBM Plex Sans Condensed Light" panose="020B0406050203000203" pitchFamily="34" charset="0"/>
              </a:defRPr>
            </a:lvl1pPr>
          </a:lstStyle>
          <a:p>
            <a:pPr lvl="0"/>
            <a:r>
              <a:rPr lang="en-US" dirty="0"/>
              <a:t>Duis lacinia </a:t>
            </a:r>
            <a:r>
              <a:rPr lang="en-US" dirty="0" err="1"/>
              <a:t>justo</a:t>
            </a:r>
            <a:r>
              <a:rPr lang="en-US" dirty="0"/>
              <a:t> </a:t>
            </a:r>
            <a:r>
              <a:rPr lang="en-US" dirty="0" err="1"/>
              <a:t>venenatis</a:t>
            </a:r>
            <a:r>
              <a:rPr lang="en-US" dirty="0"/>
              <a:t>, </a:t>
            </a:r>
            <a:r>
              <a:rPr lang="en-US" dirty="0" err="1"/>
              <a:t>rhoncus</a:t>
            </a:r>
            <a:r>
              <a:rPr lang="en-US" dirty="0"/>
              <a:t> </a:t>
            </a:r>
            <a:r>
              <a:rPr lang="en-US" dirty="0" err="1"/>
              <a:t>est</a:t>
            </a:r>
            <a:r>
              <a:rPr lang="en-US" dirty="0"/>
              <a:t> a, </a:t>
            </a:r>
            <a:r>
              <a:rPr lang="en-US" dirty="0" err="1"/>
              <a:t>dapibus</a:t>
            </a:r>
            <a:r>
              <a:rPr lang="en-US" dirty="0"/>
              <a:t> diam. Nam </a:t>
            </a:r>
            <a:r>
              <a:rPr lang="en-US" dirty="0" err="1"/>
              <a:t>varius</a:t>
            </a:r>
            <a:r>
              <a:rPr lang="en-US" dirty="0"/>
              <a:t> </a:t>
            </a:r>
            <a:r>
              <a:rPr lang="en-US" dirty="0" err="1"/>
              <a:t>velit</a:t>
            </a:r>
            <a:r>
              <a:rPr lang="en-US" dirty="0"/>
              <a:t> in </a:t>
            </a:r>
            <a:r>
              <a:rPr lang="en-US" dirty="0" err="1"/>
              <a:t>ullamcorper</a:t>
            </a:r>
            <a:r>
              <a:rPr lang="en-US" dirty="0"/>
              <a:t> </a:t>
            </a:r>
            <a:r>
              <a:rPr lang="en-US" dirty="0" err="1"/>
              <a:t>lobortis</a:t>
            </a:r>
            <a:r>
              <a:rPr lang="en-US" dirty="0"/>
              <a:t>. Proin </a:t>
            </a:r>
            <a:r>
              <a:rPr lang="en-US" dirty="0" err="1"/>
              <a:t>ornare</a:t>
            </a:r>
            <a:r>
              <a:rPr lang="en-US" dirty="0"/>
              <a:t> </a:t>
            </a:r>
            <a:r>
              <a:rPr lang="en-US" dirty="0" err="1"/>
              <a:t>lobortis</a:t>
            </a:r>
            <a:r>
              <a:rPr lang="en-US" dirty="0"/>
              <a:t> </a:t>
            </a:r>
            <a:r>
              <a:rPr lang="en-US" dirty="0" err="1"/>
              <a:t>egestas</a:t>
            </a:r>
            <a:r>
              <a:rPr lang="en-US" dirty="0"/>
              <a:t>. </a:t>
            </a:r>
          </a:p>
        </p:txBody>
      </p:sp>
      <p:sp>
        <p:nvSpPr>
          <p:cNvPr id="3" name="Picture Placeholder 2">
            <a:extLst>
              <a:ext uri="{FF2B5EF4-FFF2-40B4-BE49-F238E27FC236}">
                <a16:creationId xmlns:a16="http://schemas.microsoft.com/office/drawing/2014/main" id="{EA06CFFB-CD36-40A1-B32A-BDF9CEECF0E7}"/>
              </a:ext>
            </a:extLst>
          </p:cNvPr>
          <p:cNvSpPr>
            <a:spLocks noGrp="1"/>
          </p:cNvSpPr>
          <p:nvPr>
            <p:ph type="pic" sz="quarter" idx="10"/>
          </p:nvPr>
        </p:nvSpPr>
        <p:spPr>
          <a:xfrm>
            <a:off x="7613904" y="445008"/>
            <a:ext cx="4114800" cy="4181856"/>
          </a:xfrm>
        </p:spPr>
        <p:txBody>
          <a:bodyPr/>
          <a:lstStyle/>
          <a:p>
            <a:endParaRPr lang="en-US" dirty="0"/>
          </a:p>
        </p:txBody>
      </p:sp>
    </p:spTree>
    <p:extLst>
      <p:ext uri="{BB962C8B-B14F-4D97-AF65-F5344CB8AC3E}">
        <p14:creationId xmlns:p14="http://schemas.microsoft.com/office/powerpoint/2010/main" val="17343623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A06CFFB-CD36-40A1-B32A-BDF9CEECF0E7}"/>
              </a:ext>
            </a:extLst>
          </p:cNvPr>
          <p:cNvSpPr>
            <a:spLocks noGrp="1"/>
          </p:cNvSpPr>
          <p:nvPr>
            <p:ph type="pic" sz="quarter" idx="10"/>
          </p:nvPr>
        </p:nvSpPr>
        <p:spPr>
          <a:xfrm>
            <a:off x="0" y="187569"/>
            <a:ext cx="12192000" cy="6858000"/>
          </a:xfrm>
        </p:spPr>
        <p:txBody>
          <a:bodyPr/>
          <a:lstStyle/>
          <a:p>
            <a:endParaRPr lang="en-US" dirty="0"/>
          </a:p>
        </p:txBody>
      </p:sp>
      <p:sp>
        <p:nvSpPr>
          <p:cNvPr id="7" name="Rectangle 6">
            <a:extLst>
              <a:ext uri="{FF2B5EF4-FFF2-40B4-BE49-F238E27FC236}">
                <a16:creationId xmlns:a16="http://schemas.microsoft.com/office/drawing/2014/main" id="{2788A69D-793A-4AEA-98CE-36F847F6DD20}"/>
              </a:ext>
            </a:extLst>
          </p:cNvPr>
          <p:cNvSpPr/>
          <p:nvPr userDrawn="1"/>
        </p:nvSpPr>
        <p:spPr>
          <a:xfrm>
            <a:off x="7136637" y="1739160"/>
            <a:ext cx="4784035" cy="4931271"/>
          </a:xfrm>
          <a:prstGeom prst="rect">
            <a:avLst/>
          </a:prstGeom>
          <a:solidFill>
            <a:srgbClr val="66CB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38" dirty="0"/>
          </a:p>
        </p:txBody>
      </p:sp>
      <p:sp>
        <p:nvSpPr>
          <p:cNvPr id="16" name="Text Placeholder 15">
            <a:extLst>
              <a:ext uri="{FF2B5EF4-FFF2-40B4-BE49-F238E27FC236}">
                <a16:creationId xmlns:a16="http://schemas.microsoft.com/office/drawing/2014/main" id="{1F5C6F82-0271-4C23-AB3F-337800CB81D1}"/>
              </a:ext>
            </a:extLst>
          </p:cNvPr>
          <p:cNvSpPr>
            <a:spLocks noGrp="1"/>
          </p:cNvSpPr>
          <p:nvPr>
            <p:ph type="body" sz="quarter" idx="11" hasCustomPrompt="1"/>
          </p:nvPr>
        </p:nvSpPr>
        <p:spPr>
          <a:xfrm>
            <a:off x="7351268" y="2877430"/>
            <a:ext cx="4328160" cy="1479550"/>
          </a:xfrm>
        </p:spPr>
        <p:txBody>
          <a:bodyPr/>
          <a:lstStyle>
            <a:lvl1pPr marL="0" indent="0" algn="l">
              <a:spcBef>
                <a:spcPts val="0"/>
              </a:spcBef>
              <a:buNone/>
              <a:defRPr i="1">
                <a:solidFill>
                  <a:schemeClr val="bg1"/>
                </a:solidFill>
                <a:latin typeface="IBM Plex Sans Condensed Light" panose="020B0406050203000203" pitchFamily="34" charset="0"/>
              </a:defRPr>
            </a:lvl1pPr>
          </a:lstStyle>
          <a:p>
            <a:pPr lvl="0"/>
            <a:r>
              <a:rPr lang="en-US" dirty="0"/>
              <a:t>Duis lacinia </a:t>
            </a:r>
            <a:r>
              <a:rPr lang="en-US" dirty="0" err="1"/>
              <a:t>justo</a:t>
            </a:r>
            <a:r>
              <a:rPr lang="en-US" dirty="0"/>
              <a:t> </a:t>
            </a:r>
            <a:r>
              <a:rPr lang="en-US" dirty="0" err="1"/>
              <a:t>venenatis</a:t>
            </a:r>
            <a:r>
              <a:rPr lang="en-US" dirty="0"/>
              <a:t>, </a:t>
            </a:r>
            <a:r>
              <a:rPr lang="en-US" dirty="0" err="1"/>
              <a:t>rhoncus</a:t>
            </a:r>
            <a:r>
              <a:rPr lang="en-US" dirty="0"/>
              <a:t> </a:t>
            </a:r>
            <a:r>
              <a:rPr lang="en-US" dirty="0" err="1"/>
              <a:t>est</a:t>
            </a:r>
            <a:r>
              <a:rPr lang="en-US" dirty="0"/>
              <a:t> a, </a:t>
            </a:r>
            <a:r>
              <a:rPr lang="en-US" dirty="0" err="1"/>
              <a:t>dapibus</a:t>
            </a:r>
            <a:r>
              <a:rPr lang="en-US" dirty="0"/>
              <a:t> diam. Nam </a:t>
            </a:r>
            <a:r>
              <a:rPr lang="en-US" dirty="0" err="1"/>
              <a:t>varius</a:t>
            </a:r>
            <a:r>
              <a:rPr lang="en-US" dirty="0"/>
              <a:t> </a:t>
            </a:r>
            <a:r>
              <a:rPr lang="en-US" dirty="0" err="1"/>
              <a:t>velit</a:t>
            </a:r>
            <a:r>
              <a:rPr lang="en-US" dirty="0"/>
              <a:t> in </a:t>
            </a:r>
            <a:r>
              <a:rPr lang="en-US" dirty="0" err="1"/>
              <a:t>ullamcorper</a:t>
            </a:r>
            <a:r>
              <a:rPr lang="en-US" dirty="0"/>
              <a:t> </a:t>
            </a:r>
            <a:r>
              <a:rPr lang="en-US" dirty="0" err="1"/>
              <a:t>lobortis</a:t>
            </a:r>
            <a:r>
              <a:rPr lang="en-US" dirty="0"/>
              <a:t>. Proin </a:t>
            </a:r>
            <a:r>
              <a:rPr lang="en-US" dirty="0" err="1"/>
              <a:t>ornare</a:t>
            </a:r>
            <a:r>
              <a:rPr lang="en-US" dirty="0"/>
              <a:t> </a:t>
            </a:r>
            <a:r>
              <a:rPr lang="en-US" dirty="0" err="1"/>
              <a:t>lobortis</a:t>
            </a:r>
            <a:r>
              <a:rPr lang="en-US" dirty="0"/>
              <a:t> </a:t>
            </a:r>
            <a:r>
              <a:rPr lang="en-US" dirty="0" err="1"/>
              <a:t>egestas</a:t>
            </a:r>
            <a:r>
              <a:rPr lang="en-US" dirty="0"/>
              <a:t>. </a:t>
            </a:r>
          </a:p>
        </p:txBody>
      </p:sp>
      <p:sp>
        <p:nvSpPr>
          <p:cNvPr id="17" name="Text Placeholder 15">
            <a:extLst>
              <a:ext uri="{FF2B5EF4-FFF2-40B4-BE49-F238E27FC236}">
                <a16:creationId xmlns:a16="http://schemas.microsoft.com/office/drawing/2014/main" id="{65B02940-EF80-4D7B-A478-9B4F535D5A53}"/>
              </a:ext>
            </a:extLst>
          </p:cNvPr>
          <p:cNvSpPr>
            <a:spLocks noGrp="1"/>
          </p:cNvSpPr>
          <p:nvPr>
            <p:ph type="body" sz="quarter" idx="12" hasCustomPrompt="1"/>
          </p:nvPr>
        </p:nvSpPr>
        <p:spPr>
          <a:xfrm>
            <a:off x="7351268" y="2182104"/>
            <a:ext cx="4328160" cy="415711"/>
          </a:xfrm>
        </p:spPr>
        <p:txBody>
          <a:bodyPr/>
          <a:lstStyle>
            <a:lvl1pPr marL="0" indent="0" algn="ctr">
              <a:spcBef>
                <a:spcPts val="0"/>
              </a:spcBef>
              <a:buNone/>
              <a:defRPr i="0">
                <a:solidFill>
                  <a:schemeClr val="bg1"/>
                </a:solidFill>
                <a:latin typeface="IBM Plex Sans Condensed" panose="020B0506050203000203" pitchFamily="34" charset="0"/>
              </a:defRPr>
            </a:lvl1pPr>
          </a:lstStyle>
          <a:p>
            <a:pPr lvl="0"/>
            <a:r>
              <a:rPr lang="en-US" dirty="0"/>
              <a:t>DUIS LACINIA JUSTO VENENATIS</a:t>
            </a:r>
          </a:p>
        </p:txBody>
      </p:sp>
      <p:grpSp>
        <p:nvGrpSpPr>
          <p:cNvPr id="18" name="Group 17">
            <a:extLst>
              <a:ext uri="{FF2B5EF4-FFF2-40B4-BE49-F238E27FC236}">
                <a16:creationId xmlns:a16="http://schemas.microsoft.com/office/drawing/2014/main" id="{90BF0628-E990-4F5D-B7FF-53D0744844BE}"/>
              </a:ext>
            </a:extLst>
          </p:cNvPr>
          <p:cNvGrpSpPr/>
          <p:nvPr userDrawn="1"/>
        </p:nvGrpSpPr>
        <p:grpSpPr>
          <a:xfrm>
            <a:off x="8656927" y="2567528"/>
            <a:ext cx="1089660" cy="65378"/>
            <a:chOff x="3965945" y="1385354"/>
            <a:chExt cx="4572000" cy="79107"/>
          </a:xfrm>
          <a:solidFill>
            <a:schemeClr val="bg1"/>
          </a:solidFill>
        </p:grpSpPr>
        <p:sp>
          <p:nvSpPr>
            <p:cNvPr id="19" name="Rectangle 18">
              <a:extLst>
                <a:ext uri="{FF2B5EF4-FFF2-40B4-BE49-F238E27FC236}">
                  <a16:creationId xmlns:a16="http://schemas.microsoft.com/office/drawing/2014/main" id="{EECFB9A8-8191-489B-AC50-419752283151}"/>
                </a:ext>
              </a:extLst>
            </p:cNvPr>
            <p:cNvSpPr/>
            <p:nvPr/>
          </p:nvSpPr>
          <p:spPr>
            <a:xfrm>
              <a:off x="3965945" y="1385356"/>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p>
          </p:txBody>
        </p:sp>
        <p:sp>
          <p:nvSpPr>
            <p:cNvPr id="20" name="Rectangle 19">
              <a:extLst>
                <a:ext uri="{FF2B5EF4-FFF2-40B4-BE49-F238E27FC236}">
                  <a16:creationId xmlns:a16="http://schemas.microsoft.com/office/drawing/2014/main" id="{39A85C0B-2F31-4919-BE9E-9F25A0CF10B3}"/>
                </a:ext>
              </a:extLst>
            </p:cNvPr>
            <p:cNvSpPr/>
            <p:nvPr/>
          </p:nvSpPr>
          <p:spPr>
            <a:xfrm>
              <a:off x="4880345" y="1385355"/>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p>
          </p:txBody>
        </p:sp>
        <p:sp>
          <p:nvSpPr>
            <p:cNvPr id="21" name="Rectangle 20">
              <a:extLst>
                <a:ext uri="{FF2B5EF4-FFF2-40B4-BE49-F238E27FC236}">
                  <a16:creationId xmlns:a16="http://schemas.microsoft.com/office/drawing/2014/main" id="{36D45A22-0137-40E3-A13D-A2FAEB6786B5}"/>
                </a:ext>
              </a:extLst>
            </p:cNvPr>
            <p:cNvSpPr/>
            <p:nvPr/>
          </p:nvSpPr>
          <p:spPr>
            <a:xfrm>
              <a:off x="5794745" y="1385354"/>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p>
          </p:txBody>
        </p:sp>
        <p:sp>
          <p:nvSpPr>
            <p:cNvPr id="22" name="Rectangle 21">
              <a:extLst>
                <a:ext uri="{FF2B5EF4-FFF2-40B4-BE49-F238E27FC236}">
                  <a16:creationId xmlns:a16="http://schemas.microsoft.com/office/drawing/2014/main" id="{0929712D-45C0-4758-89C4-282EC508AF9E}"/>
                </a:ext>
              </a:extLst>
            </p:cNvPr>
            <p:cNvSpPr/>
            <p:nvPr/>
          </p:nvSpPr>
          <p:spPr>
            <a:xfrm>
              <a:off x="6709145" y="1385354"/>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p>
          </p:txBody>
        </p:sp>
        <p:sp>
          <p:nvSpPr>
            <p:cNvPr id="23" name="Rectangle 22">
              <a:extLst>
                <a:ext uri="{FF2B5EF4-FFF2-40B4-BE49-F238E27FC236}">
                  <a16:creationId xmlns:a16="http://schemas.microsoft.com/office/drawing/2014/main" id="{E47E8191-9FA8-4F3C-8D34-D76133FE9266}"/>
                </a:ext>
              </a:extLst>
            </p:cNvPr>
            <p:cNvSpPr/>
            <p:nvPr/>
          </p:nvSpPr>
          <p:spPr>
            <a:xfrm>
              <a:off x="7623545" y="1385354"/>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p>
          </p:txBody>
        </p:sp>
      </p:grpSp>
    </p:spTree>
    <p:extLst>
      <p:ext uri="{BB962C8B-B14F-4D97-AF65-F5344CB8AC3E}">
        <p14:creationId xmlns:p14="http://schemas.microsoft.com/office/powerpoint/2010/main" val="4151277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6_Blan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788A69D-793A-4AEA-98CE-36F847F6DD20}"/>
              </a:ext>
            </a:extLst>
          </p:cNvPr>
          <p:cNvSpPr/>
          <p:nvPr userDrawn="1"/>
        </p:nvSpPr>
        <p:spPr>
          <a:xfrm>
            <a:off x="170688" y="176784"/>
            <a:ext cx="11826240" cy="6486144"/>
          </a:xfrm>
          <a:prstGeom prst="rect">
            <a:avLst/>
          </a:prstGeom>
          <a:solidFill>
            <a:srgbClr val="0056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38" dirty="0"/>
          </a:p>
        </p:txBody>
      </p:sp>
      <p:sp>
        <p:nvSpPr>
          <p:cNvPr id="16" name="Text Placeholder 15">
            <a:extLst>
              <a:ext uri="{FF2B5EF4-FFF2-40B4-BE49-F238E27FC236}">
                <a16:creationId xmlns:a16="http://schemas.microsoft.com/office/drawing/2014/main" id="{1F5C6F82-0271-4C23-AB3F-337800CB81D1}"/>
              </a:ext>
            </a:extLst>
          </p:cNvPr>
          <p:cNvSpPr>
            <a:spLocks noGrp="1"/>
          </p:cNvSpPr>
          <p:nvPr>
            <p:ph type="body" sz="quarter" idx="11" hasCustomPrompt="1"/>
          </p:nvPr>
        </p:nvSpPr>
        <p:spPr>
          <a:xfrm>
            <a:off x="530352" y="445008"/>
            <a:ext cx="6632448" cy="5833872"/>
          </a:xfrm>
        </p:spPr>
        <p:txBody>
          <a:bodyPr/>
          <a:lstStyle>
            <a:lvl1pPr marL="0" indent="0" algn="l">
              <a:spcBef>
                <a:spcPts val="0"/>
              </a:spcBef>
              <a:buNone/>
              <a:defRPr i="0">
                <a:solidFill>
                  <a:schemeClr val="bg1"/>
                </a:solidFill>
                <a:latin typeface="IBM Plex Sans Condensed Light" panose="020B0406050203000203" pitchFamily="34" charset="0"/>
              </a:defRPr>
            </a:lvl1pPr>
          </a:lstStyle>
          <a:p>
            <a:pPr lvl="0"/>
            <a:r>
              <a:rPr lang="en-US" dirty="0"/>
              <a:t>Duis lacinia </a:t>
            </a:r>
            <a:r>
              <a:rPr lang="en-US" dirty="0" err="1"/>
              <a:t>justo</a:t>
            </a:r>
            <a:r>
              <a:rPr lang="en-US" dirty="0"/>
              <a:t> </a:t>
            </a:r>
            <a:r>
              <a:rPr lang="en-US" dirty="0" err="1"/>
              <a:t>venenatis</a:t>
            </a:r>
            <a:r>
              <a:rPr lang="en-US" dirty="0"/>
              <a:t>, </a:t>
            </a:r>
            <a:r>
              <a:rPr lang="en-US" dirty="0" err="1"/>
              <a:t>rhoncus</a:t>
            </a:r>
            <a:r>
              <a:rPr lang="en-US" dirty="0"/>
              <a:t> </a:t>
            </a:r>
            <a:r>
              <a:rPr lang="en-US" dirty="0" err="1"/>
              <a:t>est</a:t>
            </a:r>
            <a:r>
              <a:rPr lang="en-US" dirty="0"/>
              <a:t> a, </a:t>
            </a:r>
            <a:r>
              <a:rPr lang="en-US" dirty="0" err="1"/>
              <a:t>dapibus</a:t>
            </a:r>
            <a:r>
              <a:rPr lang="en-US" dirty="0"/>
              <a:t> diam. Nam </a:t>
            </a:r>
            <a:r>
              <a:rPr lang="en-US" dirty="0" err="1"/>
              <a:t>varius</a:t>
            </a:r>
            <a:r>
              <a:rPr lang="en-US" dirty="0"/>
              <a:t> </a:t>
            </a:r>
            <a:r>
              <a:rPr lang="en-US" dirty="0" err="1"/>
              <a:t>velit</a:t>
            </a:r>
            <a:r>
              <a:rPr lang="en-US" dirty="0"/>
              <a:t> in </a:t>
            </a:r>
            <a:r>
              <a:rPr lang="en-US" dirty="0" err="1"/>
              <a:t>ullamcorper</a:t>
            </a:r>
            <a:r>
              <a:rPr lang="en-US" dirty="0"/>
              <a:t> </a:t>
            </a:r>
            <a:r>
              <a:rPr lang="en-US" dirty="0" err="1"/>
              <a:t>lobortis</a:t>
            </a:r>
            <a:r>
              <a:rPr lang="en-US" dirty="0"/>
              <a:t>. Proin </a:t>
            </a:r>
            <a:r>
              <a:rPr lang="en-US" dirty="0" err="1"/>
              <a:t>ornare</a:t>
            </a:r>
            <a:r>
              <a:rPr lang="en-US" dirty="0"/>
              <a:t> </a:t>
            </a:r>
            <a:r>
              <a:rPr lang="en-US" dirty="0" err="1"/>
              <a:t>lobortis</a:t>
            </a:r>
            <a:r>
              <a:rPr lang="en-US" dirty="0"/>
              <a:t> </a:t>
            </a:r>
            <a:r>
              <a:rPr lang="en-US" dirty="0" err="1"/>
              <a:t>egestas</a:t>
            </a:r>
            <a:r>
              <a:rPr lang="en-US" dirty="0"/>
              <a:t>. </a:t>
            </a:r>
          </a:p>
        </p:txBody>
      </p:sp>
      <p:sp>
        <p:nvSpPr>
          <p:cNvPr id="3" name="Picture Placeholder 2">
            <a:extLst>
              <a:ext uri="{FF2B5EF4-FFF2-40B4-BE49-F238E27FC236}">
                <a16:creationId xmlns:a16="http://schemas.microsoft.com/office/drawing/2014/main" id="{EA06CFFB-CD36-40A1-B32A-BDF9CEECF0E7}"/>
              </a:ext>
            </a:extLst>
          </p:cNvPr>
          <p:cNvSpPr>
            <a:spLocks noGrp="1"/>
          </p:cNvSpPr>
          <p:nvPr>
            <p:ph type="pic" sz="quarter" idx="10"/>
          </p:nvPr>
        </p:nvSpPr>
        <p:spPr>
          <a:xfrm>
            <a:off x="7613904" y="445008"/>
            <a:ext cx="4114800" cy="4181856"/>
          </a:xfrm>
        </p:spPr>
        <p:txBody>
          <a:bodyPr/>
          <a:lstStyle/>
          <a:p>
            <a:endParaRPr lang="en-US" dirty="0"/>
          </a:p>
        </p:txBody>
      </p:sp>
    </p:spTree>
    <p:extLst>
      <p:ext uri="{BB962C8B-B14F-4D97-AF65-F5344CB8AC3E}">
        <p14:creationId xmlns:p14="http://schemas.microsoft.com/office/powerpoint/2010/main" val="13580878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7_Blank">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A06CFFB-CD36-40A1-B32A-BDF9CEECF0E7}"/>
              </a:ext>
            </a:extLst>
          </p:cNvPr>
          <p:cNvSpPr>
            <a:spLocks noGrp="1"/>
          </p:cNvSpPr>
          <p:nvPr>
            <p:ph type="pic" sz="quarter" idx="10"/>
          </p:nvPr>
        </p:nvSpPr>
        <p:spPr>
          <a:xfrm>
            <a:off x="0" y="187569"/>
            <a:ext cx="12192000" cy="6858000"/>
          </a:xfrm>
        </p:spPr>
        <p:txBody>
          <a:bodyPr/>
          <a:lstStyle/>
          <a:p>
            <a:endParaRPr lang="en-US" dirty="0"/>
          </a:p>
        </p:txBody>
      </p:sp>
      <p:sp>
        <p:nvSpPr>
          <p:cNvPr id="7" name="Rectangle 6">
            <a:extLst>
              <a:ext uri="{FF2B5EF4-FFF2-40B4-BE49-F238E27FC236}">
                <a16:creationId xmlns:a16="http://schemas.microsoft.com/office/drawing/2014/main" id="{2788A69D-793A-4AEA-98CE-36F847F6DD20}"/>
              </a:ext>
            </a:extLst>
          </p:cNvPr>
          <p:cNvSpPr/>
          <p:nvPr userDrawn="1"/>
        </p:nvSpPr>
        <p:spPr>
          <a:xfrm>
            <a:off x="7136637" y="1739160"/>
            <a:ext cx="4784035" cy="4931271"/>
          </a:xfrm>
          <a:prstGeom prst="rect">
            <a:avLst/>
          </a:prstGeom>
          <a:solidFill>
            <a:srgbClr val="0056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638" dirty="0"/>
          </a:p>
        </p:txBody>
      </p:sp>
      <p:sp>
        <p:nvSpPr>
          <p:cNvPr id="16" name="Text Placeholder 15">
            <a:extLst>
              <a:ext uri="{FF2B5EF4-FFF2-40B4-BE49-F238E27FC236}">
                <a16:creationId xmlns:a16="http://schemas.microsoft.com/office/drawing/2014/main" id="{1F5C6F82-0271-4C23-AB3F-337800CB81D1}"/>
              </a:ext>
            </a:extLst>
          </p:cNvPr>
          <p:cNvSpPr>
            <a:spLocks noGrp="1"/>
          </p:cNvSpPr>
          <p:nvPr>
            <p:ph type="body" sz="quarter" idx="11" hasCustomPrompt="1"/>
          </p:nvPr>
        </p:nvSpPr>
        <p:spPr>
          <a:xfrm>
            <a:off x="7351268" y="2877430"/>
            <a:ext cx="4328160" cy="1479550"/>
          </a:xfrm>
        </p:spPr>
        <p:txBody>
          <a:bodyPr/>
          <a:lstStyle>
            <a:lvl1pPr marL="0" indent="0" algn="l">
              <a:spcBef>
                <a:spcPts val="0"/>
              </a:spcBef>
              <a:buNone/>
              <a:defRPr i="1">
                <a:solidFill>
                  <a:schemeClr val="bg1"/>
                </a:solidFill>
                <a:latin typeface="IBM Plex Sans Condensed Light" panose="020B0406050203000203" pitchFamily="34" charset="0"/>
              </a:defRPr>
            </a:lvl1pPr>
          </a:lstStyle>
          <a:p>
            <a:pPr lvl="0"/>
            <a:r>
              <a:rPr lang="en-US" dirty="0"/>
              <a:t>Duis lacinia </a:t>
            </a:r>
            <a:r>
              <a:rPr lang="en-US" dirty="0" err="1"/>
              <a:t>justo</a:t>
            </a:r>
            <a:r>
              <a:rPr lang="en-US" dirty="0"/>
              <a:t> </a:t>
            </a:r>
            <a:r>
              <a:rPr lang="en-US" dirty="0" err="1"/>
              <a:t>venenatis</a:t>
            </a:r>
            <a:r>
              <a:rPr lang="en-US" dirty="0"/>
              <a:t>, </a:t>
            </a:r>
            <a:r>
              <a:rPr lang="en-US" dirty="0" err="1"/>
              <a:t>rhoncus</a:t>
            </a:r>
            <a:r>
              <a:rPr lang="en-US" dirty="0"/>
              <a:t> </a:t>
            </a:r>
            <a:r>
              <a:rPr lang="en-US" dirty="0" err="1"/>
              <a:t>est</a:t>
            </a:r>
            <a:r>
              <a:rPr lang="en-US" dirty="0"/>
              <a:t> a, </a:t>
            </a:r>
            <a:r>
              <a:rPr lang="en-US" dirty="0" err="1"/>
              <a:t>dapibus</a:t>
            </a:r>
            <a:r>
              <a:rPr lang="en-US" dirty="0"/>
              <a:t> diam. Nam </a:t>
            </a:r>
            <a:r>
              <a:rPr lang="en-US" dirty="0" err="1"/>
              <a:t>varius</a:t>
            </a:r>
            <a:r>
              <a:rPr lang="en-US" dirty="0"/>
              <a:t> </a:t>
            </a:r>
            <a:r>
              <a:rPr lang="en-US" dirty="0" err="1"/>
              <a:t>velit</a:t>
            </a:r>
            <a:r>
              <a:rPr lang="en-US" dirty="0"/>
              <a:t> in </a:t>
            </a:r>
            <a:r>
              <a:rPr lang="en-US" dirty="0" err="1"/>
              <a:t>ullamcorper</a:t>
            </a:r>
            <a:r>
              <a:rPr lang="en-US" dirty="0"/>
              <a:t> </a:t>
            </a:r>
            <a:r>
              <a:rPr lang="en-US" dirty="0" err="1"/>
              <a:t>lobortis</a:t>
            </a:r>
            <a:r>
              <a:rPr lang="en-US" dirty="0"/>
              <a:t>. Proin </a:t>
            </a:r>
            <a:r>
              <a:rPr lang="en-US" dirty="0" err="1"/>
              <a:t>ornare</a:t>
            </a:r>
            <a:r>
              <a:rPr lang="en-US" dirty="0"/>
              <a:t> </a:t>
            </a:r>
            <a:r>
              <a:rPr lang="en-US" dirty="0" err="1"/>
              <a:t>lobortis</a:t>
            </a:r>
            <a:r>
              <a:rPr lang="en-US" dirty="0"/>
              <a:t> </a:t>
            </a:r>
            <a:r>
              <a:rPr lang="en-US" dirty="0" err="1"/>
              <a:t>egestas</a:t>
            </a:r>
            <a:r>
              <a:rPr lang="en-US" dirty="0"/>
              <a:t>. </a:t>
            </a:r>
          </a:p>
        </p:txBody>
      </p:sp>
      <p:sp>
        <p:nvSpPr>
          <p:cNvPr id="17" name="Text Placeholder 15">
            <a:extLst>
              <a:ext uri="{FF2B5EF4-FFF2-40B4-BE49-F238E27FC236}">
                <a16:creationId xmlns:a16="http://schemas.microsoft.com/office/drawing/2014/main" id="{65B02940-EF80-4D7B-A478-9B4F535D5A53}"/>
              </a:ext>
            </a:extLst>
          </p:cNvPr>
          <p:cNvSpPr>
            <a:spLocks noGrp="1"/>
          </p:cNvSpPr>
          <p:nvPr>
            <p:ph type="body" sz="quarter" idx="12" hasCustomPrompt="1"/>
          </p:nvPr>
        </p:nvSpPr>
        <p:spPr>
          <a:xfrm>
            <a:off x="7351268" y="2182104"/>
            <a:ext cx="4328160" cy="415711"/>
          </a:xfrm>
        </p:spPr>
        <p:txBody>
          <a:bodyPr/>
          <a:lstStyle>
            <a:lvl1pPr marL="0" indent="0" algn="ctr">
              <a:spcBef>
                <a:spcPts val="0"/>
              </a:spcBef>
              <a:buNone/>
              <a:defRPr i="0">
                <a:solidFill>
                  <a:schemeClr val="bg1"/>
                </a:solidFill>
                <a:latin typeface="IBM Plex Sans Condensed" panose="020B0506050203000203" pitchFamily="34" charset="0"/>
              </a:defRPr>
            </a:lvl1pPr>
          </a:lstStyle>
          <a:p>
            <a:pPr lvl="0"/>
            <a:r>
              <a:rPr lang="en-US" dirty="0"/>
              <a:t>DUIS LACINIA JUSTO VENENATIS</a:t>
            </a:r>
          </a:p>
        </p:txBody>
      </p:sp>
      <p:grpSp>
        <p:nvGrpSpPr>
          <p:cNvPr id="18" name="Group 17">
            <a:extLst>
              <a:ext uri="{FF2B5EF4-FFF2-40B4-BE49-F238E27FC236}">
                <a16:creationId xmlns:a16="http://schemas.microsoft.com/office/drawing/2014/main" id="{90BF0628-E990-4F5D-B7FF-53D0744844BE}"/>
              </a:ext>
            </a:extLst>
          </p:cNvPr>
          <p:cNvGrpSpPr/>
          <p:nvPr userDrawn="1"/>
        </p:nvGrpSpPr>
        <p:grpSpPr>
          <a:xfrm>
            <a:off x="8656927" y="2567528"/>
            <a:ext cx="1089660" cy="65378"/>
            <a:chOff x="3965945" y="1385354"/>
            <a:chExt cx="4572000" cy="79107"/>
          </a:xfrm>
          <a:solidFill>
            <a:schemeClr val="bg1"/>
          </a:solidFill>
        </p:grpSpPr>
        <p:sp>
          <p:nvSpPr>
            <p:cNvPr id="19" name="Rectangle 18">
              <a:extLst>
                <a:ext uri="{FF2B5EF4-FFF2-40B4-BE49-F238E27FC236}">
                  <a16:creationId xmlns:a16="http://schemas.microsoft.com/office/drawing/2014/main" id="{EECFB9A8-8191-489B-AC50-419752283151}"/>
                </a:ext>
              </a:extLst>
            </p:cNvPr>
            <p:cNvSpPr/>
            <p:nvPr/>
          </p:nvSpPr>
          <p:spPr>
            <a:xfrm>
              <a:off x="3965945" y="1385356"/>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p>
          </p:txBody>
        </p:sp>
        <p:sp>
          <p:nvSpPr>
            <p:cNvPr id="20" name="Rectangle 19">
              <a:extLst>
                <a:ext uri="{FF2B5EF4-FFF2-40B4-BE49-F238E27FC236}">
                  <a16:creationId xmlns:a16="http://schemas.microsoft.com/office/drawing/2014/main" id="{39A85C0B-2F31-4919-BE9E-9F25A0CF10B3}"/>
                </a:ext>
              </a:extLst>
            </p:cNvPr>
            <p:cNvSpPr/>
            <p:nvPr/>
          </p:nvSpPr>
          <p:spPr>
            <a:xfrm>
              <a:off x="4880345" y="1385355"/>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p>
          </p:txBody>
        </p:sp>
        <p:sp>
          <p:nvSpPr>
            <p:cNvPr id="21" name="Rectangle 20">
              <a:extLst>
                <a:ext uri="{FF2B5EF4-FFF2-40B4-BE49-F238E27FC236}">
                  <a16:creationId xmlns:a16="http://schemas.microsoft.com/office/drawing/2014/main" id="{36D45A22-0137-40E3-A13D-A2FAEB6786B5}"/>
                </a:ext>
              </a:extLst>
            </p:cNvPr>
            <p:cNvSpPr/>
            <p:nvPr/>
          </p:nvSpPr>
          <p:spPr>
            <a:xfrm>
              <a:off x="5794745" y="1385354"/>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p>
          </p:txBody>
        </p:sp>
        <p:sp>
          <p:nvSpPr>
            <p:cNvPr id="22" name="Rectangle 21">
              <a:extLst>
                <a:ext uri="{FF2B5EF4-FFF2-40B4-BE49-F238E27FC236}">
                  <a16:creationId xmlns:a16="http://schemas.microsoft.com/office/drawing/2014/main" id="{0929712D-45C0-4758-89C4-282EC508AF9E}"/>
                </a:ext>
              </a:extLst>
            </p:cNvPr>
            <p:cNvSpPr/>
            <p:nvPr/>
          </p:nvSpPr>
          <p:spPr>
            <a:xfrm>
              <a:off x="6709145" y="1385354"/>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p>
          </p:txBody>
        </p:sp>
        <p:sp>
          <p:nvSpPr>
            <p:cNvPr id="23" name="Rectangle 22">
              <a:extLst>
                <a:ext uri="{FF2B5EF4-FFF2-40B4-BE49-F238E27FC236}">
                  <a16:creationId xmlns:a16="http://schemas.microsoft.com/office/drawing/2014/main" id="{E47E8191-9FA8-4F3C-8D34-D76133FE9266}"/>
                </a:ext>
              </a:extLst>
            </p:cNvPr>
            <p:cNvSpPr/>
            <p:nvPr/>
          </p:nvSpPr>
          <p:spPr>
            <a:xfrm>
              <a:off x="7623545" y="1385354"/>
              <a:ext cx="914400" cy="791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638"/>
            </a:p>
          </p:txBody>
        </p:sp>
      </p:grpSp>
    </p:spTree>
    <p:extLst>
      <p:ext uri="{BB962C8B-B14F-4D97-AF65-F5344CB8AC3E}">
        <p14:creationId xmlns:p14="http://schemas.microsoft.com/office/powerpoint/2010/main" val="2740538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0E3A2-8118-E8B7-D83D-DB72BD2B820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89FAA067-B467-34D7-4527-AE946BC570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98008C62-B01D-79B5-2513-E97C1A051EFD}"/>
              </a:ext>
            </a:extLst>
          </p:cNvPr>
          <p:cNvSpPr>
            <a:spLocks noGrp="1"/>
          </p:cNvSpPr>
          <p:nvPr>
            <p:ph type="dt" sz="half" idx="10"/>
          </p:nvPr>
        </p:nvSpPr>
        <p:spPr/>
        <p:txBody>
          <a:bodyPr/>
          <a:lstStyle/>
          <a:p>
            <a:fld id="{94E35C2C-9ABB-5E41-8A38-FE45BF3D0635}" type="datetimeFigureOut">
              <a:rPr lang="en-GB" smtClean="0"/>
              <a:t>05/05/2026</a:t>
            </a:fld>
            <a:endParaRPr lang="en-GB"/>
          </a:p>
        </p:txBody>
      </p:sp>
      <p:sp>
        <p:nvSpPr>
          <p:cNvPr id="5" name="Footer Placeholder 4">
            <a:extLst>
              <a:ext uri="{FF2B5EF4-FFF2-40B4-BE49-F238E27FC236}">
                <a16:creationId xmlns:a16="http://schemas.microsoft.com/office/drawing/2014/main" id="{EFA1EF68-23F2-D47A-2E10-D7D857D56E8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F1B5BC7-1F37-9CF9-9D7F-F932CBD7DC86}"/>
              </a:ext>
            </a:extLst>
          </p:cNvPr>
          <p:cNvSpPr>
            <a:spLocks noGrp="1"/>
          </p:cNvSpPr>
          <p:nvPr>
            <p:ph type="sldNum" sz="quarter" idx="12"/>
          </p:nvPr>
        </p:nvSpPr>
        <p:spPr/>
        <p:txBody>
          <a:bodyPr/>
          <a:lstStyle/>
          <a:p>
            <a:fld id="{6F01F678-EF63-1C4D-BEF9-4EFC0B612C67}" type="slidenum">
              <a:rPr lang="en-GB" smtClean="0"/>
              <a:t>‹#›</a:t>
            </a:fld>
            <a:endParaRPr lang="en-GB"/>
          </a:p>
        </p:txBody>
      </p:sp>
    </p:spTree>
    <p:extLst>
      <p:ext uri="{BB962C8B-B14F-4D97-AF65-F5344CB8AC3E}">
        <p14:creationId xmlns:p14="http://schemas.microsoft.com/office/powerpoint/2010/main" val="282339716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21" Type="http://schemas.openxmlformats.org/officeDocument/2006/relationships/theme" Target="../theme/theme2.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slideLayout" Target="../slideLayouts/slideLayout22.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slideLayout" Target="../slideLayouts/slideLayout21.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71"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C85F8B-0A09-4C15-ABEC-8D1E016BCCA4}"/>
              </a:ext>
            </a:extLst>
          </p:cNvPr>
          <p:cNvSpPr>
            <a:spLocks noGrp="1"/>
          </p:cNvSpPr>
          <p:nvPr>
            <p:ph type="title"/>
          </p:nvPr>
        </p:nvSpPr>
        <p:spPr>
          <a:xfrm>
            <a:off x="838200" y="815293"/>
            <a:ext cx="10515600" cy="47612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B2881A4-9E57-42A4-BF5A-3B78CAC560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0" name="Picture 2">
            <a:extLst>
              <a:ext uri="{FF2B5EF4-FFF2-40B4-BE49-F238E27FC236}">
                <a16:creationId xmlns:a16="http://schemas.microsoft.com/office/drawing/2014/main" id="{9F329A20-93BD-2E32-C91B-51EB618439DE}"/>
              </a:ext>
            </a:extLst>
          </p:cNvPr>
          <p:cNvPicPr>
            <a:picLocks noChangeAspect="1" noChangeArrowheads="1"/>
          </p:cNvPicPr>
          <p:nvPr userDrawn="1"/>
        </p:nvPicPr>
        <p:blipFill>
          <a:blip r:embed="rId22">
            <a:extLst>
              <a:ext uri="{28A0092B-C50C-407E-A947-70E740481C1C}">
                <a14:useLocalDpi xmlns:a14="http://schemas.microsoft.com/office/drawing/2010/main" val="0"/>
              </a:ext>
            </a:extLst>
          </a:blip>
          <a:srcRect/>
          <a:stretch>
            <a:fillRect/>
          </a:stretch>
        </p:blipFill>
        <p:spPr bwMode="auto">
          <a:xfrm>
            <a:off x="5803250" y="41219"/>
            <a:ext cx="585499" cy="5854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5562224"/>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Lst>
  <p:txStyles>
    <p:titleStyle>
      <a:lvl1pPr algn="ctr" defTabSz="914400" rtl="0" eaLnBrk="1" latinLnBrk="0" hangingPunct="1">
        <a:lnSpc>
          <a:spcPct val="90000"/>
        </a:lnSpc>
        <a:spcBef>
          <a:spcPct val="0"/>
        </a:spcBef>
        <a:buNone/>
        <a:defRPr sz="2000" kern="1200">
          <a:solidFill>
            <a:schemeClr val="tx1"/>
          </a:solidFill>
          <a:latin typeface="IBM Plex Sans Condensed Medium" panose="020B0606050203000203" pitchFamily="34" charset="0"/>
          <a:ea typeface="+mj-ea"/>
          <a:cs typeface="+mj-cs"/>
        </a:defRPr>
      </a:lvl1pPr>
    </p:titleStyle>
    <p:bodyStyle>
      <a:lvl1pPr marL="228600" indent="-228600" algn="l" defTabSz="914400" rtl="0" eaLnBrk="1" latinLnBrk="0" hangingPunct="1">
        <a:lnSpc>
          <a:spcPct val="90000"/>
        </a:lnSpc>
        <a:spcBef>
          <a:spcPts val="1000"/>
        </a:spcBef>
        <a:buClr>
          <a:srgbClr val="A5416F"/>
        </a:buClr>
        <a:buFont typeface="Wingdings" panose="05000000000000000000" pitchFamily="2" charset="2"/>
        <a:buChar char="§"/>
        <a:defRPr sz="2000" kern="1200">
          <a:solidFill>
            <a:schemeClr val="tx1"/>
          </a:solidFill>
          <a:latin typeface="IBM Plex Sans Condensed" panose="020B0506050203000203" pitchFamily="34" charset="0"/>
          <a:ea typeface="+mn-ea"/>
          <a:cs typeface="+mn-cs"/>
        </a:defRPr>
      </a:lvl1pPr>
      <a:lvl2pPr marL="685800" indent="-228600" algn="l" defTabSz="914400" rtl="0" eaLnBrk="1" latinLnBrk="0" hangingPunct="1">
        <a:lnSpc>
          <a:spcPct val="90000"/>
        </a:lnSpc>
        <a:spcBef>
          <a:spcPts val="500"/>
        </a:spcBef>
        <a:buClr>
          <a:srgbClr val="A5416F"/>
        </a:buClr>
        <a:buFont typeface="Wingdings" panose="05000000000000000000" pitchFamily="2" charset="2"/>
        <a:buChar char="§"/>
        <a:defRPr sz="1800" kern="1200">
          <a:solidFill>
            <a:schemeClr val="tx1"/>
          </a:solidFill>
          <a:latin typeface="IBM Plex Sans Condensed" panose="020B0506050203000203" pitchFamily="34" charset="0"/>
          <a:ea typeface="+mn-ea"/>
          <a:cs typeface="+mn-cs"/>
        </a:defRPr>
      </a:lvl2pPr>
      <a:lvl3pPr marL="1143000" indent="-228600" algn="l" defTabSz="914400" rtl="0" eaLnBrk="1" latinLnBrk="0" hangingPunct="1">
        <a:lnSpc>
          <a:spcPct val="90000"/>
        </a:lnSpc>
        <a:spcBef>
          <a:spcPts val="500"/>
        </a:spcBef>
        <a:buClr>
          <a:srgbClr val="A5416F"/>
        </a:buClr>
        <a:buFont typeface="Wingdings" panose="05000000000000000000" pitchFamily="2" charset="2"/>
        <a:buChar char="§"/>
        <a:defRPr sz="1600" kern="1200">
          <a:solidFill>
            <a:schemeClr val="tx1"/>
          </a:solidFill>
          <a:latin typeface="IBM Plex Sans Condensed" panose="020B0506050203000203" pitchFamily="34" charset="0"/>
          <a:ea typeface="+mn-ea"/>
          <a:cs typeface="+mn-cs"/>
        </a:defRPr>
      </a:lvl3pPr>
      <a:lvl4pPr marL="1600200" indent="-228600" algn="l" defTabSz="914400" rtl="0" eaLnBrk="1" latinLnBrk="0" hangingPunct="1">
        <a:lnSpc>
          <a:spcPct val="90000"/>
        </a:lnSpc>
        <a:spcBef>
          <a:spcPts val="500"/>
        </a:spcBef>
        <a:buClr>
          <a:srgbClr val="A5416F"/>
        </a:buClr>
        <a:buFont typeface="Wingdings" panose="05000000000000000000" pitchFamily="2" charset="2"/>
        <a:buChar char="§"/>
        <a:defRPr sz="1400" kern="1200">
          <a:solidFill>
            <a:schemeClr val="tx1"/>
          </a:solidFill>
          <a:latin typeface="IBM Plex Sans Condensed" panose="020B0506050203000203" pitchFamily="34" charset="0"/>
          <a:ea typeface="+mn-ea"/>
          <a:cs typeface="+mn-cs"/>
        </a:defRPr>
      </a:lvl4pPr>
      <a:lvl5pPr marL="2057400" indent="-228600" algn="l" defTabSz="914400" rtl="0" eaLnBrk="1" latinLnBrk="0" hangingPunct="1">
        <a:lnSpc>
          <a:spcPct val="90000"/>
        </a:lnSpc>
        <a:spcBef>
          <a:spcPts val="500"/>
        </a:spcBef>
        <a:buClr>
          <a:srgbClr val="A5416F"/>
        </a:buClr>
        <a:buFont typeface="Wingdings" panose="05000000000000000000" pitchFamily="2" charset="2"/>
        <a:buChar char="§"/>
        <a:defRPr sz="1400" kern="1200">
          <a:solidFill>
            <a:schemeClr val="tx1"/>
          </a:solidFill>
          <a:latin typeface="IBM Plex Sans Condensed" panose="020B050605020300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A23D6-21F0-4DB3-BA2F-7681036DCDF7}"/>
              </a:ext>
            </a:extLst>
          </p:cNvPr>
          <p:cNvSpPr>
            <a:spLocks noGrp="1"/>
          </p:cNvSpPr>
          <p:nvPr>
            <p:ph type="ctrTitle"/>
          </p:nvPr>
        </p:nvSpPr>
        <p:spPr>
          <a:xfrm>
            <a:off x="547463" y="2081799"/>
            <a:ext cx="6139664" cy="1651609"/>
          </a:xfrm>
        </p:spPr>
        <p:txBody>
          <a:bodyPr/>
          <a:lstStyle/>
          <a:p>
            <a:r>
              <a:rPr lang="en-GB" b="1" dirty="0"/>
              <a:t>SECURING CONVERSATIONAL AI: PROTECTING CHATBOTS FROM OVERSHARING</a:t>
            </a:r>
          </a:p>
        </p:txBody>
      </p:sp>
      <p:sp>
        <p:nvSpPr>
          <p:cNvPr id="3" name="Subtitle 2">
            <a:extLst>
              <a:ext uri="{FF2B5EF4-FFF2-40B4-BE49-F238E27FC236}">
                <a16:creationId xmlns:a16="http://schemas.microsoft.com/office/drawing/2014/main" id="{9474C6B3-5FE3-4389-A405-D19DD486DCB9}"/>
              </a:ext>
            </a:extLst>
          </p:cNvPr>
          <p:cNvSpPr>
            <a:spLocks noGrp="1"/>
          </p:cNvSpPr>
          <p:nvPr>
            <p:ph type="subTitle" idx="1"/>
          </p:nvPr>
        </p:nvSpPr>
        <p:spPr/>
        <p:txBody>
          <a:bodyPr>
            <a:normAutofit/>
          </a:bodyPr>
          <a:lstStyle/>
          <a:p>
            <a:r>
              <a:rPr lang="en-US" dirty="0"/>
              <a:t>IVAN VAGUNIN</a:t>
            </a:r>
          </a:p>
        </p:txBody>
      </p:sp>
      <p:sp>
        <p:nvSpPr>
          <p:cNvPr id="4" name="Text Placeholder 3">
            <a:extLst>
              <a:ext uri="{FF2B5EF4-FFF2-40B4-BE49-F238E27FC236}">
                <a16:creationId xmlns:a16="http://schemas.microsoft.com/office/drawing/2014/main" id="{9F5B80C9-FEC1-4EF9-9625-05E6A759D3F7}"/>
              </a:ext>
            </a:extLst>
          </p:cNvPr>
          <p:cNvSpPr>
            <a:spLocks noGrp="1"/>
          </p:cNvSpPr>
          <p:nvPr>
            <p:ph type="body" sz="quarter" idx="11"/>
          </p:nvPr>
        </p:nvSpPr>
        <p:spPr/>
        <p:txBody>
          <a:bodyPr/>
          <a:lstStyle/>
          <a:p>
            <a:r>
              <a:rPr lang="en-US" dirty="0"/>
              <a:t>PhD., MCSM, CISSP</a:t>
            </a:r>
          </a:p>
        </p:txBody>
      </p:sp>
    </p:spTree>
    <p:extLst>
      <p:ext uri="{BB962C8B-B14F-4D97-AF65-F5344CB8AC3E}">
        <p14:creationId xmlns:p14="http://schemas.microsoft.com/office/powerpoint/2010/main" val="1733130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1F40F34-6F26-EC2B-E907-4D2D64736E22}"/>
              </a:ext>
            </a:extLst>
          </p:cNvPr>
          <p:cNvPicPr>
            <a:picLocks noChangeAspect="1"/>
          </p:cNvPicPr>
          <p:nvPr/>
        </p:nvPicPr>
        <p:blipFill>
          <a:blip r:embed="rId3"/>
          <a:stretch>
            <a:fillRect/>
          </a:stretch>
        </p:blipFill>
        <p:spPr>
          <a:xfrm>
            <a:off x="605028" y="675165"/>
            <a:ext cx="10981944" cy="6182835"/>
          </a:xfrm>
          <a:prstGeom prst="rect">
            <a:avLst/>
          </a:prstGeom>
        </p:spPr>
      </p:pic>
    </p:spTree>
    <p:extLst>
      <p:ext uri="{BB962C8B-B14F-4D97-AF65-F5344CB8AC3E}">
        <p14:creationId xmlns:p14="http://schemas.microsoft.com/office/powerpoint/2010/main" val="4200898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594360"/>
            <a:ext cx="11091672" cy="502920"/>
          </a:xfrm>
          <a:prstGeom prst="rect">
            <a:avLst/>
          </a:prstGeom>
          <a:noFill/>
          <a:ln/>
        </p:spPr>
        <p:txBody>
          <a:bodyPr wrap="square" rtlCol="0" anchor="ctr"/>
          <a:lstStyle/>
          <a:p>
            <a:pPr marL="0" indent="0">
              <a:buNone/>
            </a:pPr>
            <a:r>
              <a:rPr lang="en-US" sz="2400" dirty="0">
                <a:solidFill>
                  <a:srgbClr val="8B949E"/>
                </a:solidFill>
                <a:latin typeface="Consolas" pitchFamily="34" charset="0"/>
                <a:ea typeface="Consolas" pitchFamily="34" charset="-122"/>
                <a:cs typeface="Consolas" pitchFamily="34" charset="-120"/>
              </a:rPr>
              <a:t>&gt; </a:t>
            </a:r>
            <a:r>
              <a:rPr lang="en-US" sz="2200" b="1" dirty="0">
                <a:solidFill>
                  <a:srgbClr val="58A6FF"/>
                </a:solidFill>
                <a:latin typeface="Consolas" pitchFamily="34" charset="0"/>
                <a:ea typeface="Consolas" pitchFamily="34" charset="-122"/>
                <a:cs typeface="Consolas" pitchFamily="34" charset="-120"/>
              </a:rPr>
              <a:t>Who am I?</a:t>
            </a:r>
            <a:endParaRPr lang="en-US" sz="2400" dirty="0"/>
          </a:p>
        </p:txBody>
      </p:sp>
      <p:sp>
        <p:nvSpPr>
          <p:cNvPr id="3" name="Shape 1"/>
          <p:cNvSpPr/>
          <p:nvPr/>
        </p:nvSpPr>
        <p:spPr>
          <a:xfrm>
            <a:off x="548640" y="1143000"/>
            <a:ext cx="11091672" cy="13716"/>
          </a:xfrm>
          <a:prstGeom prst="rect">
            <a:avLst/>
          </a:prstGeom>
          <a:solidFill>
            <a:srgbClr val="30363D"/>
          </a:solidFill>
          <a:ln/>
        </p:spPr>
        <p:txBody>
          <a:bodyPr/>
          <a:lstStyle/>
          <a:p>
            <a:endParaRPr lang="en-GB"/>
          </a:p>
        </p:txBody>
      </p:sp>
      <p:sp>
        <p:nvSpPr>
          <p:cNvPr id="4" name="Text 2"/>
          <p:cNvSpPr/>
          <p:nvPr/>
        </p:nvSpPr>
        <p:spPr>
          <a:xfrm>
            <a:off x="10972800" y="6446520"/>
            <a:ext cx="731520" cy="274320"/>
          </a:xfrm>
          <a:prstGeom prst="rect">
            <a:avLst/>
          </a:prstGeom>
          <a:noFill/>
          <a:ln/>
        </p:spPr>
        <p:txBody>
          <a:bodyPr wrap="square" rtlCol="0" anchor="ctr"/>
          <a:lstStyle/>
          <a:p>
            <a:pPr marL="0" indent="0" algn="r">
              <a:buNone/>
            </a:pPr>
            <a:r>
              <a:rPr lang="en-US" sz="1000" dirty="0">
                <a:solidFill>
                  <a:srgbClr val="8B949E"/>
                </a:solidFill>
                <a:latin typeface="Consolas" pitchFamily="34" charset="0"/>
                <a:ea typeface="Consolas" pitchFamily="34" charset="-122"/>
                <a:cs typeface="Consolas" pitchFamily="34" charset="-120"/>
              </a:rPr>
              <a:t>1</a:t>
            </a:r>
            <a:endParaRPr lang="en-US" sz="1000" dirty="0"/>
          </a:p>
        </p:txBody>
      </p:sp>
      <p:sp>
        <p:nvSpPr>
          <p:cNvPr id="5" name="Shape 3"/>
          <p:cNvSpPr/>
          <p:nvPr/>
        </p:nvSpPr>
        <p:spPr>
          <a:xfrm>
            <a:off x="548640" y="1325880"/>
            <a:ext cx="11091672" cy="5074920"/>
          </a:xfrm>
          <a:prstGeom prst="roundRect">
            <a:avLst>
              <a:gd name="adj" fmla="val 2162"/>
            </a:avLst>
          </a:prstGeom>
          <a:solidFill>
            <a:srgbClr val="161B22"/>
          </a:solidFill>
          <a:ln w="9525">
            <a:solidFill>
              <a:srgbClr val="30363D"/>
            </a:solidFill>
            <a:prstDash val="solid"/>
          </a:ln>
        </p:spPr>
        <p:txBody>
          <a:bodyPr/>
          <a:lstStyle/>
          <a:p>
            <a:endParaRPr lang="en-GB"/>
          </a:p>
        </p:txBody>
      </p:sp>
      <p:sp>
        <p:nvSpPr>
          <p:cNvPr id="6" name="Shape 4"/>
          <p:cNvSpPr/>
          <p:nvPr/>
        </p:nvSpPr>
        <p:spPr>
          <a:xfrm>
            <a:off x="1271386" y="1783080"/>
            <a:ext cx="2321560" cy="3291840"/>
          </a:xfrm>
          <a:prstGeom prst="roundRect">
            <a:avLst>
              <a:gd name="adj" fmla="val 4286"/>
            </a:avLst>
          </a:prstGeom>
          <a:blipFill dpi="0" rotWithShape="1">
            <a:blip r:embed="rId3"/>
            <a:srcRect/>
            <a:stretch>
              <a:fillRect/>
            </a:stretch>
          </a:blipFill>
          <a:ln w="12700">
            <a:solidFill>
              <a:srgbClr val="30363D"/>
            </a:solidFill>
            <a:prstDash val="dash"/>
          </a:ln>
        </p:spPr>
        <p:txBody>
          <a:bodyPr/>
          <a:lstStyle/>
          <a:p>
            <a:endParaRPr lang="en-GB"/>
          </a:p>
        </p:txBody>
      </p:sp>
      <p:sp>
        <p:nvSpPr>
          <p:cNvPr id="7" name="Text 5"/>
          <p:cNvSpPr/>
          <p:nvPr/>
        </p:nvSpPr>
        <p:spPr>
          <a:xfrm>
            <a:off x="1188720" y="1828800"/>
            <a:ext cx="2560320" cy="2926080"/>
          </a:xfrm>
          <a:prstGeom prst="rect">
            <a:avLst/>
          </a:prstGeom>
          <a:noFill/>
          <a:ln/>
        </p:spPr>
        <p:txBody>
          <a:bodyPr wrap="square" rtlCol="0" anchor="ctr"/>
          <a:lstStyle/>
          <a:p>
            <a:pPr marL="0" indent="0" algn="ctr">
              <a:buNone/>
            </a:pPr>
            <a:endParaRPr lang="en-US" sz="1400" dirty="0"/>
          </a:p>
        </p:txBody>
      </p:sp>
      <p:sp>
        <p:nvSpPr>
          <p:cNvPr id="8" name="Text 6"/>
          <p:cNvSpPr/>
          <p:nvPr/>
        </p:nvSpPr>
        <p:spPr>
          <a:xfrm>
            <a:off x="4480560" y="1828800"/>
            <a:ext cx="6858000" cy="502920"/>
          </a:xfrm>
          <a:prstGeom prst="rect">
            <a:avLst/>
          </a:prstGeom>
          <a:noFill/>
          <a:ln/>
        </p:spPr>
        <p:txBody>
          <a:bodyPr wrap="square" rtlCol="0" anchor="ctr"/>
          <a:lstStyle/>
          <a:p>
            <a:pPr marL="0" indent="0">
              <a:buNone/>
            </a:pPr>
            <a:r>
              <a:rPr lang="en-US" sz="2600" b="1" dirty="0">
                <a:solidFill>
                  <a:srgbClr val="E6EDF3"/>
                </a:solidFill>
                <a:latin typeface="Segoe UI" pitchFamily="34" charset="0"/>
                <a:ea typeface="Segoe UI" pitchFamily="34" charset="-122"/>
                <a:cs typeface="Segoe UI" pitchFamily="34" charset="-120"/>
              </a:rPr>
              <a:t>Ivan Vagunin, Ph.D.</a:t>
            </a:r>
            <a:endParaRPr lang="en-US" sz="2600" dirty="0"/>
          </a:p>
        </p:txBody>
      </p:sp>
      <p:sp>
        <p:nvSpPr>
          <p:cNvPr id="9" name="Text 7"/>
          <p:cNvSpPr/>
          <p:nvPr/>
        </p:nvSpPr>
        <p:spPr>
          <a:xfrm>
            <a:off x="4480560" y="2377440"/>
            <a:ext cx="6858000" cy="411480"/>
          </a:xfrm>
          <a:prstGeom prst="rect">
            <a:avLst/>
          </a:prstGeom>
          <a:noFill/>
          <a:ln/>
        </p:spPr>
        <p:txBody>
          <a:bodyPr wrap="square" rtlCol="0" anchor="ctr"/>
          <a:lstStyle/>
          <a:p>
            <a:pPr marL="0" indent="0">
              <a:buNone/>
            </a:pPr>
            <a:r>
              <a:rPr lang="en-US" sz="1600" dirty="0">
                <a:solidFill>
                  <a:srgbClr val="58A6FF"/>
                </a:solidFill>
                <a:latin typeface="Segoe UI" pitchFamily="34" charset="0"/>
                <a:ea typeface="Segoe UI" pitchFamily="34" charset="-122"/>
                <a:cs typeface="Segoe UI" pitchFamily="34" charset="-120"/>
              </a:rPr>
              <a:t>Senior Software Architect @ Tieto CareTech</a:t>
            </a:r>
            <a:endParaRPr lang="en-US" sz="1600" dirty="0"/>
          </a:p>
        </p:txBody>
      </p:sp>
      <p:sp>
        <p:nvSpPr>
          <p:cNvPr id="10" name="Text 8"/>
          <p:cNvSpPr/>
          <p:nvPr/>
        </p:nvSpPr>
        <p:spPr>
          <a:xfrm>
            <a:off x="4480560" y="2880360"/>
            <a:ext cx="6858000" cy="365760"/>
          </a:xfrm>
          <a:prstGeom prst="rect">
            <a:avLst/>
          </a:prstGeom>
          <a:noFill/>
          <a:ln/>
        </p:spPr>
        <p:txBody>
          <a:bodyPr wrap="square" rtlCol="0" anchor="ctr"/>
          <a:lstStyle/>
          <a:p>
            <a:pPr marL="0" indent="0">
              <a:buNone/>
            </a:pPr>
            <a:r>
              <a:rPr lang="en-US" sz="1400" dirty="0">
                <a:solidFill>
                  <a:srgbClr val="D29922"/>
                </a:solidFill>
                <a:latin typeface="Consolas" pitchFamily="34" charset="0"/>
                <a:ea typeface="Consolas" pitchFamily="34" charset="-122"/>
                <a:cs typeface="Consolas" pitchFamily="34" charset="-120"/>
              </a:rPr>
              <a:t>MCSM  ·  CISSP</a:t>
            </a:r>
            <a:endParaRPr lang="en-US" sz="1400" dirty="0"/>
          </a:p>
        </p:txBody>
      </p:sp>
      <p:sp>
        <p:nvSpPr>
          <p:cNvPr id="11" name="Text 9"/>
          <p:cNvSpPr/>
          <p:nvPr/>
        </p:nvSpPr>
        <p:spPr>
          <a:xfrm>
            <a:off x="4480560" y="3291840"/>
            <a:ext cx="6858000" cy="365760"/>
          </a:xfrm>
          <a:prstGeom prst="rect">
            <a:avLst/>
          </a:prstGeom>
          <a:noFill/>
          <a:ln/>
        </p:spPr>
        <p:txBody>
          <a:bodyPr wrap="square" rtlCol="0" anchor="ctr"/>
          <a:lstStyle/>
          <a:p>
            <a:pPr marL="0" indent="0">
              <a:buNone/>
            </a:pPr>
            <a:r>
              <a:rPr lang="en-US" sz="1400" dirty="0">
                <a:solidFill>
                  <a:srgbClr val="8B949E"/>
                </a:solidFill>
                <a:latin typeface="Segoe UI" pitchFamily="34" charset="0"/>
                <a:ea typeface="Segoe UI" pitchFamily="34" charset="-122"/>
                <a:cs typeface="Segoe UI" pitchFamily="34" charset="-120"/>
              </a:rPr>
              <a:t>Independent security researcher</a:t>
            </a:r>
            <a:endParaRPr lang="en-US" sz="1400" dirty="0"/>
          </a:p>
        </p:txBody>
      </p:sp>
      <p:sp>
        <p:nvSpPr>
          <p:cNvPr id="12" name="Shape 10"/>
          <p:cNvSpPr/>
          <p:nvPr/>
        </p:nvSpPr>
        <p:spPr>
          <a:xfrm>
            <a:off x="4480560" y="4114800"/>
            <a:ext cx="1615440" cy="1005840"/>
          </a:xfrm>
          <a:prstGeom prst="roundRect">
            <a:avLst>
              <a:gd name="adj" fmla="val 7273"/>
            </a:avLst>
          </a:prstGeom>
          <a:blipFill>
            <a:blip r:embed="rId4"/>
            <a:stretch>
              <a:fillRect/>
            </a:stretch>
          </a:blipFill>
          <a:ln w="12700">
            <a:solidFill>
              <a:srgbClr val="30363D"/>
            </a:solidFill>
            <a:prstDash val="dash"/>
          </a:ln>
        </p:spPr>
        <p:txBody>
          <a:bodyPr/>
          <a:lstStyle/>
          <a:p>
            <a:endParaRPr lang="en-GB"/>
          </a:p>
        </p:txBody>
      </p:sp>
      <p:sp>
        <p:nvSpPr>
          <p:cNvPr id="13" name="Text 11"/>
          <p:cNvSpPr/>
          <p:nvPr/>
        </p:nvSpPr>
        <p:spPr>
          <a:xfrm>
            <a:off x="4480560" y="4114800"/>
            <a:ext cx="1463040" cy="1005840"/>
          </a:xfrm>
          <a:prstGeom prst="rect">
            <a:avLst/>
          </a:prstGeom>
          <a:noFill/>
          <a:ln/>
        </p:spPr>
        <p:txBody>
          <a:bodyPr wrap="square" rtlCol="0" anchor="ctr"/>
          <a:lstStyle/>
          <a:p>
            <a:pPr marL="0" indent="0" algn="ctr">
              <a:buNone/>
            </a:pPr>
            <a:endParaRPr lang="en-US" sz="1000" dirty="0"/>
          </a:p>
        </p:txBody>
      </p:sp>
      <p:sp>
        <p:nvSpPr>
          <p:cNvPr id="14" name="Shape 12"/>
          <p:cNvSpPr/>
          <p:nvPr/>
        </p:nvSpPr>
        <p:spPr>
          <a:xfrm>
            <a:off x="6400800" y="4114800"/>
            <a:ext cx="1025236" cy="1005840"/>
          </a:xfrm>
          <a:prstGeom prst="roundRect">
            <a:avLst>
              <a:gd name="adj" fmla="val 7273"/>
            </a:avLst>
          </a:prstGeom>
          <a:blipFill>
            <a:blip r:embed="rId5"/>
            <a:stretch>
              <a:fillRect/>
            </a:stretch>
          </a:blipFill>
          <a:ln w="12700">
            <a:solidFill>
              <a:srgbClr val="30363D"/>
            </a:solidFill>
            <a:prstDash val="dash"/>
          </a:ln>
        </p:spPr>
        <p:txBody>
          <a:bodyPr/>
          <a:lstStyle/>
          <a:p>
            <a:endParaRPr lang="en-GB"/>
          </a:p>
        </p:txBody>
      </p:sp>
      <p:sp>
        <p:nvSpPr>
          <p:cNvPr id="15" name="Text 13"/>
          <p:cNvSpPr/>
          <p:nvPr/>
        </p:nvSpPr>
        <p:spPr>
          <a:xfrm>
            <a:off x="6400800" y="4114800"/>
            <a:ext cx="1463040" cy="1005840"/>
          </a:xfrm>
          <a:prstGeom prst="rect">
            <a:avLst/>
          </a:prstGeom>
          <a:noFill/>
          <a:ln/>
        </p:spPr>
        <p:txBody>
          <a:bodyPr wrap="square" rtlCol="0" anchor="ctr"/>
          <a:lstStyle/>
          <a:p>
            <a:pPr marL="0" indent="0" algn="ctr">
              <a:buNone/>
            </a:pPr>
            <a:endParaRPr lang="en-US" sz="1000" dirty="0"/>
          </a:p>
        </p:txBody>
      </p:sp>
      <p:pic>
        <p:nvPicPr>
          <p:cNvPr id="21" name="Picture 20">
            <a:extLst>
              <a:ext uri="{FF2B5EF4-FFF2-40B4-BE49-F238E27FC236}">
                <a16:creationId xmlns:a16="http://schemas.microsoft.com/office/drawing/2014/main" id="{CC53ADF2-CB84-E56A-D790-CABD7D26CB1D}"/>
              </a:ext>
            </a:extLst>
          </p:cNvPr>
          <p:cNvPicPr>
            <a:picLocks noChangeAspect="1"/>
          </p:cNvPicPr>
          <p:nvPr/>
        </p:nvPicPr>
        <p:blipFill>
          <a:blip r:embed="rId6"/>
          <a:stretch>
            <a:fillRect/>
          </a:stretch>
        </p:blipFill>
        <p:spPr>
          <a:xfrm>
            <a:off x="8992846" y="2979665"/>
            <a:ext cx="2822633" cy="227026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594360"/>
            <a:ext cx="11091672" cy="502920"/>
          </a:xfrm>
          <a:prstGeom prst="rect">
            <a:avLst/>
          </a:prstGeom>
          <a:noFill/>
          <a:ln/>
        </p:spPr>
        <p:txBody>
          <a:bodyPr wrap="square" rtlCol="0" anchor="ctr"/>
          <a:lstStyle/>
          <a:p>
            <a:pPr marL="0" indent="0">
              <a:buNone/>
            </a:pPr>
            <a:r>
              <a:rPr lang="en-US" sz="2400" dirty="0">
                <a:solidFill>
                  <a:srgbClr val="8B949E"/>
                </a:solidFill>
                <a:latin typeface="Consolas" pitchFamily="34" charset="0"/>
                <a:ea typeface="Consolas" pitchFamily="34" charset="-122"/>
                <a:cs typeface="Consolas" pitchFamily="34" charset="-120"/>
              </a:rPr>
              <a:t>&gt; </a:t>
            </a:r>
            <a:r>
              <a:rPr lang="en-US" sz="2200" b="1" dirty="0">
                <a:solidFill>
                  <a:srgbClr val="58A6FF"/>
                </a:solidFill>
                <a:latin typeface="Consolas" pitchFamily="34" charset="0"/>
                <a:ea typeface="Consolas" pitchFamily="34" charset="-122"/>
                <a:cs typeface="Consolas" pitchFamily="34" charset="-120"/>
              </a:rPr>
              <a:t>What is a chatbot?</a:t>
            </a:r>
            <a:endParaRPr lang="en-US" sz="2400" dirty="0"/>
          </a:p>
        </p:txBody>
      </p:sp>
      <p:sp>
        <p:nvSpPr>
          <p:cNvPr id="3" name="Shape 1"/>
          <p:cNvSpPr/>
          <p:nvPr/>
        </p:nvSpPr>
        <p:spPr>
          <a:xfrm>
            <a:off x="548640" y="1143000"/>
            <a:ext cx="11091672" cy="13716"/>
          </a:xfrm>
          <a:prstGeom prst="rect">
            <a:avLst/>
          </a:prstGeom>
          <a:solidFill>
            <a:srgbClr val="30363D"/>
          </a:solidFill>
          <a:ln/>
        </p:spPr>
        <p:txBody>
          <a:bodyPr/>
          <a:lstStyle/>
          <a:p>
            <a:endParaRPr lang="en-GB"/>
          </a:p>
        </p:txBody>
      </p:sp>
      <p:sp>
        <p:nvSpPr>
          <p:cNvPr id="4" name="Text 2"/>
          <p:cNvSpPr/>
          <p:nvPr/>
        </p:nvSpPr>
        <p:spPr>
          <a:xfrm>
            <a:off x="10972800" y="6446520"/>
            <a:ext cx="731520" cy="274320"/>
          </a:xfrm>
          <a:prstGeom prst="rect">
            <a:avLst/>
          </a:prstGeom>
          <a:noFill/>
          <a:ln/>
        </p:spPr>
        <p:txBody>
          <a:bodyPr wrap="square" rtlCol="0" anchor="ctr"/>
          <a:lstStyle/>
          <a:p>
            <a:pPr marL="0" indent="0" algn="r">
              <a:buNone/>
            </a:pPr>
            <a:r>
              <a:rPr lang="en-US" sz="1000" dirty="0">
                <a:solidFill>
                  <a:srgbClr val="8B949E"/>
                </a:solidFill>
                <a:latin typeface="Consolas" pitchFamily="34" charset="0"/>
                <a:ea typeface="Consolas" pitchFamily="34" charset="-122"/>
                <a:cs typeface="Consolas" pitchFamily="34" charset="-120"/>
              </a:rPr>
              <a:t>2</a:t>
            </a:r>
            <a:endParaRPr lang="en-US" sz="1000" dirty="0"/>
          </a:p>
        </p:txBody>
      </p:sp>
      <p:sp>
        <p:nvSpPr>
          <p:cNvPr id="5" name="Shape 3"/>
          <p:cNvSpPr/>
          <p:nvPr/>
        </p:nvSpPr>
        <p:spPr>
          <a:xfrm>
            <a:off x="548640" y="1325880"/>
            <a:ext cx="11091672" cy="5074920"/>
          </a:xfrm>
          <a:prstGeom prst="roundRect">
            <a:avLst>
              <a:gd name="adj" fmla="val 2162"/>
            </a:avLst>
          </a:prstGeom>
          <a:solidFill>
            <a:srgbClr val="161B22"/>
          </a:solidFill>
          <a:ln w="9525">
            <a:solidFill>
              <a:srgbClr val="30363D"/>
            </a:solidFill>
            <a:prstDash val="solid"/>
          </a:ln>
        </p:spPr>
        <p:txBody>
          <a:bodyPr/>
          <a:lstStyle/>
          <a:p>
            <a:endParaRPr lang="en-GB"/>
          </a:p>
        </p:txBody>
      </p:sp>
      <p:sp>
        <p:nvSpPr>
          <p:cNvPr id="6" name="Text 4"/>
          <p:cNvSpPr/>
          <p:nvPr/>
        </p:nvSpPr>
        <p:spPr>
          <a:xfrm>
            <a:off x="914400" y="1554480"/>
            <a:ext cx="10360152" cy="4572000"/>
          </a:xfrm>
          <a:prstGeom prst="rect">
            <a:avLst/>
          </a:prstGeom>
          <a:noFill/>
          <a:ln/>
        </p:spPr>
        <p:txBody>
          <a:bodyPr wrap="square" rtlCol="0" anchor="t"/>
          <a:lstStyle/>
          <a:p>
            <a:pPr marL="0" indent="0">
              <a:lnSpc>
                <a:spcPct val="150000"/>
              </a:lnSpc>
              <a:spcAft>
                <a:spcPts val="600"/>
              </a:spcAft>
              <a:buNone/>
            </a:pPr>
            <a:r>
              <a:rPr lang="en-US" sz="1800" b="1" dirty="0">
                <a:solidFill>
                  <a:srgbClr val="E6EDF3"/>
                </a:solidFill>
                <a:latin typeface="Segoe UI" pitchFamily="34" charset="0"/>
                <a:ea typeface="Segoe UI" pitchFamily="34" charset="-122"/>
                <a:cs typeface="Segoe UI" pitchFamily="34" charset="-120"/>
              </a:rPr>
              <a:t>A chatbot is a distributed application path.
</a:t>
            </a:r>
            <a:r>
              <a:rPr lang="en-US" sz="1400" dirty="0">
                <a:solidFill>
                  <a:srgbClr val="8B949E"/>
                </a:solidFill>
                <a:latin typeface="Segoe UI" pitchFamily="34" charset="0"/>
                <a:ea typeface="Segoe UI" pitchFamily="34" charset="-122"/>
                <a:cs typeface="Segoe UI" pitchFamily="34" charset="-120"/>
              </a:rPr>
              <a:t>It accepts untrusted natural language, combines it with system instructions, user context, retrieved documents, tool outputs, and memory — then produces text or initiates workflow.
</a:t>
            </a:r>
            <a:r>
              <a:rPr lang="en-US" sz="1400" dirty="0">
                <a:solidFill>
                  <a:srgbClr val="E6EDF3"/>
                </a:solidFill>
                <a:latin typeface="Segoe UI" pitchFamily="34" charset="0"/>
                <a:ea typeface="Segoe UI" pitchFamily="34" charset="-122"/>
                <a:cs typeface="Segoe UI" pitchFamily="34" charset="-120"/>
              </a:rPr>
              <a:t>Three overlapping control planes:
</a:t>
            </a:r>
            <a:endParaRPr lang="en-US" sz="1800" dirty="0"/>
          </a:p>
        </p:txBody>
      </p:sp>
      <p:sp>
        <p:nvSpPr>
          <p:cNvPr id="7" name="Shape 5"/>
          <p:cNvSpPr/>
          <p:nvPr/>
        </p:nvSpPr>
        <p:spPr>
          <a:xfrm>
            <a:off x="914400" y="3291840"/>
            <a:ext cx="3200400" cy="1645920"/>
          </a:xfrm>
          <a:prstGeom prst="roundRect">
            <a:avLst>
              <a:gd name="adj" fmla="val 4444"/>
            </a:avLst>
          </a:prstGeom>
          <a:solidFill>
            <a:srgbClr val="161B22"/>
          </a:solidFill>
          <a:ln w="19050">
            <a:solidFill>
              <a:srgbClr val="58A6FF"/>
            </a:solidFill>
            <a:prstDash val="solid"/>
          </a:ln>
        </p:spPr>
        <p:txBody>
          <a:bodyPr/>
          <a:lstStyle/>
          <a:p>
            <a:endParaRPr lang="en-GB"/>
          </a:p>
        </p:txBody>
      </p:sp>
      <p:sp>
        <p:nvSpPr>
          <p:cNvPr id="8" name="Text 6"/>
          <p:cNvSpPr/>
          <p:nvPr/>
        </p:nvSpPr>
        <p:spPr>
          <a:xfrm>
            <a:off x="914400" y="3474720"/>
            <a:ext cx="3200400" cy="411480"/>
          </a:xfrm>
          <a:prstGeom prst="rect">
            <a:avLst/>
          </a:prstGeom>
          <a:noFill/>
          <a:ln/>
        </p:spPr>
        <p:txBody>
          <a:bodyPr wrap="square" rtlCol="0" anchor="ctr"/>
          <a:lstStyle/>
          <a:p>
            <a:pPr marL="0" indent="0" algn="ctr">
              <a:buNone/>
            </a:pPr>
            <a:r>
              <a:rPr lang="en-US" sz="1600" b="1" dirty="0">
                <a:solidFill>
                  <a:srgbClr val="58A6FF"/>
                </a:solidFill>
                <a:latin typeface="Consolas" pitchFamily="34" charset="0"/>
                <a:ea typeface="Consolas" pitchFamily="34" charset="-122"/>
                <a:cs typeface="Consolas" pitchFamily="34" charset="-120"/>
              </a:rPr>
              <a:t>Data Plane</a:t>
            </a:r>
            <a:endParaRPr lang="en-US" sz="1600" dirty="0"/>
          </a:p>
        </p:txBody>
      </p:sp>
      <p:sp>
        <p:nvSpPr>
          <p:cNvPr id="9" name="Text 7"/>
          <p:cNvSpPr/>
          <p:nvPr/>
        </p:nvSpPr>
        <p:spPr>
          <a:xfrm>
            <a:off x="1097280" y="3977640"/>
            <a:ext cx="2834640" cy="822960"/>
          </a:xfrm>
          <a:prstGeom prst="rect">
            <a:avLst/>
          </a:prstGeom>
          <a:noFill/>
          <a:ln/>
        </p:spPr>
        <p:txBody>
          <a:bodyPr wrap="square" rtlCol="0" anchor="t"/>
          <a:lstStyle/>
          <a:p>
            <a:pPr marL="0" indent="0" algn="ctr">
              <a:buNone/>
            </a:pPr>
            <a:r>
              <a:rPr lang="en-US" sz="1200" dirty="0">
                <a:solidFill>
                  <a:srgbClr val="8B949E"/>
                </a:solidFill>
                <a:latin typeface="Segoe UI" pitchFamily="34" charset="0"/>
                <a:ea typeface="Segoe UI" pitchFamily="34" charset="-122"/>
                <a:cs typeface="Segoe UI" pitchFamily="34" charset="-120"/>
              </a:rPr>
              <a:t>Where sensitive information</a:t>
            </a:r>
            <a:endParaRPr lang="en-US" sz="1200" dirty="0"/>
          </a:p>
          <a:p>
            <a:pPr marL="0" indent="0" algn="ctr">
              <a:buNone/>
            </a:pPr>
            <a:r>
              <a:rPr lang="en-US" sz="1200" dirty="0">
                <a:solidFill>
                  <a:srgbClr val="8B949E"/>
                </a:solidFill>
                <a:latin typeface="Segoe UI" pitchFamily="34" charset="0"/>
                <a:ea typeface="Segoe UI" pitchFamily="34" charset="-122"/>
                <a:cs typeface="Segoe UI" pitchFamily="34" charset="-120"/>
              </a:rPr>
              <a:t>is stored and moved</a:t>
            </a:r>
            <a:endParaRPr lang="en-US" sz="1200" dirty="0"/>
          </a:p>
        </p:txBody>
      </p:sp>
      <p:sp>
        <p:nvSpPr>
          <p:cNvPr id="10" name="Shape 8"/>
          <p:cNvSpPr/>
          <p:nvPr/>
        </p:nvSpPr>
        <p:spPr>
          <a:xfrm>
            <a:off x="4480560" y="3291840"/>
            <a:ext cx="3200400" cy="1645920"/>
          </a:xfrm>
          <a:prstGeom prst="roundRect">
            <a:avLst>
              <a:gd name="adj" fmla="val 4444"/>
            </a:avLst>
          </a:prstGeom>
          <a:solidFill>
            <a:srgbClr val="161B22"/>
          </a:solidFill>
          <a:ln w="19050">
            <a:solidFill>
              <a:srgbClr val="D29922"/>
            </a:solidFill>
            <a:prstDash val="solid"/>
          </a:ln>
        </p:spPr>
        <p:txBody>
          <a:bodyPr/>
          <a:lstStyle/>
          <a:p>
            <a:endParaRPr lang="en-GB"/>
          </a:p>
        </p:txBody>
      </p:sp>
      <p:sp>
        <p:nvSpPr>
          <p:cNvPr id="11" name="Text 9"/>
          <p:cNvSpPr/>
          <p:nvPr/>
        </p:nvSpPr>
        <p:spPr>
          <a:xfrm>
            <a:off x="4480560" y="3474720"/>
            <a:ext cx="3200400" cy="411480"/>
          </a:xfrm>
          <a:prstGeom prst="rect">
            <a:avLst/>
          </a:prstGeom>
          <a:noFill/>
          <a:ln/>
        </p:spPr>
        <p:txBody>
          <a:bodyPr wrap="square" rtlCol="0" anchor="ctr"/>
          <a:lstStyle/>
          <a:p>
            <a:pPr marL="0" indent="0" algn="ctr">
              <a:buNone/>
            </a:pPr>
            <a:r>
              <a:rPr lang="en-US" sz="1600" b="1" dirty="0">
                <a:solidFill>
                  <a:srgbClr val="D29922"/>
                </a:solidFill>
                <a:latin typeface="Consolas" pitchFamily="34" charset="0"/>
                <a:ea typeface="Consolas" pitchFamily="34" charset="-122"/>
                <a:cs typeface="Consolas" pitchFamily="34" charset="-120"/>
              </a:rPr>
              <a:t>Instruction Plane</a:t>
            </a:r>
            <a:endParaRPr lang="en-US" sz="1600" dirty="0"/>
          </a:p>
        </p:txBody>
      </p:sp>
      <p:sp>
        <p:nvSpPr>
          <p:cNvPr id="12" name="Text 10"/>
          <p:cNvSpPr/>
          <p:nvPr/>
        </p:nvSpPr>
        <p:spPr>
          <a:xfrm>
            <a:off x="4663440" y="3977640"/>
            <a:ext cx="2834640" cy="822960"/>
          </a:xfrm>
          <a:prstGeom prst="rect">
            <a:avLst/>
          </a:prstGeom>
          <a:noFill/>
          <a:ln/>
        </p:spPr>
        <p:txBody>
          <a:bodyPr wrap="square" rtlCol="0" anchor="t"/>
          <a:lstStyle/>
          <a:p>
            <a:pPr marL="0" indent="0" algn="ctr">
              <a:buNone/>
            </a:pPr>
            <a:r>
              <a:rPr lang="en-US" sz="1200" dirty="0">
                <a:solidFill>
                  <a:srgbClr val="8B949E"/>
                </a:solidFill>
                <a:latin typeface="Segoe UI" pitchFamily="34" charset="0"/>
                <a:ea typeface="Segoe UI" pitchFamily="34" charset="-122"/>
                <a:cs typeface="Segoe UI" pitchFamily="34" charset="-120"/>
              </a:rPr>
              <a:t>Where prompts and retrieved</a:t>
            </a:r>
            <a:endParaRPr lang="en-US" sz="1200" dirty="0"/>
          </a:p>
          <a:p>
            <a:pPr marL="0" indent="0" algn="ctr">
              <a:buNone/>
            </a:pPr>
            <a:r>
              <a:rPr lang="en-US" sz="1200" dirty="0">
                <a:solidFill>
                  <a:srgbClr val="8B949E"/>
                </a:solidFill>
                <a:latin typeface="Segoe UI" pitchFamily="34" charset="0"/>
                <a:ea typeface="Segoe UI" pitchFamily="34" charset="-122"/>
                <a:cs typeface="Segoe UI" pitchFamily="34" charset="-120"/>
              </a:rPr>
              <a:t>content influence behavior</a:t>
            </a:r>
            <a:endParaRPr lang="en-US" sz="1200" dirty="0"/>
          </a:p>
        </p:txBody>
      </p:sp>
      <p:sp>
        <p:nvSpPr>
          <p:cNvPr id="13" name="Shape 11"/>
          <p:cNvSpPr/>
          <p:nvPr/>
        </p:nvSpPr>
        <p:spPr>
          <a:xfrm>
            <a:off x="8046720" y="3291840"/>
            <a:ext cx="3200400" cy="1645920"/>
          </a:xfrm>
          <a:prstGeom prst="roundRect">
            <a:avLst>
              <a:gd name="adj" fmla="val 4444"/>
            </a:avLst>
          </a:prstGeom>
          <a:solidFill>
            <a:srgbClr val="161B22"/>
          </a:solidFill>
          <a:ln w="19050">
            <a:solidFill>
              <a:srgbClr val="F85149"/>
            </a:solidFill>
            <a:prstDash val="solid"/>
          </a:ln>
        </p:spPr>
        <p:txBody>
          <a:bodyPr/>
          <a:lstStyle/>
          <a:p>
            <a:endParaRPr lang="en-GB"/>
          </a:p>
        </p:txBody>
      </p:sp>
      <p:sp>
        <p:nvSpPr>
          <p:cNvPr id="14" name="Text 12"/>
          <p:cNvSpPr/>
          <p:nvPr/>
        </p:nvSpPr>
        <p:spPr>
          <a:xfrm>
            <a:off x="8046720" y="3474720"/>
            <a:ext cx="3200400" cy="411480"/>
          </a:xfrm>
          <a:prstGeom prst="rect">
            <a:avLst/>
          </a:prstGeom>
          <a:noFill/>
          <a:ln/>
        </p:spPr>
        <p:txBody>
          <a:bodyPr wrap="square" rtlCol="0" anchor="ctr"/>
          <a:lstStyle/>
          <a:p>
            <a:pPr marL="0" indent="0" algn="ctr">
              <a:buNone/>
            </a:pPr>
            <a:r>
              <a:rPr lang="en-US" sz="1600" b="1" dirty="0">
                <a:solidFill>
                  <a:srgbClr val="F85149"/>
                </a:solidFill>
                <a:latin typeface="Consolas" pitchFamily="34" charset="0"/>
                <a:ea typeface="Consolas" pitchFamily="34" charset="-122"/>
                <a:cs typeface="Consolas" pitchFamily="34" charset="-120"/>
              </a:rPr>
              <a:t>Action Plane</a:t>
            </a:r>
            <a:endParaRPr lang="en-US" sz="1600" dirty="0"/>
          </a:p>
        </p:txBody>
      </p:sp>
      <p:sp>
        <p:nvSpPr>
          <p:cNvPr id="15" name="Text 13"/>
          <p:cNvSpPr/>
          <p:nvPr/>
        </p:nvSpPr>
        <p:spPr>
          <a:xfrm>
            <a:off x="8229600" y="3977640"/>
            <a:ext cx="2834640" cy="822960"/>
          </a:xfrm>
          <a:prstGeom prst="rect">
            <a:avLst/>
          </a:prstGeom>
          <a:noFill/>
          <a:ln/>
        </p:spPr>
        <p:txBody>
          <a:bodyPr wrap="square" rtlCol="0" anchor="t"/>
          <a:lstStyle/>
          <a:p>
            <a:pPr marL="0" indent="0" algn="ctr">
              <a:buNone/>
            </a:pPr>
            <a:r>
              <a:rPr lang="en-US" sz="1200" dirty="0">
                <a:solidFill>
                  <a:srgbClr val="8B949E"/>
                </a:solidFill>
                <a:latin typeface="Segoe UI" pitchFamily="34" charset="0"/>
                <a:ea typeface="Segoe UI" pitchFamily="34" charset="-122"/>
                <a:cs typeface="Segoe UI" pitchFamily="34" charset="-120"/>
              </a:rPr>
              <a:t>Where tools and APIs can</a:t>
            </a:r>
            <a:endParaRPr lang="en-US" sz="1200" dirty="0"/>
          </a:p>
          <a:p>
            <a:pPr marL="0" indent="0" algn="ctr">
              <a:buNone/>
            </a:pPr>
            <a:r>
              <a:rPr lang="en-US" sz="1200" dirty="0">
                <a:solidFill>
                  <a:srgbClr val="8B949E"/>
                </a:solidFill>
                <a:latin typeface="Segoe UI" pitchFamily="34" charset="0"/>
                <a:ea typeface="Segoe UI" pitchFamily="34" charset="-122"/>
                <a:cs typeface="Segoe UI" pitchFamily="34" charset="-120"/>
              </a:rPr>
              <a:t>change business state</a:t>
            </a:r>
            <a:endParaRPr lang="en-US" sz="1200" dirty="0"/>
          </a:p>
        </p:txBody>
      </p:sp>
      <p:sp>
        <p:nvSpPr>
          <p:cNvPr id="16" name="Shape 14"/>
          <p:cNvSpPr/>
          <p:nvPr/>
        </p:nvSpPr>
        <p:spPr>
          <a:xfrm>
            <a:off x="731520" y="5669280"/>
            <a:ext cx="54864" cy="411480"/>
          </a:xfrm>
          <a:prstGeom prst="rect">
            <a:avLst/>
          </a:prstGeom>
          <a:solidFill>
            <a:srgbClr val="3FB950"/>
          </a:solidFill>
          <a:ln/>
        </p:spPr>
        <p:txBody>
          <a:bodyPr/>
          <a:lstStyle/>
          <a:p>
            <a:endParaRPr lang="en-GB"/>
          </a:p>
        </p:txBody>
      </p:sp>
      <p:sp>
        <p:nvSpPr>
          <p:cNvPr id="17" name="Text 15"/>
          <p:cNvSpPr/>
          <p:nvPr/>
        </p:nvSpPr>
        <p:spPr>
          <a:xfrm>
            <a:off x="960120" y="5669280"/>
            <a:ext cx="10497312" cy="411480"/>
          </a:xfrm>
          <a:prstGeom prst="rect">
            <a:avLst/>
          </a:prstGeom>
          <a:noFill/>
          <a:ln/>
        </p:spPr>
        <p:txBody>
          <a:bodyPr wrap="square" rtlCol="0" anchor="ctr"/>
          <a:lstStyle/>
          <a:p>
            <a:pPr marL="0" indent="0">
              <a:buNone/>
            </a:pPr>
            <a:r>
              <a:rPr lang="en-US" sz="1400" b="1" i="1" dirty="0">
                <a:solidFill>
                  <a:srgbClr val="3FB950"/>
                </a:solidFill>
                <a:latin typeface="Segoe UI" pitchFamily="34" charset="0"/>
                <a:ea typeface="Segoe UI" pitchFamily="34" charset="-122"/>
                <a:cs typeface="Segoe UI" pitchFamily="34" charset="-120"/>
              </a:rPr>
              <a:t>A chatbot is an application architecture with data, instruction, and action control planes.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594360"/>
            <a:ext cx="11091672" cy="502920"/>
          </a:xfrm>
          <a:prstGeom prst="rect">
            <a:avLst/>
          </a:prstGeom>
          <a:noFill/>
          <a:ln/>
        </p:spPr>
        <p:txBody>
          <a:bodyPr wrap="square" rtlCol="0" anchor="ctr"/>
          <a:lstStyle/>
          <a:p>
            <a:pPr marL="0" indent="0">
              <a:buNone/>
            </a:pPr>
            <a:r>
              <a:rPr lang="en-US" sz="2400" dirty="0">
                <a:solidFill>
                  <a:srgbClr val="8B949E"/>
                </a:solidFill>
                <a:latin typeface="Consolas" pitchFamily="34" charset="0"/>
                <a:ea typeface="Consolas" pitchFamily="34" charset="-122"/>
                <a:cs typeface="Consolas" pitchFamily="34" charset="-120"/>
              </a:rPr>
              <a:t>&gt; </a:t>
            </a:r>
            <a:r>
              <a:rPr lang="en-US" sz="2200" b="1" dirty="0">
                <a:solidFill>
                  <a:srgbClr val="58A6FF"/>
                </a:solidFill>
                <a:latin typeface="Consolas" pitchFamily="34" charset="0"/>
                <a:ea typeface="Consolas" pitchFamily="34" charset="-122"/>
                <a:cs typeface="Consolas" pitchFamily="34" charset="-120"/>
              </a:rPr>
              <a:t>What are the threats for a chatbot?</a:t>
            </a:r>
            <a:endParaRPr lang="en-US" sz="2400" dirty="0"/>
          </a:p>
        </p:txBody>
      </p:sp>
      <p:sp>
        <p:nvSpPr>
          <p:cNvPr id="3" name="Shape 1"/>
          <p:cNvSpPr/>
          <p:nvPr/>
        </p:nvSpPr>
        <p:spPr>
          <a:xfrm>
            <a:off x="548640" y="1143000"/>
            <a:ext cx="11091672" cy="13716"/>
          </a:xfrm>
          <a:prstGeom prst="rect">
            <a:avLst/>
          </a:prstGeom>
          <a:solidFill>
            <a:srgbClr val="30363D"/>
          </a:solidFill>
          <a:ln/>
        </p:spPr>
        <p:txBody>
          <a:bodyPr/>
          <a:lstStyle/>
          <a:p>
            <a:endParaRPr lang="en-GB"/>
          </a:p>
        </p:txBody>
      </p:sp>
      <p:sp>
        <p:nvSpPr>
          <p:cNvPr id="4" name="Text 2"/>
          <p:cNvSpPr/>
          <p:nvPr/>
        </p:nvSpPr>
        <p:spPr>
          <a:xfrm>
            <a:off x="10972800" y="6446520"/>
            <a:ext cx="731520" cy="274320"/>
          </a:xfrm>
          <a:prstGeom prst="rect">
            <a:avLst/>
          </a:prstGeom>
          <a:noFill/>
          <a:ln/>
        </p:spPr>
        <p:txBody>
          <a:bodyPr wrap="square" rtlCol="0" anchor="ctr"/>
          <a:lstStyle/>
          <a:p>
            <a:pPr marL="0" indent="0" algn="r">
              <a:buNone/>
            </a:pPr>
            <a:r>
              <a:rPr lang="en-US" sz="1000" dirty="0">
                <a:solidFill>
                  <a:srgbClr val="8B949E"/>
                </a:solidFill>
                <a:latin typeface="Consolas" pitchFamily="34" charset="0"/>
                <a:ea typeface="Consolas" pitchFamily="34" charset="-122"/>
                <a:cs typeface="Consolas" pitchFamily="34" charset="-120"/>
              </a:rPr>
              <a:t>3</a:t>
            </a:r>
            <a:endParaRPr lang="en-US" sz="1000" dirty="0"/>
          </a:p>
        </p:txBody>
      </p:sp>
      <p:sp>
        <p:nvSpPr>
          <p:cNvPr id="5" name="Shape 3"/>
          <p:cNvSpPr/>
          <p:nvPr/>
        </p:nvSpPr>
        <p:spPr>
          <a:xfrm>
            <a:off x="548640" y="1325880"/>
            <a:ext cx="11091672" cy="5074920"/>
          </a:xfrm>
          <a:prstGeom prst="roundRect">
            <a:avLst>
              <a:gd name="adj" fmla="val 2162"/>
            </a:avLst>
          </a:prstGeom>
          <a:solidFill>
            <a:srgbClr val="161B22"/>
          </a:solidFill>
          <a:ln w="9525">
            <a:solidFill>
              <a:srgbClr val="30363D"/>
            </a:solidFill>
            <a:prstDash val="solid"/>
          </a:ln>
        </p:spPr>
        <p:txBody>
          <a:bodyPr/>
          <a:lstStyle/>
          <a:p>
            <a:endParaRPr lang="en-GB"/>
          </a:p>
        </p:txBody>
      </p:sp>
      <p:sp>
        <p:nvSpPr>
          <p:cNvPr id="6" name="Shape 4"/>
          <p:cNvSpPr/>
          <p:nvPr/>
        </p:nvSpPr>
        <p:spPr>
          <a:xfrm>
            <a:off x="914400" y="1645920"/>
            <a:ext cx="457200" cy="411480"/>
          </a:xfrm>
          <a:prstGeom prst="roundRect">
            <a:avLst>
              <a:gd name="adj" fmla="val 13333"/>
            </a:avLst>
          </a:prstGeom>
          <a:solidFill>
            <a:srgbClr val="58A6FF"/>
          </a:solidFill>
          <a:ln/>
        </p:spPr>
        <p:txBody>
          <a:bodyPr/>
          <a:lstStyle/>
          <a:p>
            <a:endParaRPr lang="en-GB"/>
          </a:p>
        </p:txBody>
      </p:sp>
      <p:sp>
        <p:nvSpPr>
          <p:cNvPr id="7" name="Text 5"/>
          <p:cNvSpPr/>
          <p:nvPr/>
        </p:nvSpPr>
        <p:spPr>
          <a:xfrm>
            <a:off x="914400" y="1645920"/>
            <a:ext cx="457200" cy="411480"/>
          </a:xfrm>
          <a:prstGeom prst="rect">
            <a:avLst/>
          </a:prstGeom>
          <a:noFill/>
          <a:ln/>
        </p:spPr>
        <p:txBody>
          <a:bodyPr wrap="square" rtlCol="0" anchor="ctr"/>
          <a:lstStyle/>
          <a:p>
            <a:pPr marL="0" indent="0" algn="ctr">
              <a:buNone/>
            </a:pPr>
            <a:r>
              <a:rPr lang="en-US" sz="1600" b="1" dirty="0">
                <a:solidFill>
                  <a:srgbClr val="0D1117"/>
                </a:solidFill>
                <a:latin typeface="Consolas" pitchFamily="34" charset="0"/>
                <a:ea typeface="Consolas" pitchFamily="34" charset="-122"/>
                <a:cs typeface="Consolas" pitchFamily="34" charset="-120"/>
              </a:rPr>
              <a:t>1</a:t>
            </a:r>
            <a:endParaRPr lang="en-US" sz="1600" dirty="0"/>
          </a:p>
        </p:txBody>
      </p:sp>
      <p:sp>
        <p:nvSpPr>
          <p:cNvPr id="8" name="Text 6"/>
          <p:cNvSpPr/>
          <p:nvPr/>
        </p:nvSpPr>
        <p:spPr>
          <a:xfrm>
            <a:off x="1554480" y="1645920"/>
            <a:ext cx="4572000" cy="411480"/>
          </a:xfrm>
          <a:prstGeom prst="rect">
            <a:avLst/>
          </a:prstGeom>
          <a:noFill/>
          <a:ln/>
        </p:spPr>
        <p:txBody>
          <a:bodyPr wrap="square" rtlCol="0" anchor="ctr"/>
          <a:lstStyle/>
          <a:p>
            <a:pPr marL="0" indent="0">
              <a:buNone/>
            </a:pPr>
            <a:r>
              <a:rPr lang="en-US" sz="1600" b="1" dirty="0">
                <a:solidFill>
                  <a:srgbClr val="E6EDF3"/>
                </a:solidFill>
                <a:latin typeface="Segoe UI" pitchFamily="34" charset="0"/>
                <a:ea typeface="Segoe UI" pitchFamily="34" charset="-122"/>
                <a:cs typeface="Segoe UI" pitchFamily="34" charset="-120"/>
              </a:rPr>
              <a:t>Where is sensitive data stored?</a:t>
            </a:r>
            <a:endParaRPr lang="en-US" sz="1600" dirty="0"/>
          </a:p>
        </p:txBody>
      </p:sp>
      <p:sp>
        <p:nvSpPr>
          <p:cNvPr id="9" name="Text 7"/>
          <p:cNvSpPr/>
          <p:nvPr/>
        </p:nvSpPr>
        <p:spPr>
          <a:xfrm>
            <a:off x="1554480" y="2029968"/>
            <a:ext cx="9144000" cy="365760"/>
          </a:xfrm>
          <a:prstGeom prst="rect">
            <a:avLst/>
          </a:prstGeom>
          <a:noFill/>
          <a:ln/>
        </p:spPr>
        <p:txBody>
          <a:bodyPr wrap="square" rtlCol="0" anchor="t"/>
          <a:lstStyle/>
          <a:p>
            <a:pPr marL="0" indent="0">
              <a:buNone/>
            </a:pPr>
            <a:r>
              <a:rPr lang="en-US" sz="1200" dirty="0">
                <a:solidFill>
                  <a:srgbClr val="8B949E"/>
                </a:solidFill>
                <a:latin typeface="Segoe UI" pitchFamily="34" charset="0"/>
                <a:ea typeface="Segoe UI" pitchFamily="34" charset="-122"/>
                <a:cs typeface="Segoe UI" pitchFamily="34" charset="-120"/>
              </a:rPr>
              <a:t>Weights, training data, docs, indexes, logs, prompts, memory</a:t>
            </a:r>
            <a:endParaRPr lang="en-US" sz="1200" dirty="0"/>
          </a:p>
        </p:txBody>
      </p:sp>
      <p:sp>
        <p:nvSpPr>
          <p:cNvPr id="10" name="Shape 8"/>
          <p:cNvSpPr/>
          <p:nvPr/>
        </p:nvSpPr>
        <p:spPr>
          <a:xfrm>
            <a:off x="914400" y="2697480"/>
            <a:ext cx="457200" cy="411480"/>
          </a:xfrm>
          <a:prstGeom prst="roundRect">
            <a:avLst>
              <a:gd name="adj" fmla="val 13333"/>
            </a:avLst>
          </a:prstGeom>
          <a:solidFill>
            <a:srgbClr val="58A6FF"/>
          </a:solidFill>
          <a:ln/>
        </p:spPr>
        <p:txBody>
          <a:bodyPr/>
          <a:lstStyle/>
          <a:p>
            <a:endParaRPr lang="en-GB"/>
          </a:p>
        </p:txBody>
      </p:sp>
      <p:sp>
        <p:nvSpPr>
          <p:cNvPr id="11" name="Text 9"/>
          <p:cNvSpPr/>
          <p:nvPr/>
        </p:nvSpPr>
        <p:spPr>
          <a:xfrm>
            <a:off x="914400" y="2697480"/>
            <a:ext cx="457200" cy="411480"/>
          </a:xfrm>
          <a:prstGeom prst="rect">
            <a:avLst/>
          </a:prstGeom>
          <a:noFill/>
          <a:ln/>
        </p:spPr>
        <p:txBody>
          <a:bodyPr wrap="square" rtlCol="0" anchor="ctr"/>
          <a:lstStyle/>
          <a:p>
            <a:pPr marL="0" indent="0" algn="ctr">
              <a:buNone/>
            </a:pPr>
            <a:r>
              <a:rPr lang="en-US" sz="1600" b="1" dirty="0">
                <a:solidFill>
                  <a:srgbClr val="0D1117"/>
                </a:solidFill>
                <a:latin typeface="Consolas" pitchFamily="34" charset="0"/>
                <a:ea typeface="Consolas" pitchFamily="34" charset="-122"/>
                <a:cs typeface="Consolas" pitchFamily="34" charset="-120"/>
              </a:rPr>
              <a:t>2</a:t>
            </a:r>
            <a:endParaRPr lang="en-US" sz="1600" dirty="0"/>
          </a:p>
        </p:txBody>
      </p:sp>
      <p:sp>
        <p:nvSpPr>
          <p:cNvPr id="12" name="Text 10"/>
          <p:cNvSpPr/>
          <p:nvPr/>
        </p:nvSpPr>
        <p:spPr>
          <a:xfrm>
            <a:off x="1554480" y="2697480"/>
            <a:ext cx="4572000" cy="411480"/>
          </a:xfrm>
          <a:prstGeom prst="rect">
            <a:avLst/>
          </a:prstGeom>
          <a:noFill/>
          <a:ln/>
        </p:spPr>
        <p:txBody>
          <a:bodyPr wrap="square" rtlCol="0" anchor="ctr"/>
          <a:lstStyle/>
          <a:p>
            <a:pPr marL="0" indent="0">
              <a:buNone/>
            </a:pPr>
            <a:r>
              <a:rPr lang="en-US" sz="1600" b="1" dirty="0">
                <a:solidFill>
                  <a:srgbClr val="E6EDF3"/>
                </a:solidFill>
                <a:latin typeface="Segoe UI" pitchFamily="34" charset="0"/>
                <a:ea typeface="Segoe UI" pitchFamily="34" charset="-122"/>
                <a:cs typeface="Segoe UI" pitchFamily="34" charset="-120"/>
              </a:rPr>
              <a:t>How does it enter context?</a:t>
            </a:r>
            <a:endParaRPr lang="en-US" sz="1600" dirty="0"/>
          </a:p>
        </p:txBody>
      </p:sp>
      <p:sp>
        <p:nvSpPr>
          <p:cNvPr id="13" name="Text 11"/>
          <p:cNvSpPr/>
          <p:nvPr/>
        </p:nvSpPr>
        <p:spPr>
          <a:xfrm>
            <a:off x="1554480" y="3081528"/>
            <a:ext cx="9144000" cy="365760"/>
          </a:xfrm>
          <a:prstGeom prst="rect">
            <a:avLst/>
          </a:prstGeom>
          <a:noFill/>
          <a:ln/>
        </p:spPr>
        <p:txBody>
          <a:bodyPr wrap="square" rtlCol="0" anchor="t"/>
          <a:lstStyle/>
          <a:p>
            <a:pPr marL="0" indent="0">
              <a:buNone/>
            </a:pPr>
            <a:r>
              <a:rPr lang="en-US" sz="1200" dirty="0">
                <a:solidFill>
                  <a:srgbClr val="8B949E"/>
                </a:solidFill>
                <a:latin typeface="Segoe UI" pitchFamily="34" charset="0"/>
                <a:ea typeface="Segoe UI" pitchFamily="34" charset="-122"/>
                <a:cs typeface="Segoe UI" pitchFamily="34" charset="-120"/>
              </a:rPr>
              <a:t>User prompt, system prompt, retrieved docs, history, tool results</a:t>
            </a:r>
            <a:endParaRPr lang="en-US" sz="1200" dirty="0"/>
          </a:p>
        </p:txBody>
      </p:sp>
      <p:sp>
        <p:nvSpPr>
          <p:cNvPr id="14" name="Shape 12"/>
          <p:cNvSpPr/>
          <p:nvPr/>
        </p:nvSpPr>
        <p:spPr>
          <a:xfrm>
            <a:off x="914400" y="3749040"/>
            <a:ext cx="457200" cy="411480"/>
          </a:xfrm>
          <a:prstGeom prst="roundRect">
            <a:avLst>
              <a:gd name="adj" fmla="val 13333"/>
            </a:avLst>
          </a:prstGeom>
          <a:solidFill>
            <a:srgbClr val="58A6FF"/>
          </a:solidFill>
          <a:ln/>
        </p:spPr>
        <p:txBody>
          <a:bodyPr/>
          <a:lstStyle/>
          <a:p>
            <a:endParaRPr lang="en-GB"/>
          </a:p>
        </p:txBody>
      </p:sp>
      <p:sp>
        <p:nvSpPr>
          <p:cNvPr id="15" name="Text 13"/>
          <p:cNvSpPr/>
          <p:nvPr/>
        </p:nvSpPr>
        <p:spPr>
          <a:xfrm>
            <a:off x="914400" y="3749040"/>
            <a:ext cx="457200" cy="411480"/>
          </a:xfrm>
          <a:prstGeom prst="rect">
            <a:avLst/>
          </a:prstGeom>
          <a:noFill/>
          <a:ln/>
        </p:spPr>
        <p:txBody>
          <a:bodyPr wrap="square" rtlCol="0" anchor="ctr"/>
          <a:lstStyle/>
          <a:p>
            <a:pPr marL="0" indent="0" algn="ctr">
              <a:buNone/>
            </a:pPr>
            <a:r>
              <a:rPr lang="en-US" sz="1600" b="1" dirty="0">
                <a:solidFill>
                  <a:srgbClr val="0D1117"/>
                </a:solidFill>
                <a:latin typeface="Consolas" pitchFamily="34" charset="0"/>
                <a:ea typeface="Consolas" pitchFamily="34" charset="-122"/>
                <a:cs typeface="Consolas" pitchFamily="34" charset="-120"/>
              </a:rPr>
              <a:t>3</a:t>
            </a:r>
            <a:endParaRPr lang="en-US" sz="1600" dirty="0"/>
          </a:p>
        </p:txBody>
      </p:sp>
      <p:sp>
        <p:nvSpPr>
          <p:cNvPr id="16" name="Text 14"/>
          <p:cNvSpPr/>
          <p:nvPr/>
        </p:nvSpPr>
        <p:spPr>
          <a:xfrm>
            <a:off x="1554480" y="3749040"/>
            <a:ext cx="4572000" cy="411480"/>
          </a:xfrm>
          <a:prstGeom prst="rect">
            <a:avLst/>
          </a:prstGeom>
          <a:noFill/>
          <a:ln/>
        </p:spPr>
        <p:txBody>
          <a:bodyPr wrap="square" rtlCol="0" anchor="ctr"/>
          <a:lstStyle/>
          <a:p>
            <a:pPr marL="0" indent="0">
              <a:buNone/>
            </a:pPr>
            <a:r>
              <a:rPr lang="en-US" sz="1600" b="1" dirty="0">
                <a:solidFill>
                  <a:srgbClr val="E6EDF3"/>
                </a:solidFill>
                <a:latin typeface="Segoe UI" pitchFamily="34" charset="0"/>
                <a:ea typeface="Segoe UI" pitchFamily="34" charset="-122"/>
                <a:cs typeface="Segoe UI" pitchFamily="34" charset="-120"/>
              </a:rPr>
              <a:t>Who controls instructions?</a:t>
            </a:r>
            <a:endParaRPr lang="en-US" sz="1600" dirty="0"/>
          </a:p>
        </p:txBody>
      </p:sp>
      <p:sp>
        <p:nvSpPr>
          <p:cNvPr id="17" name="Text 15"/>
          <p:cNvSpPr/>
          <p:nvPr/>
        </p:nvSpPr>
        <p:spPr>
          <a:xfrm>
            <a:off x="1554480" y="4133088"/>
            <a:ext cx="9144000" cy="365760"/>
          </a:xfrm>
          <a:prstGeom prst="rect">
            <a:avLst/>
          </a:prstGeom>
          <a:noFill/>
          <a:ln/>
        </p:spPr>
        <p:txBody>
          <a:bodyPr wrap="square" rtlCol="0" anchor="t"/>
          <a:lstStyle/>
          <a:p>
            <a:pPr marL="0" indent="0">
              <a:buNone/>
            </a:pPr>
            <a:r>
              <a:rPr lang="en-US" sz="1200" dirty="0">
                <a:solidFill>
                  <a:srgbClr val="8B949E"/>
                </a:solidFill>
                <a:latin typeface="Segoe UI" pitchFamily="34" charset="0"/>
                <a:ea typeface="Segoe UI" pitchFamily="34" charset="-122"/>
                <a:cs typeface="Segoe UI" pitchFamily="34" charset="-120"/>
              </a:rPr>
              <a:t>User prompts, but also documents, tickets, web pages retrieved later</a:t>
            </a:r>
            <a:endParaRPr lang="en-US" sz="1200" dirty="0"/>
          </a:p>
        </p:txBody>
      </p:sp>
      <p:sp>
        <p:nvSpPr>
          <p:cNvPr id="18" name="Shape 16"/>
          <p:cNvSpPr/>
          <p:nvPr/>
        </p:nvSpPr>
        <p:spPr>
          <a:xfrm>
            <a:off x="914400" y="4800600"/>
            <a:ext cx="457200" cy="411480"/>
          </a:xfrm>
          <a:prstGeom prst="roundRect">
            <a:avLst>
              <a:gd name="adj" fmla="val 13333"/>
            </a:avLst>
          </a:prstGeom>
          <a:solidFill>
            <a:srgbClr val="58A6FF"/>
          </a:solidFill>
          <a:ln/>
        </p:spPr>
        <p:txBody>
          <a:bodyPr/>
          <a:lstStyle/>
          <a:p>
            <a:endParaRPr lang="en-GB"/>
          </a:p>
        </p:txBody>
      </p:sp>
      <p:sp>
        <p:nvSpPr>
          <p:cNvPr id="19" name="Text 17"/>
          <p:cNvSpPr/>
          <p:nvPr/>
        </p:nvSpPr>
        <p:spPr>
          <a:xfrm>
            <a:off x="914400" y="4800600"/>
            <a:ext cx="457200" cy="411480"/>
          </a:xfrm>
          <a:prstGeom prst="rect">
            <a:avLst/>
          </a:prstGeom>
          <a:noFill/>
          <a:ln/>
        </p:spPr>
        <p:txBody>
          <a:bodyPr wrap="square" rtlCol="0" anchor="ctr"/>
          <a:lstStyle/>
          <a:p>
            <a:pPr marL="0" indent="0" algn="ctr">
              <a:buNone/>
            </a:pPr>
            <a:r>
              <a:rPr lang="en-US" sz="1600" b="1" dirty="0">
                <a:solidFill>
                  <a:srgbClr val="0D1117"/>
                </a:solidFill>
                <a:latin typeface="Consolas" pitchFamily="34" charset="0"/>
                <a:ea typeface="Consolas" pitchFamily="34" charset="-122"/>
                <a:cs typeface="Consolas" pitchFamily="34" charset="-120"/>
              </a:rPr>
              <a:t>4</a:t>
            </a:r>
            <a:endParaRPr lang="en-US" sz="1600" dirty="0"/>
          </a:p>
        </p:txBody>
      </p:sp>
      <p:sp>
        <p:nvSpPr>
          <p:cNvPr id="20" name="Text 18"/>
          <p:cNvSpPr/>
          <p:nvPr/>
        </p:nvSpPr>
        <p:spPr>
          <a:xfrm>
            <a:off x="1554480" y="4800600"/>
            <a:ext cx="4572000" cy="411480"/>
          </a:xfrm>
          <a:prstGeom prst="rect">
            <a:avLst/>
          </a:prstGeom>
          <a:noFill/>
          <a:ln/>
        </p:spPr>
        <p:txBody>
          <a:bodyPr wrap="square" rtlCol="0" anchor="ctr"/>
          <a:lstStyle/>
          <a:p>
            <a:pPr marL="0" indent="0">
              <a:buNone/>
            </a:pPr>
            <a:r>
              <a:rPr lang="en-US" sz="1600" b="1" dirty="0">
                <a:solidFill>
                  <a:srgbClr val="E6EDF3"/>
                </a:solidFill>
                <a:latin typeface="Segoe UI" pitchFamily="34" charset="0"/>
                <a:ea typeface="Segoe UI" pitchFamily="34" charset="-122"/>
                <a:cs typeface="Segoe UI" pitchFamily="34" charset="-120"/>
              </a:rPr>
              <a:t>What can the bot do?</a:t>
            </a:r>
            <a:endParaRPr lang="en-US" sz="1600" dirty="0"/>
          </a:p>
        </p:txBody>
      </p:sp>
      <p:sp>
        <p:nvSpPr>
          <p:cNvPr id="21" name="Text 19"/>
          <p:cNvSpPr/>
          <p:nvPr/>
        </p:nvSpPr>
        <p:spPr>
          <a:xfrm>
            <a:off x="1554480" y="5184648"/>
            <a:ext cx="9144000" cy="365760"/>
          </a:xfrm>
          <a:prstGeom prst="rect">
            <a:avLst/>
          </a:prstGeom>
          <a:noFill/>
          <a:ln/>
        </p:spPr>
        <p:txBody>
          <a:bodyPr wrap="square" rtlCol="0" anchor="t"/>
          <a:lstStyle/>
          <a:p>
            <a:pPr marL="0" indent="0">
              <a:buNone/>
            </a:pPr>
            <a:r>
              <a:rPr lang="en-US" sz="1200" dirty="0">
                <a:solidFill>
                  <a:srgbClr val="8B949E"/>
                </a:solidFill>
                <a:latin typeface="Segoe UI" pitchFamily="34" charset="0"/>
                <a:ea typeface="Segoe UI" pitchFamily="34" charset="-122"/>
                <a:cs typeface="Segoe UI" pitchFamily="34" charset="-120"/>
              </a:rPr>
              <a:t>Answer only vs. create tickets, update records, send emails, run code</a:t>
            </a:r>
            <a:endParaRPr lang="en-US" sz="1200" dirty="0"/>
          </a:p>
        </p:txBody>
      </p:sp>
      <p:sp>
        <p:nvSpPr>
          <p:cNvPr id="22" name="Shape 20"/>
          <p:cNvSpPr/>
          <p:nvPr/>
        </p:nvSpPr>
        <p:spPr>
          <a:xfrm>
            <a:off x="731520" y="5669280"/>
            <a:ext cx="54864" cy="411480"/>
          </a:xfrm>
          <a:prstGeom prst="rect">
            <a:avLst/>
          </a:prstGeom>
          <a:solidFill>
            <a:srgbClr val="3FB950"/>
          </a:solidFill>
          <a:ln/>
        </p:spPr>
        <p:txBody>
          <a:bodyPr/>
          <a:lstStyle/>
          <a:p>
            <a:endParaRPr lang="en-GB"/>
          </a:p>
        </p:txBody>
      </p:sp>
      <p:sp>
        <p:nvSpPr>
          <p:cNvPr id="23" name="Text 21"/>
          <p:cNvSpPr/>
          <p:nvPr/>
        </p:nvSpPr>
        <p:spPr>
          <a:xfrm>
            <a:off x="960120" y="5669280"/>
            <a:ext cx="10497312" cy="411480"/>
          </a:xfrm>
          <a:prstGeom prst="rect">
            <a:avLst/>
          </a:prstGeom>
          <a:noFill/>
          <a:ln/>
        </p:spPr>
        <p:txBody>
          <a:bodyPr wrap="square" rtlCol="0" anchor="ctr"/>
          <a:lstStyle/>
          <a:p>
            <a:pPr marL="0" indent="0">
              <a:buNone/>
            </a:pPr>
            <a:r>
              <a:rPr lang="en-US" sz="1400" b="1" i="1" dirty="0">
                <a:solidFill>
                  <a:srgbClr val="3FB950"/>
                </a:solidFill>
                <a:latin typeface="Segoe UI" pitchFamily="34" charset="0"/>
                <a:ea typeface="Segoe UI" pitchFamily="34" charset="-122"/>
                <a:cs typeface="Segoe UI" pitchFamily="34" charset="-120"/>
              </a:rPr>
              <a:t>The threat model changes whenever data placement, instruction authority, or action authority changes.</a:t>
            </a:r>
            <a:endParaRPr lang="en-US" sz="1400" dirty="0"/>
          </a:p>
        </p:txBody>
      </p:sp>
      <p:sp>
        <p:nvSpPr>
          <p:cNvPr id="24" name="Text 22"/>
          <p:cNvSpPr/>
          <p:nvPr/>
        </p:nvSpPr>
        <p:spPr>
          <a:xfrm>
            <a:off x="8686800" y="6263640"/>
            <a:ext cx="2926080" cy="228600"/>
          </a:xfrm>
          <a:prstGeom prst="rect">
            <a:avLst/>
          </a:prstGeom>
          <a:noFill/>
          <a:ln/>
        </p:spPr>
        <p:txBody>
          <a:bodyPr wrap="square"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OWASP Top 10 for LLM Applications 2025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594360"/>
            <a:ext cx="11091672" cy="502920"/>
          </a:xfrm>
          <a:prstGeom prst="rect">
            <a:avLst/>
          </a:prstGeom>
          <a:noFill/>
          <a:ln/>
        </p:spPr>
        <p:txBody>
          <a:bodyPr wrap="square" rtlCol="0" anchor="ctr"/>
          <a:lstStyle/>
          <a:p>
            <a:pPr marL="0" indent="0">
              <a:buNone/>
            </a:pPr>
            <a:r>
              <a:rPr lang="en-US" sz="2400" dirty="0">
                <a:solidFill>
                  <a:srgbClr val="8B949E"/>
                </a:solidFill>
                <a:latin typeface="Consolas" pitchFamily="34" charset="0"/>
                <a:ea typeface="Consolas" pitchFamily="34" charset="-122"/>
                <a:cs typeface="Consolas" pitchFamily="34" charset="-120"/>
              </a:rPr>
              <a:t>&gt; </a:t>
            </a:r>
            <a:r>
              <a:rPr lang="en-US" sz="2200" b="1" dirty="0">
                <a:solidFill>
                  <a:srgbClr val="58A6FF"/>
                </a:solidFill>
                <a:latin typeface="Consolas" pitchFamily="34" charset="0"/>
                <a:ea typeface="Consolas" pitchFamily="34" charset="-122"/>
                <a:cs typeface="Consolas" pitchFamily="34" charset="-120"/>
              </a:rPr>
              <a:t>How chatbots evolve?</a:t>
            </a:r>
            <a:endParaRPr lang="en-US" sz="2400" dirty="0"/>
          </a:p>
        </p:txBody>
      </p:sp>
      <p:sp>
        <p:nvSpPr>
          <p:cNvPr id="3" name="Shape 1"/>
          <p:cNvSpPr/>
          <p:nvPr/>
        </p:nvSpPr>
        <p:spPr>
          <a:xfrm>
            <a:off x="548640" y="1143000"/>
            <a:ext cx="11091672" cy="13716"/>
          </a:xfrm>
          <a:prstGeom prst="rect">
            <a:avLst/>
          </a:prstGeom>
          <a:solidFill>
            <a:srgbClr val="30363D"/>
          </a:solidFill>
          <a:ln/>
        </p:spPr>
        <p:txBody>
          <a:bodyPr/>
          <a:lstStyle/>
          <a:p>
            <a:endParaRPr lang="en-GB"/>
          </a:p>
        </p:txBody>
      </p:sp>
      <p:sp>
        <p:nvSpPr>
          <p:cNvPr id="4" name="Text 2"/>
          <p:cNvSpPr/>
          <p:nvPr/>
        </p:nvSpPr>
        <p:spPr>
          <a:xfrm>
            <a:off x="10972800" y="6446520"/>
            <a:ext cx="731520" cy="274320"/>
          </a:xfrm>
          <a:prstGeom prst="rect">
            <a:avLst/>
          </a:prstGeom>
          <a:noFill/>
          <a:ln/>
        </p:spPr>
        <p:txBody>
          <a:bodyPr wrap="square" rtlCol="0" anchor="ctr"/>
          <a:lstStyle/>
          <a:p>
            <a:pPr marL="0" indent="0" algn="r">
              <a:buNone/>
            </a:pPr>
            <a:r>
              <a:rPr lang="en-US" sz="1000" dirty="0">
                <a:solidFill>
                  <a:srgbClr val="8B949E"/>
                </a:solidFill>
                <a:latin typeface="Consolas" pitchFamily="34" charset="0"/>
                <a:ea typeface="Consolas" pitchFamily="34" charset="-122"/>
                <a:cs typeface="Consolas" pitchFamily="34" charset="-120"/>
              </a:rPr>
              <a:t>4</a:t>
            </a:r>
            <a:endParaRPr lang="en-US" sz="1000" dirty="0"/>
          </a:p>
        </p:txBody>
      </p:sp>
      <p:sp>
        <p:nvSpPr>
          <p:cNvPr id="5" name="Shape 3"/>
          <p:cNvSpPr/>
          <p:nvPr/>
        </p:nvSpPr>
        <p:spPr>
          <a:xfrm>
            <a:off x="548640" y="1325880"/>
            <a:ext cx="11091672" cy="5074920"/>
          </a:xfrm>
          <a:prstGeom prst="roundRect">
            <a:avLst>
              <a:gd name="adj" fmla="val 2162"/>
            </a:avLst>
          </a:prstGeom>
          <a:solidFill>
            <a:srgbClr val="161B22"/>
          </a:solidFill>
          <a:ln w="9525">
            <a:solidFill>
              <a:srgbClr val="30363D"/>
            </a:solidFill>
            <a:prstDash val="solid"/>
          </a:ln>
        </p:spPr>
        <p:txBody>
          <a:bodyPr/>
          <a:lstStyle/>
          <a:p>
            <a:endParaRPr lang="en-GB"/>
          </a:p>
        </p:txBody>
      </p:sp>
      <p:sp>
        <p:nvSpPr>
          <p:cNvPr id="6" name="Shape 4"/>
          <p:cNvSpPr/>
          <p:nvPr/>
        </p:nvSpPr>
        <p:spPr>
          <a:xfrm>
            <a:off x="1005840" y="2560320"/>
            <a:ext cx="10177272" cy="36576"/>
          </a:xfrm>
          <a:prstGeom prst="rect">
            <a:avLst/>
          </a:prstGeom>
          <a:solidFill>
            <a:srgbClr val="30363D"/>
          </a:solidFill>
          <a:ln/>
        </p:spPr>
        <p:txBody>
          <a:bodyPr/>
          <a:lstStyle/>
          <a:p>
            <a:endParaRPr lang="en-GB"/>
          </a:p>
        </p:txBody>
      </p:sp>
      <p:sp>
        <p:nvSpPr>
          <p:cNvPr id="7" name="Shape 5"/>
          <p:cNvSpPr/>
          <p:nvPr/>
        </p:nvSpPr>
        <p:spPr>
          <a:xfrm>
            <a:off x="2057400" y="2450592"/>
            <a:ext cx="201168" cy="201168"/>
          </a:xfrm>
          <a:prstGeom prst="ellipse">
            <a:avLst/>
          </a:prstGeom>
          <a:solidFill>
            <a:srgbClr val="58A6FF"/>
          </a:solidFill>
          <a:ln/>
        </p:spPr>
        <p:txBody>
          <a:bodyPr/>
          <a:lstStyle/>
          <a:p>
            <a:endParaRPr lang="en-GB"/>
          </a:p>
        </p:txBody>
      </p:sp>
      <p:sp>
        <p:nvSpPr>
          <p:cNvPr id="8" name="Shape 6"/>
          <p:cNvSpPr/>
          <p:nvPr/>
        </p:nvSpPr>
        <p:spPr>
          <a:xfrm>
            <a:off x="1005840" y="2880360"/>
            <a:ext cx="2286000" cy="2194560"/>
          </a:xfrm>
          <a:prstGeom prst="roundRect">
            <a:avLst>
              <a:gd name="adj" fmla="val 3333"/>
            </a:avLst>
          </a:prstGeom>
          <a:solidFill>
            <a:srgbClr val="161B22"/>
          </a:solidFill>
          <a:ln w="12700">
            <a:solidFill>
              <a:srgbClr val="58A6FF"/>
            </a:solidFill>
            <a:prstDash val="solid"/>
          </a:ln>
        </p:spPr>
        <p:txBody>
          <a:bodyPr/>
          <a:lstStyle/>
          <a:p>
            <a:endParaRPr lang="en-GB"/>
          </a:p>
        </p:txBody>
      </p:sp>
      <p:sp>
        <p:nvSpPr>
          <p:cNvPr id="9" name="Text 7"/>
          <p:cNvSpPr/>
          <p:nvPr/>
        </p:nvSpPr>
        <p:spPr>
          <a:xfrm>
            <a:off x="1005840" y="2971800"/>
            <a:ext cx="2286000" cy="320040"/>
          </a:xfrm>
          <a:prstGeom prst="rect">
            <a:avLst/>
          </a:prstGeom>
          <a:noFill/>
          <a:ln/>
        </p:spPr>
        <p:txBody>
          <a:bodyPr wrap="square" rtlCol="0" anchor="ctr"/>
          <a:lstStyle/>
          <a:p>
            <a:pPr marL="0" indent="0" algn="ctr">
              <a:buNone/>
            </a:pPr>
            <a:r>
              <a:rPr lang="en-US" sz="1000" dirty="0">
                <a:solidFill>
                  <a:srgbClr val="58A6FF"/>
                </a:solidFill>
                <a:latin typeface="Consolas" pitchFamily="34" charset="0"/>
                <a:ea typeface="Consolas" pitchFamily="34" charset="-122"/>
                <a:cs typeface="Consolas" pitchFamily="34" charset="-120"/>
              </a:rPr>
              <a:t>Stage 1</a:t>
            </a:r>
            <a:endParaRPr lang="en-US" sz="1000" dirty="0"/>
          </a:p>
        </p:txBody>
      </p:sp>
      <p:sp>
        <p:nvSpPr>
          <p:cNvPr id="10" name="Text 8"/>
          <p:cNvSpPr/>
          <p:nvPr/>
        </p:nvSpPr>
        <p:spPr>
          <a:xfrm>
            <a:off x="1143000" y="3291840"/>
            <a:ext cx="2011680" cy="640080"/>
          </a:xfrm>
          <a:prstGeom prst="rect">
            <a:avLst/>
          </a:prstGeom>
          <a:noFill/>
          <a:ln/>
        </p:spPr>
        <p:txBody>
          <a:bodyPr wrap="square" rtlCol="0" anchor="t"/>
          <a:lstStyle/>
          <a:p>
            <a:pPr marL="0" indent="0" algn="ctr">
              <a:buNone/>
            </a:pPr>
            <a:r>
              <a:rPr lang="en-US" sz="1400" b="1" dirty="0">
                <a:solidFill>
                  <a:srgbClr val="E6EDF3"/>
                </a:solidFill>
                <a:latin typeface="Segoe UI" pitchFamily="34" charset="0"/>
                <a:ea typeface="Segoe UI" pitchFamily="34" charset="-122"/>
                <a:cs typeface="Segoe UI" pitchFamily="34" charset="-120"/>
              </a:rPr>
              <a:t>Simple LLM API</a:t>
            </a:r>
            <a:endParaRPr lang="en-US" sz="1400" dirty="0"/>
          </a:p>
        </p:txBody>
      </p:sp>
      <p:sp>
        <p:nvSpPr>
          <p:cNvPr id="11" name="Text 9"/>
          <p:cNvSpPr/>
          <p:nvPr/>
        </p:nvSpPr>
        <p:spPr>
          <a:xfrm>
            <a:off x="1143000" y="3840480"/>
            <a:ext cx="2011680" cy="640080"/>
          </a:xfrm>
          <a:prstGeom prst="rect">
            <a:avLst/>
          </a:prstGeom>
          <a:noFill/>
          <a:ln/>
        </p:spPr>
        <p:txBody>
          <a:bodyPr wrap="square" rtlCol="0" anchor="t"/>
          <a:lstStyle/>
          <a:p>
            <a:pPr marL="0" indent="0" algn="ctr">
              <a:buNone/>
            </a:pPr>
            <a:r>
              <a:rPr lang="en-US" sz="1100" dirty="0">
                <a:solidFill>
                  <a:srgbClr val="8B949E"/>
                </a:solidFill>
                <a:latin typeface="Segoe UI" pitchFamily="34" charset="0"/>
                <a:ea typeface="Segoe UI" pitchFamily="34" charset="-122"/>
                <a:cs typeface="Segoe UI" pitchFamily="34" charset="-120"/>
              </a:rPr>
              <a:t>Base-model answers</a:t>
            </a:r>
            <a:endParaRPr lang="en-US" sz="1100" dirty="0"/>
          </a:p>
        </p:txBody>
      </p:sp>
      <p:sp>
        <p:nvSpPr>
          <p:cNvPr id="12" name="Shape 10"/>
          <p:cNvSpPr/>
          <p:nvPr/>
        </p:nvSpPr>
        <p:spPr>
          <a:xfrm>
            <a:off x="4687824" y="2450592"/>
            <a:ext cx="201168" cy="201168"/>
          </a:xfrm>
          <a:prstGeom prst="ellipse">
            <a:avLst/>
          </a:prstGeom>
          <a:solidFill>
            <a:srgbClr val="58A6FF"/>
          </a:solidFill>
          <a:ln/>
        </p:spPr>
        <p:txBody>
          <a:bodyPr/>
          <a:lstStyle/>
          <a:p>
            <a:endParaRPr lang="en-GB"/>
          </a:p>
        </p:txBody>
      </p:sp>
      <p:sp>
        <p:nvSpPr>
          <p:cNvPr id="13" name="Shape 11"/>
          <p:cNvSpPr/>
          <p:nvPr/>
        </p:nvSpPr>
        <p:spPr>
          <a:xfrm>
            <a:off x="3636264" y="2880360"/>
            <a:ext cx="2286000" cy="2194560"/>
          </a:xfrm>
          <a:prstGeom prst="roundRect">
            <a:avLst>
              <a:gd name="adj" fmla="val 3333"/>
            </a:avLst>
          </a:prstGeom>
          <a:solidFill>
            <a:srgbClr val="161B22"/>
          </a:solidFill>
          <a:ln w="12700">
            <a:solidFill>
              <a:srgbClr val="58A6FF"/>
            </a:solidFill>
            <a:prstDash val="solid"/>
          </a:ln>
        </p:spPr>
        <p:txBody>
          <a:bodyPr/>
          <a:lstStyle/>
          <a:p>
            <a:endParaRPr lang="en-GB"/>
          </a:p>
        </p:txBody>
      </p:sp>
      <p:sp>
        <p:nvSpPr>
          <p:cNvPr id="14" name="Text 12"/>
          <p:cNvSpPr/>
          <p:nvPr/>
        </p:nvSpPr>
        <p:spPr>
          <a:xfrm>
            <a:off x="3636264" y="2971800"/>
            <a:ext cx="2286000" cy="320040"/>
          </a:xfrm>
          <a:prstGeom prst="rect">
            <a:avLst/>
          </a:prstGeom>
          <a:noFill/>
          <a:ln/>
        </p:spPr>
        <p:txBody>
          <a:bodyPr wrap="square" rtlCol="0" anchor="ctr"/>
          <a:lstStyle/>
          <a:p>
            <a:pPr marL="0" indent="0" algn="ctr">
              <a:buNone/>
            </a:pPr>
            <a:r>
              <a:rPr lang="en-US" sz="1000" dirty="0">
                <a:solidFill>
                  <a:srgbClr val="58A6FF"/>
                </a:solidFill>
                <a:latin typeface="Consolas" pitchFamily="34" charset="0"/>
                <a:ea typeface="Consolas" pitchFamily="34" charset="-122"/>
                <a:cs typeface="Consolas" pitchFamily="34" charset="-120"/>
              </a:rPr>
              <a:t>Stage 1</a:t>
            </a:r>
            <a:endParaRPr lang="en-US" sz="1000" dirty="0"/>
          </a:p>
        </p:txBody>
      </p:sp>
      <p:sp>
        <p:nvSpPr>
          <p:cNvPr id="15" name="Text 13"/>
          <p:cNvSpPr/>
          <p:nvPr/>
        </p:nvSpPr>
        <p:spPr>
          <a:xfrm>
            <a:off x="3773424" y="3291840"/>
            <a:ext cx="2011680" cy="640080"/>
          </a:xfrm>
          <a:prstGeom prst="rect">
            <a:avLst/>
          </a:prstGeom>
          <a:noFill/>
          <a:ln/>
        </p:spPr>
        <p:txBody>
          <a:bodyPr wrap="square" rtlCol="0" anchor="t"/>
          <a:lstStyle/>
          <a:p>
            <a:pPr marL="0" indent="0" algn="ctr">
              <a:buNone/>
            </a:pPr>
            <a:r>
              <a:rPr lang="en-US" sz="1400" b="1" dirty="0">
                <a:solidFill>
                  <a:srgbClr val="E6EDF3"/>
                </a:solidFill>
                <a:latin typeface="Segoe UI" pitchFamily="34" charset="0"/>
                <a:ea typeface="Segoe UI" pitchFamily="34" charset="-122"/>
                <a:cs typeface="Segoe UI" pitchFamily="34" charset="-120"/>
              </a:rPr>
              <a:t>Training / Fine-Tuning</a:t>
            </a:r>
            <a:endParaRPr lang="en-US" sz="1400" dirty="0"/>
          </a:p>
        </p:txBody>
      </p:sp>
      <p:sp>
        <p:nvSpPr>
          <p:cNvPr id="16" name="Text 14"/>
          <p:cNvSpPr/>
          <p:nvPr/>
        </p:nvSpPr>
        <p:spPr>
          <a:xfrm>
            <a:off x="3773424" y="3840480"/>
            <a:ext cx="2011680" cy="640080"/>
          </a:xfrm>
          <a:prstGeom prst="rect">
            <a:avLst/>
          </a:prstGeom>
          <a:noFill/>
          <a:ln/>
        </p:spPr>
        <p:txBody>
          <a:bodyPr wrap="square" rtlCol="0" anchor="t"/>
          <a:lstStyle/>
          <a:p>
            <a:pPr marL="0" indent="0" algn="ctr">
              <a:buNone/>
            </a:pPr>
            <a:r>
              <a:rPr lang="en-US" sz="1100" dirty="0">
                <a:solidFill>
                  <a:srgbClr val="8B949E"/>
                </a:solidFill>
                <a:latin typeface="Segoe UI" pitchFamily="34" charset="0"/>
                <a:ea typeface="Segoe UI" pitchFamily="34" charset="-122"/>
                <a:cs typeface="Segoe UI" pitchFamily="34" charset="-120"/>
              </a:rPr>
              <a:t>Private prompts &amp;</a:t>
            </a:r>
            <a:endParaRPr lang="en-US" sz="1100" dirty="0"/>
          </a:p>
          <a:p>
            <a:pPr marL="0" indent="0" algn="ctr">
              <a:buNone/>
            </a:pPr>
            <a:r>
              <a:rPr lang="en-US" sz="1100" dirty="0">
                <a:solidFill>
                  <a:srgbClr val="8B949E"/>
                </a:solidFill>
                <a:latin typeface="Segoe UI" pitchFamily="34" charset="0"/>
                <a:ea typeface="Segoe UI" pitchFamily="34" charset="-122"/>
                <a:cs typeface="Segoe UI" pitchFamily="34" charset="-120"/>
              </a:rPr>
              <a:t>model knowledge</a:t>
            </a:r>
            <a:endParaRPr lang="en-US" sz="1100" dirty="0"/>
          </a:p>
        </p:txBody>
      </p:sp>
      <p:sp>
        <p:nvSpPr>
          <p:cNvPr id="17" name="Shape 15"/>
          <p:cNvSpPr/>
          <p:nvPr/>
        </p:nvSpPr>
        <p:spPr>
          <a:xfrm>
            <a:off x="7318248" y="2450592"/>
            <a:ext cx="201168" cy="201168"/>
          </a:xfrm>
          <a:prstGeom prst="ellipse">
            <a:avLst/>
          </a:prstGeom>
          <a:solidFill>
            <a:srgbClr val="D29922"/>
          </a:solidFill>
          <a:ln/>
        </p:spPr>
        <p:txBody>
          <a:bodyPr/>
          <a:lstStyle/>
          <a:p>
            <a:endParaRPr lang="en-GB"/>
          </a:p>
        </p:txBody>
      </p:sp>
      <p:sp>
        <p:nvSpPr>
          <p:cNvPr id="18" name="Shape 16"/>
          <p:cNvSpPr/>
          <p:nvPr/>
        </p:nvSpPr>
        <p:spPr>
          <a:xfrm>
            <a:off x="6266688" y="2880360"/>
            <a:ext cx="2286000" cy="2194560"/>
          </a:xfrm>
          <a:prstGeom prst="roundRect">
            <a:avLst>
              <a:gd name="adj" fmla="val 3333"/>
            </a:avLst>
          </a:prstGeom>
          <a:solidFill>
            <a:srgbClr val="161B22"/>
          </a:solidFill>
          <a:ln w="12700">
            <a:solidFill>
              <a:srgbClr val="D29922"/>
            </a:solidFill>
            <a:prstDash val="solid"/>
          </a:ln>
        </p:spPr>
        <p:txBody>
          <a:bodyPr/>
          <a:lstStyle/>
          <a:p>
            <a:endParaRPr lang="en-GB"/>
          </a:p>
        </p:txBody>
      </p:sp>
      <p:sp>
        <p:nvSpPr>
          <p:cNvPr id="19" name="Text 17"/>
          <p:cNvSpPr/>
          <p:nvPr/>
        </p:nvSpPr>
        <p:spPr>
          <a:xfrm>
            <a:off x="6266688" y="2971800"/>
            <a:ext cx="2286000" cy="320040"/>
          </a:xfrm>
          <a:prstGeom prst="rect">
            <a:avLst/>
          </a:prstGeom>
          <a:noFill/>
          <a:ln/>
        </p:spPr>
        <p:txBody>
          <a:bodyPr wrap="square" rtlCol="0" anchor="ctr"/>
          <a:lstStyle/>
          <a:p>
            <a:pPr marL="0" indent="0" algn="ctr">
              <a:buNone/>
            </a:pPr>
            <a:r>
              <a:rPr lang="en-US" sz="1000" dirty="0">
                <a:solidFill>
                  <a:srgbClr val="D29922"/>
                </a:solidFill>
                <a:latin typeface="Consolas" pitchFamily="34" charset="0"/>
                <a:ea typeface="Consolas" pitchFamily="34" charset="-122"/>
                <a:cs typeface="Consolas" pitchFamily="34" charset="-120"/>
              </a:rPr>
              <a:t>Stage 2</a:t>
            </a:r>
            <a:endParaRPr lang="en-US" sz="1000" dirty="0"/>
          </a:p>
        </p:txBody>
      </p:sp>
      <p:sp>
        <p:nvSpPr>
          <p:cNvPr id="20" name="Text 18"/>
          <p:cNvSpPr/>
          <p:nvPr/>
        </p:nvSpPr>
        <p:spPr>
          <a:xfrm>
            <a:off x="6403848" y="3291840"/>
            <a:ext cx="2011680" cy="640080"/>
          </a:xfrm>
          <a:prstGeom prst="rect">
            <a:avLst/>
          </a:prstGeom>
          <a:noFill/>
          <a:ln/>
        </p:spPr>
        <p:txBody>
          <a:bodyPr wrap="square" rtlCol="0" anchor="t"/>
          <a:lstStyle/>
          <a:p>
            <a:pPr marL="0" indent="0" algn="ctr">
              <a:buNone/>
            </a:pPr>
            <a:r>
              <a:rPr lang="en-US" sz="1400" b="1" dirty="0">
                <a:solidFill>
                  <a:srgbClr val="E6EDF3"/>
                </a:solidFill>
                <a:latin typeface="Segoe UI" pitchFamily="34" charset="0"/>
                <a:ea typeface="Segoe UI" pitchFamily="34" charset="-122"/>
                <a:cs typeface="Segoe UI" pitchFamily="34" charset="-120"/>
              </a:rPr>
              <a:t>Embeddings &amp; RAG</a:t>
            </a:r>
            <a:endParaRPr lang="en-US" sz="1400" dirty="0"/>
          </a:p>
        </p:txBody>
      </p:sp>
      <p:sp>
        <p:nvSpPr>
          <p:cNvPr id="21" name="Text 19"/>
          <p:cNvSpPr/>
          <p:nvPr/>
        </p:nvSpPr>
        <p:spPr>
          <a:xfrm>
            <a:off x="6403848" y="3840480"/>
            <a:ext cx="2011680" cy="640080"/>
          </a:xfrm>
          <a:prstGeom prst="rect">
            <a:avLst/>
          </a:prstGeom>
          <a:noFill/>
          <a:ln/>
        </p:spPr>
        <p:txBody>
          <a:bodyPr wrap="square" rtlCol="0" anchor="t"/>
          <a:lstStyle/>
          <a:p>
            <a:pPr marL="0" indent="0" algn="ctr">
              <a:buNone/>
            </a:pPr>
            <a:r>
              <a:rPr lang="en-US" sz="1100" dirty="0">
                <a:solidFill>
                  <a:srgbClr val="8B949E"/>
                </a:solidFill>
                <a:latin typeface="Segoe UI" pitchFamily="34" charset="0"/>
                <a:ea typeface="Segoe UI" pitchFamily="34" charset="-122"/>
                <a:cs typeface="Segoe UI" pitchFamily="34" charset="-120"/>
              </a:rPr>
              <a:t>Private knowledge</a:t>
            </a:r>
            <a:endParaRPr lang="en-US" sz="1100" dirty="0"/>
          </a:p>
          <a:p>
            <a:pPr marL="0" indent="0" algn="ctr">
              <a:buNone/>
            </a:pPr>
            <a:r>
              <a:rPr lang="en-US" sz="1100" dirty="0">
                <a:solidFill>
                  <a:srgbClr val="8B949E"/>
                </a:solidFill>
                <a:latin typeface="Segoe UI" pitchFamily="34" charset="0"/>
                <a:ea typeface="Segoe UI" pitchFamily="34" charset="-122"/>
                <a:cs typeface="Segoe UI" pitchFamily="34" charset="-120"/>
              </a:rPr>
              <a:t>in retrieval</a:t>
            </a:r>
            <a:endParaRPr lang="en-US" sz="1100" dirty="0"/>
          </a:p>
        </p:txBody>
      </p:sp>
      <p:sp>
        <p:nvSpPr>
          <p:cNvPr id="22" name="Shape 20"/>
          <p:cNvSpPr/>
          <p:nvPr/>
        </p:nvSpPr>
        <p:spPr>
          <a:xfrm>
            <a:off x="9948672" y="2450592"/>
            <a:ext cx="201168" cy="201168"/>
          </a:xfrm>
          <a:prstGeom prst="ellipse">
            <a:avLst/>
          </a:prstGeom>
          <a:solidFill>
            <a:srgbClr val="F85149"/>
          </a:solidFill>
          <a:ln/>
        </p:spPr>
        <p:txBody>
          <a:bodyPr/>
          <a:lstStyle/>
          <a:p>
            <a:endParaRPr lang="en-GB"/>
          </a:p>
        </p:txBody>
      </p:sp>
      <p:sp>
        <p:nvSpPr>
          <p:cNvPr id="23" name="Shape 21"/>
          <p:cNvSpPr/>
          <p:nvPr/>
        </p:nvSpPr>
        <p:spPr>
          <a:xfrm>
            <a:off x="8897112" y="2880360"/>
            <a:ext cx="2286000" cy="2194560"/>
          </a:xfrm>
          <a:prstGeom prst="roundRect">
            <a:avLst>
              <a:gd name="adj" fmla="val 3333"/>
            </a:avLst>
          </a:prstGeom>
          <a:solidFill>
            <a:srgbClr val="161B22"/>
          </a:solidFill>
          <a:ln w="12700">
            <a:solidFill>
              <a:srgbClr val="F85149"/>
            </a:solidFill>
            <a:prstDash val="solid"/>
          </a:ln>
        </p:spPr>
        <p:txBody>
          <a:bodyPr/>
          <a:lstStyle/>
          <a:p>
            <a:endParaRPr lang="en-GB"/>
          </a:p>
        </p:txBody>
      </p:sp>
      <p:sp>
        <p:nvSpPr>
          <p:cNvPr id="24" name="Text 22"/>
          <p:cNvSpPr/>
          <p:nvPr/>
        </p:nvSpPr>
        <p:spPr>
          <a:xfrm>
            <a:off x="8897112" y="2971800"/>
            <a:ext cx="2286000" cy="320040"/>
          </a:xfrm>
          <a:prstGeom prst="rect">
            <a:avLst/>
          </a:prstGeom>
          <a:noFill/>
          <a:ln/>
        </p:spPr>
        <p:txBody>
          <a:bodyPr wrap="square" rtlCol="0" anchor="ctr"/>
          <a:lstStyle/>
          <a:p>
            <a:pPr marL="0" indent="0" algn="ctr">
              <a:buNone/>
            </a:pPr>
            <a:r>
              <a:rPr lang="en-US" sz="1000" dirty="0">
                <a:solidFill>
                  <a:srgbClr val="F85149"/>
                </a:solidFill>
                <a:latin typeface="Consolas" pitchFamily="34" charset="0"/>
                <a:ea typeface="Consolas" pitchFamily="34" charset="-122"/>
                <a:cs typeface="Consolas" pitchFamily="34" charset="-120"/>
              </a:rPr>
              <a:t>Stage 3</a:t>
            </a:r>
            <a:endParaRPr lang="en-US" sz="1000" dirty="0"/>
          </a:p>
        </p:txBody>
      </p:sp>
      <p:sp>
        <p:nvSpPr>
          <p:cNvPr id="25" name="Text 23"/>
          <p:cNvSpPr/>
          <p:nvPr/>
        </p:nvSpPr>
        <p:spPr>
          <a:xfrm>
            <a:off x="9034272" y="3291840"/>
            <a:ext cx="2011680" cy="640080"/>
          </a:xfrm>
          <a:prstGeom prst="rect">
            <a:avLst/>
          </a:prstGeom>
          <a:noFill/>
          <a:ln/>
        </p:spPr>
        <p:txBody>
          <a:bodyPr wrap="square" rtlCol="0" anchor="t"/>
          <a:lstStyle/>
          <a:p>
            <a:pPr marL="0" indent="0" algn="ctr">
              <a:buNone/>
            </a:pPr>
            <a:r>
              <a:rPr lang="en-US" sz="1400" b="1" dirty="0">
                <a:solidFill>
                  <a:srgbClr val="E6EDF3"/>
                </a:solidFill>
                <a:latin typeface="Segoe UI" pitchFamily="34" charset="0"/>
                <a:ea typeface="Segoe UI" pitchFamily="34" charset="-122"/>
                <a:cs typeface="Segoe UI" pitchFamily="34" charset="-120"/>
              </a:rPr>
              <a:t>Agentic AI</a:t>
            </a:r>
            <a:endParaRPr lang="en-US" sz="1400" dirty="0"/>
          </a:p>
        </p:txBody>
      </p:sp>
      <p:sp>
        <p:nvSpPr>
          <p:cNvPr id="26" name="Text 24"/>
          <p:cNvSpPr/>
          <p:nvPr/>
        </p:nvSpPr>
        <p:spPr>
          <a:xfrm>
            <a:off x="9034272" y="3840480"/>
            <a:ext cx="2011680" cy="640080"/>
          </a:xfrm>
          <a:prstGeom prst="rect">
            <a:avLst/>
          </a:prstGeom>
          <a:noFill/>
          <a:ln/>
        </p:spPr>
        <p:txBody>
          <a:bodyPr wrap="square" rtlCol="0" anchor="t"/>
          <a:lstStyle/>
          <a:p>
            <a:pPr marL="0" indent="0" algn="ctr">
              <a:buNone/>
            </a:pPr>
            <a:r>
              <a:rPr lang="en-US" sz="1100" dirty="0">
                <a:solidFill>
                  <a:srgbClr val="8B949E"/>
                </a:solidFill>
                <a:latin typeface="Segoe UI" pitchFamily="34" charset="0"/>
                <a:ea typeface="Segoe UI" pitchFamily="34" charset="-122"/>
                <a:cs typeface="Segoe UI" pitchFamily="34" charset="-120"/>
              </a:rPr>
              <a:t>Sensitive actions</a:t>
            </a:r>
            <a:endParaRPr lang="en-US" sz="1100" dirty="0"/>
          </a:p>
          <a:p>
            <a:pPr marL="0" indent="0" algn="ctr">
              <a:buNone/>
            </a:pPr>
            <a:r>
              <a:rPr lang="en-US" sz="1100" dirty="0">
                <a:solidFill>
                  <a:srgbClr val="8B949E"/>
                </a:solidFill>
                <a:latin typeface="Segoe UI" pitchFamily="34" charset="0"/>
                <a:ea typeface="Segoe UI" pitchFamily="34" charset="-122"/>
                <a:cs typeface="Segoe UI" pitchFamily="34" charset="-120"/>
              </a:rPr>
              <a:t>through tools</a:t>
            </a:r>
            <a:endParaRPr lang="en-US" sz="1100" dirty="0"/>
          </a:p>
        </p:txBody>
      </p:sp>
      <p:sp>
        <p:nvSpPr>
          <p:cNvPr id="27" name="Shape 25"/>
          <p:cNvSpPr/>
          <p:nvPr/>
        </p:nvSpPr>
        <p:spPr>
          <a:xfrm>
            <a:off x="731520" y="5303520"/>
            <a:ext cx="54864" cy="411480"/>
          </a:xfrm>
          <a:prstGeom prst="rect">
            <a:avLst/>
          </a:prstGeom>
          <a:solidFill>
            <a:srgbClr val="3FB950"/>
          </a:solidFill>
          <a:ln/>
        </p:spPr>
        <p:txBody>
          <a:bodyPr/>
          <a:lstStyle/>
          <a:p>
            <a:endParaRPr lang="en-GB"/>
          </a:p>
        </p:txBody>
      </p:sp>
      <p:sp>
        <p:nvSpPr>
          <p:cNvPr id="28" name="Text 26"/>
          <p:cNvSpPr/>
          <p:nvPr/>
        </p:nvSpPr>
        <p:spPr>
          <a:xfrm>
            <a:off x="960120" y="5303520"/>
            <a:ext cx="10497312" cy="411480"/>
          </a:xfrm>
          <a:prstGeom prst="rect">
            <a:avLst/>
          </a:prstGeom>
          <a:noFill/>
          <a:ln/>
        </p:spPr>
        <p:txBody>
          <a:bodyPr wrap="square" rtlCol="0" anchor="ctr"/>
          <a:lstStyle/>
          <a:p>
            <a:pPr marL="0" indent="0">
              <a:buNone/>
            </a:pPr>
            <a:r>
              <a:rPr lang="en-US" sz="1400" b="1" i="1" dirty="0">
                <a:solidFill>
                  <a:srgbClr val="3FB950"/>
                </a:solidFill>
                <a:latin typeface="Segoe UI" pitchFamily="34" charset="0"/>
                <a:ea typeface="Segoe UI" pitchFamily="34" charset="-122"/>
                <a:cs typeface="Segoe UI" pitchFamily="34" charset="-120"/>
              </a:rPr>
              <a:t>Each stage solves a usefulness problem by changing a control boundary.</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274320"/>
          </a:xfrm>
          <a:prstGeom prst="rect">
            <a:avLst/>
          </a:prstGeom>
          <a:noFill/>
          <a:ln/>
        </p:spPr>
        <p:txBody>
          <a:bodyPr wrap="square" rtlCol="0" anchor="ctr"/>
          <a:lstStyle/>
          <a:p>
            <a:pPr marL="0" indent="0">
              <a:buNone/>
            </a:pPr>
            <a:r>
              <a:rPr lang="en-US" sz="1100" dirty="0">
                <a:solidFill>
                  <a:srgbClr val="8B949E"/>
                </a:solidFill>
                <a:latin typeface="Consolas" pitchFamily="34" charset="0"/>
                <a:ea typeface="Consolas" pitchFamily="34" charset="-122"/>
                <a:cs typeface="Consolas" pitchFamily="34" charset="-120"/>
              </a:rPr>
              <a:t>Stage 1 · LLM API</a:t>
            </a:r>
            <a:endParaRPr lang="en-US" sz="1100" dirty="0"/>
          </a:p>
        </p:txBody>
      </p:sp>
      <p:sp>
        <p:nvSpPr>
          <p:cNvPr id="3" name="Text 1"/>
          <p:cNvSpPr/>
          <p:nvPr/>
        </p:nvSpPr>
        <p:spPr>
          <a:xfrm>
            <a:off x="548640" y="594360"/>
            <a:ext cx="11091672" cy="502920"/>
          </a:xfrm>
          <a:prstGeom prst="rect">
            <a:avLst/>
          </a:prstGeom>
          <a:noFill/>
          <a:ln/>
        </p:spPr>
        <p:txBody>
          <a:bodyPr wrap="square" rtlCol="0" anchor="ctr"/>
          <a:lstStyle/>
          <a:p>
            <a:pPr marL="0" indent="0">
              <a:buNone/>
            </a:pPr>
            <a:r>
              <a:rPr lang="en-US" sz="2400" dirty="0">
                <a:solidFill>
                  <a:srgbClr val="8B949E"/>
                </a:solidFill>
                <a:latin typeface="Consolas" pitchFamily="34" charset="0"/>
                <a:ea typeface="Consolas" pitchFamily="34" charset="-122"/>
                <a:cs typeface="Consolas" pitchFamily="34" charset="-120"/>
              </a:rPr>
              <a:t>&gt; </a:t>
            </a:r>
            <a:r>
              <a:rPr lang="en-US" sz="2200" b="1" dirty="0">
                <a:solidFill>
                  <a:srgbClr val="58A6FF"/>
                </a:solidFill>
                <a:latin typeface="Consolas" pitchFamily="34" charset="0"/>
                <a:ea typeface="Consolas" pitchFamily="34" charset="-122"/>
                <a:cs typeface="Consolas" pitchFamily="34" charset="-120"/>
              </a:rPr>
              <a:t>What does LLM know?</a:t>
            </a:r>
            <a:endParaRPr lang="en-US" sz="2400" dirty="0"/>
          </a:p>
        </p:txBody>
      </p:sp>
      <p:sp>
        <p:nvSpPr>
          <p:cNvPr id="4" name="Shape 2"/>
          <p:cNvSpPr/>
          <p:nvPr/>
        </p:nvSpPr>
        <p:spPr>
          <a:xfrm>
            <a:off x="548640" y="1143000"/>
            <a:ext cx="11091672" cy="13716"/>
          </a:xfrm>
          <a:prstGeom prst="rect">
            <a:avLst/>
          </a:prstGeom>
          <a:solidFill>
            <a:srgbClr val="30363D"/>
          </a:solidFill>
          <a:ln/>
        </p:spPr>
        <p:txBody>
          <a:bodyPr/>
          <a:lstStyle/>
          <a:p>
            <a:endParaRPr lang="en-GB"/>
          </a:p>
        </p:txBody>
      </p:sp>
      <p:sp>
        <p:nvSpPr>
          <p:cNvPr id="5" name="Text 3"/>
          <p:cNvSpPr/>
          <p:nvPr/>
        </p:nvSpPr>
        <p:spPr>
          <a:xfrm>
            <a:off x="10972800" y="6446520"/>
            <a:ext cx="731520" cy="274320"/>
          </a:xfrm>
          <a:prstGeom prst="rect">
            <a:avLst/>
          </a:prstGeom>
          <a:noFill/>
          <a:ln/>
        </p:spPr>
        <p:txBody>
          <a:bodyPr wrap="square" rtlCol="0" anchor="ctr"/>
          <a:lstStyle/>
          <a:p>
            <a:pPr marL="0" indent="0" algn="r">
              <a:buNone/>
            </a:pPr>
            <a:r>
              <a:rPr lang="en-US" sz="1000" dirty="0">
                <a:solidFill>
                  <a:srgbClr val="8B949E"/>
                </a:solidFill>
                <a:latin typeface="Consolas" pitchFamily="34" charset="0"/>
                <a:ea typeface="Consolas" pitchFamily="34" charset="-122"/>
                <a:cs typeface="Consolas" pitchFamily="34" charset="-120"/>
              </a:rPr>
              <a:t>5</a:t>
            </a:r>
            <a:endParaRPr lang="en-US" sz="1000" dirty="0"/>
          </a:p>
        </p:txBody>
      </p:sp>
      <p:sp>
        <p:nvSpPr>
          <p:cNvPr id="6" name="Shape 4"/>
          <p:cNvSpPr/>
          <p:nvPr/>
        </p:nvSpPr>
        <p:spPr>
          <a:xfrm>
            <a:off x="548640" y="1325880"/>
            <a:ext cx="11091672" cy="5074920"/>
          </a:xfrm>
          <a:prstGeom prst="roundRect">
            <a:avLst>
              <a:gd name="adj" fmla="val 2162"/>
            </a:avLst>
          </a:prstGeom>
          <a:solidFill>
            <a:srgbClr val="161B22"/>
          </a:solidFill>
          <a:ln w="9525">
            <a:solidFill>
              <a:srgbClr val="30363D"/>
            </a:solidFill>
            <a:prstDash val="solid"/>
          </a:ln>
        </p:spPr>
        <p:txBody>
          <a:bodyPr/>
          <a:lstStyle/>
          <a:p>
            <a:endParaRPr lang="en-GB"/>
          </a:p>
        </p:txBody>
      </p:sp>
      <p:sp>
        <p:nvSpPr>
          <p:cNvPr id="7" name="Shape 5"/>
          <p:cNvSpPr/>
          <p:nvPr/>
        </p:nvSpPr>
        <p:spPr>
          <a:xfrm>
            <a:off x="914400" y="1645920"/>
            <a:ext cx="1852574"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8" name="Text 6"/>
          <p:cNvSpPr/>
          <p:nvPr/>
        </p:nvSpPr>
        <p:spPr>
          <a:xfrm>
            <a:off x="914400" y="1645920"/>
            <a:ext cx="1852574" cy="502920"/>
          </a:xfrm>
          <a:prstGeom prst="rect">
            <a:avLst/>
          </a:prstGeom>
          <a:noFill/>
          <a:ln/>
        </p:spPr>
        <p:txBody>
          <a:bodyPr wrap="square" rtlCol="0" anchor="ctr"/>
          <a:lstStyle/>
          <a:p>
            <a:pPr marL="0" indent="0" algn="ctr">
              <a:buNone/>
            </a:pPr>
            <a:r>
              <a:rPr lang="en-US" sz="1100" b="1" dirty="0">
                <a:solidFill>
                  <a:srgbClr val="E6EDF3"/>
                </a:solidFill>
                <a:latin typeface="Segoe UI" pitchFamily="34" charset="0"/>
                <a:ea typeface="Segoe UI" pitchFamily="34" charset="-122"/>
                <a:cs typeface="Segoe UI" pitchFamily="34" charset="-120"/>
              </a:rPr>
              <a:t>User</a:t>
            </a:r>
            <a:endParaRPr lang="en-US" sz="1100" dirty="0"/>
          </a:p>
        </p:txBody>
      </p:sp>
      <p:sp>
        <p:nvSpPr>
          <p:cNvPr id="9" name="Text 7"/>
          <p:cNvSpPr/>
          <p:nvPr/>
        </p:nvSpPr>
        <p:spPr>
          <a:xfrm>
            <a:off x="2766974" y="1645920"/>
            <a:ext cx="274320" cy="502920"/>
          </a:xfrm>
          <a:prstGeom prst="rect">
            <a:avLst/>
          </a:prstGeom>
          <a:noFill/>
          <a:ln/>
        </p:spPr>
        <p:txBody>
          <a:bodyPr wrap="square" rtlCol="0" anchor="ctr"/>
          <a:lstStyle/>
          <a:p>
            <a:pPr marL="0" indent="0" algn="ctr">
              <a:buNone/>
            </a:pPr>
            <a:r>
              <a:rPr lang="en-US" sz="1600" dirty="0">
                <a:solidFill>
                  <a:srgbClr val="8B949E"/>
                </a:solidFill>
                <a:latin typeface="Segoe UI" pitchFamily="34" charset="0"/>
                <a:ea typeface="Segoe UI" pitchFamily="34" charset="-122"/>
                <a:cs typeface="Segoe UI" pitchFamily="34" charset="-120"/>
              </a:rPr>
              <a:t>→</a:t>
            </a:r>
            <a:endParaRPr lang="en-US" sz="1600" dirty="0"/>
          </a:p>
        </p:txBody>
      </p:sp>
      <p:sp>
        <p:nvSpPr>
          <p:cNvPr id="10" name="Shape 8"/>
          <p:cNvSpPr/>
          <p:nvPr/>
        </p:nvSpPr>
        <p:spPr>
          <a:xfrm>
            <a:off x="3041294" y="1645920"/>
            <a:ext cx="1852574"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1" name="Text 9"/>
          <p:cNvSpPr/>
          <p:nvPr/>
        </p:nvSpPr>
        <p:spPr>
          <a:xfrm>
            <a:off x="3041294" y="1645920"/>
            <a:ext cx="1852574" cy="502920"/>
          </a:xfrm>
          <a:prstGeom prst="rect">
            <a:avLst/>
          </a:prstGeom>
          <a:noFill/>
          <a:ln/>
        </p:spPr>
        <p:txBody>
          <a:bodyPr wrap="square" rtlCol="0" anchor="ctr"/>
          <a:lstStyle/>
          <a:p>
            <a:pPr marL="0" indent="0" algn="ctr">
              <a:buNone/>
            </a:pPr>
            <a:r>
              <a:rPr lang="en-US" sz="1100" b="1" dirty="0">
                <a:solidFill>
                  <a:srgbClr val="E6EDF3"/>
                </a:solidFill>
                <a:latin typeface="Segoe UI" pitchFamily="34" charset="0"/>
                <a:ea typeface="Segoe UI" pitchFamily="34" charset="-122"/>
                <a:cs typeface="Segoe UI" pitchFamily="34" charset="-120"/>
              </a:rPr>
              <a:t>Chatbot App</a:t>
            </a:r>
            <a:endParaRPr lang="en-US" sz="1100" dirty="0"/>
          </a:p>
        </p:txBody>
      </p:sp>
      <p:sp>
        <p:nvSpPr>
          <p:cNvPr id="12" name="Text 10"/>
          <p:cNvSpPr/>
          <p:nvPr/>
        </p:nvSpPr>
        <p:spPr>
          <a:xfrm>
            <a:off x="4893869" y="1645920"/>
            <a:ext cx="274320" cy="502920"/>
          </a:xfrm>
          <a:prstGeom prst="rect">
            <a:avLst/>
          </a:prstGeom>
          <a:noFill/>
          <a:ln/>
        </p:spPr>
        <p:txBody>
          <a:bodyPr wrap="square" rtlCol="0" anchor="ctr"/>
          <a:lstStyle/>
          <a:p>
            <a:pPr marL="0" indent="0" algn="ctr">
              <a:buNone/>
            </a:pPr>
            <a:r>
              <a:rPr lang="en-US" sz="1600" dirty="0">
                <a:solidFill>
                  <a:srgbClr val="8B949E"/>
                </a:solidFill>
                <a:latin typeface="Segoe UI" pitchFamily="34" charset="0"/>
                <a:ea typeface="Segoe UI" pitchFamily="34" charset="-122"/>
                <a:cs typeface="Segoe UI" pitchFamily="34" charset="-120"/>
              </a:rPr>
              <a:t>→</a:t>
            </a:r>
            <a:endParaRPr lang="en-US" sz="1600" dirty="0"/>
          </a:p>
        </p:txBody>
      </p:sp>
      <p:sp>
        <p:nvSpPr>
          <p:cNvPr id="13" name="Shape 11"/>
          <p:cNvSpPr/>
          <p:nvPr/>
        </p:nvSpPr>
        <p:spPr>
          <a:xfrm>
            <a:off x="5168189" y="1645920"/>
            <a:ext cx="1852574"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4" name="Text 12"/>
          <p:cNvSpPr/>
          <p:nvPr/>
        </p:nvSpPr>
        <p:spPr>
          <a:xfrm>
            <a:off x="5168189" y="1645920"/>
            <a:ext cx="1852574" cy="502920"/>
          </a:xfrm>
          <a:prstGeom prst="rect">
            <a:avLst/>
          </a:prstGeom>
          <a:noFill/>
          <a:ln/>
        </p:spPr>
        <p:txBody>
          <a:bodyPr wrap="square" rtlCol="0" anchor="ctr"/>
          <a:lstStyle/>
          <a:p>
            <a:pPr marL="0" indent="0" algn="ctr">
              <a:buNone/>
            </a:pPr>
            <a:r>
              <a:rPr lang="en-US" sz="1100" b="1" dirty="0">
                <a:solidFill>
                  <a:srgbClr val="E6EDF3"/>
                </a:solidFill>
                <a:latin typeface="Segoe UI" pitchFamily="34" charset="0"/>
                <a:ea typeface="Segoe UI" pitchFamily="34" charset="-122"/>
                <a:cs typeface="Segoe UI" pitchFamily="34" charset="-120"/>
              </a:rPr>
              <a:t>Model API</a:t>
            </a:r>
            <a:endParaRPr lang="en-US" sz="1100" dirty="0"/>
          </a:p>
        </p:txBody>
      </p:sp>
      <p:sp>
        <p:nvSpPr>
          <p:cNvPr id="15" name="Text 13"/>
          <p:cNvSpPr/>
          <p:nvPr/>
        </p:nvSpPr>
        <p:spPr>
          <a:xfrm>
            <a:off x="7020763" y="1645920"/>
            <a:ext cx="274320" cy="502920"/>
          </a:xfrm>
          <a:prstGeom prst="rect">
            <a:avLst/>
          </a:prstGeom>
          <a:noFill/>
          <a:ln/>
        </p:spPr>
        <p:txBody>
          <a:bodyPr wrap="square" rtlCol="0" anchor="ctr"/>
          <a:lstStyle/>
          <a:p>
            <a:pPr marL="0" indent="0" algn="ctr">
              <a:buNone/>
            </a:pPr>
            <a:r>
              <a:rPr lang="en-US" sz="1600" dirty="0">
                <a:solidFill>
                  <a:srgbClr val="8B949E"/>
                </a:solidFill>
                <a:latin typeface="Segoe UI" pitchFamily="34" charset="0"/>
                <a:ea typeface="Segoe UI" pitchFamily="34" charset="-122"/>
                <a:cs typeface="Segoe UI" pitchFamily="34" charset="-120"/>
              </a:rPr>
              <a:t>→</a:t>
            </a:r>
            <a:endParaRPr lang="en-US" sz="1600" dirty="0"/>
          </a:p>
        </p:txBody>
      </p:sp>
      <p:sp>
        <p:nvSpPr>
          <p:cNvPr id="16" name="Shape 14"/>
          <p:cNvSpPr/>
          <p:nvPr/>
        </p:nvSpPr>
        <p:spPr>
          <a:xfrm>
            <a:off x="7295083" y="1645920"/>
            <a:ext cx="1852574"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7" name="Text 15"/>
          <p:cNvSpPr/>
          <p:nvPr/>
        </p:nvSpPr>
        <p:spPr>
          <a:xfrm>
            <a:off x="7295083" y="1645920"/>
            <a:ext cx="1852574" cy="502920"/>
          </a:xfrm>
          <a:prstGeom prst="rect">
            <a:avLst/>
          </a:prstGeom>
          <a:noFill/>
          <a:ln/>
        </p:spPr>
        <p:txBody>
          <a:bodyPr wrap="square" rtlCol="0" anchor="ctr"/>
          <a:lstStyle/>
          <a:p>
            <a:pPr marL="0" indent="0" algn="ctr">
              <a:buNone/>
            </a:pPr>
            <a:r>
              <a:rPr lang="en-US" sz="1100" b="1" dirty="0">
                <a:solidFill>
                  <a:srgbClr val="E6EDF3"/>
                </a:solidFill>
                <a:latin typeface="Segoe UI" pitchFamily="34" charset="0"/>
                <a:ea typeface="Segoe UI" pitchFamily="34" charset="-122"/>
                <a:cs typeface="Segoe UI" pitchFamily="34" charset="-120"/>
              </a:rPr>
              <a:t>Chatbot App</a:t>
            </a:r>
            <a:endParaRPr lang="en-US" sz="1100" dirty="0"/>
          </a:p>
        </p:txBody>
      </p:sp>
      <p:sp>
        <p:nvSpPr>
          <p:cNvPr id="18" name="Text 16"/>
          <p:cNvSpPr/>
          <p:nvPr/>
        </p:nvSpPr>
        <p:spPr>
          <a:xfrm>
            <a:off x="9147658" y="1645920"/>
            <a:ext cx="274320" cy="502920"/>
          </a:xfrm>
          <a:prstGeom prst="rect">
            <a:avLst/>
          </a:prstGeom>
          <a:noFill/>
          <a:ln/>
        </p:spPr>
        <p:txBody>
          <a:bodyPr wrap="square" rtlCol="0" anchor="ctr"/>
          <a:lstStyle/>
          <a:p>
            <a:pPr marL="0" indent="0" algn="ctr">
              <a:buNone/>
            </a:pPr>
            <a:r>
              <a:rPr lang="en-US" sz="1600" dirty="0">
                <a:solidFill>
                  <a:srgbClr val="8B949E"/>
                </a:solidFill>
                <a:latin typeface="Segoe UI" pitchFamily="34" charset="0"/>
                <a:ea typeface="Segoe UI" pitchFamily="34" charset="-122"/>
                <a:cs typeface="Segoe UI" pitchFamily="34" charset="-120"/>
              </a:rPr>
              <a:t>→</a:t>
            </a:r>
            <a:endParaRPr lang="en-US" sz="1600" dirty="0"/>
          </a:p>
        </p:txBody>
      </p:sp>
      <p:sp>
        <p:nvSpPr>
          <p:cNvPr id="19" name="Shape 17"/>
          <p:cNvSpPr/>
          <p:nvPr/>
        </p:nvSpPr>
        <p:spPr>
          <a:xfrm>
            <a:off x="9421978" y="1645920"/>
            <a:ext cx="1852574"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20" name="Text 18"/>
          <p:cNvSpPr/>
          <p:nvPr/>
        </p:nvSpPr>
        <p:spPr>
          <a:xfrm>
            <a:off x="9421978" y="1645920"/>
            <a:ext cx="1852574" cy="502920"/>
          </a:xfrm>
          <a:prstGeom prst="rect">
            <a:avLst/>
          </a:prstGeom>
          <a:noFill/>
          <a:ln/>
        </p:spPr>
        <p:txBody>
          <a:bodyPr wrap="square" rtlCol="0" anchor="ctr"/>
          <a:lstStyle/>
          <a:p>
            <a:pPr marL="0" indent="0" algn="ctr">
              <a:buNone/>
            </a:pPr>
            <a:r>
              <a:rPr lang="en-US" sz="1100" b="1" dirty="0">
                <a:solidFill>
                  <a:srgbClr val="E6EDF3"/>
                </a:solidFill>
                <a:latin typeface="Segoe UI" pitchFamily="34" charset="0"/>
                <a:ea typeface="Segoe UI" pitchFamily="34" charset="-122"/>
                <a:cs typeface="Segoe UI" pitchFamily="34" charset="-120"/>
              </a:rPr>
              <a:t>User</a:t>
            </a:r>
            <a:endParaRPr lang="en-US" sz="1100" dirty="0"/>
          </a:p>
        </p:txBody>
      </p:sp>
      <p:sp>
        <p:nvSpPr>
          <p:cNvPr id="21" name="Text 19"/>
          <p:cNvSpPr/>
          <p:nvPr/>
        </p:nvSpPr>
        <p:spPr>
          <a:xfrm>
            <a:off x="4114800" y="2423160"/>
            <a:ext cx="457200" cy="274320"/>
          </a:xfrm>
          <a:prstGeom prst="rect">
            <a:avLst/>
          </a:prstGeom>
          <a:noFill/>
          <a:ln/>
        </p:spPr>
        <p:txBody>
          <a:bodyPr wrap="square" rtlCol="0" anchor="ctr"/>
          <a:lstStyle/>
          <a:p>
            <a:pPr marL="0" indent="0" algn="ctr">
              <a:buNone/>
            </a:pPr>
            <a:r>
              <a:rPr lang="en-US" sz="1400" dirty="0">
                <a:solidFill>
                  <a:srgbClr val="8B949E"/>
                </a:solidFill>
                <a:latin typeface="Segoe UI" pitchFamily="34" charset="0"/>
                <a:ea typeface="Segoe UI" pitchFamily="34" charset="-122"/>
                <a:cs typeface="Segoe UI" pitchFamily="34" charset="-120"/>
              </a:rPr>
              <a:t>↓</a:t>
            </a:r>
            <a:endParaRPr lang="en-US" sz="1400" dirty="0"/>
          </a:p>
        </p:txBody>
      </p:sp>
      <p:sp>
        <p:nvSpPr>
          <p:cNvPr id="22" name="Shape 20"/>
          <p:cNvSpPr/>
          <p:nvPr/>
        </p:nvSpPr>
        <p:spPr>
          <a:xfrm>
            <a:off x="4114800" y="2743200"/>
            <a:ext cx="2103120" cy="365760"/>
          </a:xfrm>
          <a:prstGeom prst="roundRect">
            <a:avLst>
              <a:gd name="adj" fmla="val 15000"/>
            </a:avLst>
          </a:prstGeom>
          <a:solidFill>
            <a:srgbClr val="161B22"/>
          </a:solidFill>
          <a:ln w="9525">
            <a:solidFill>
              <a:srgbClr val="D29922"/>
            </a:solidFill>
            <a:prstDash val="dash"/>
          </a:ln>
        </p:spPr>
        <p:txBody>
          <a:bodyPr/>
          <a:lstStyle/>
          <a:p>
            <a:endParaRPr lang="en-GB"/>
          </a:p>
        </p:txBody>
      </p:sp>
      <p:sp>
        <p:nvSpPr>
          <p:cNvPr id="23" name="Text 21"/>
          <p:cNvSpPr/>
          <p:nvPr/>
        </p:nvSpPr>
        <p:spPr>
          <a:xfrm>
            <a:off x="4114800" y="2743200"/>
            <a:ext cx="2103120" cy="365760"/>
          </a:xfrm>
          <a:prstGeom prst="rect">
            <a:avLst/>
          </a:prstGeom>
          <a:noFill/>
          <a:ln/>
        </p:spPr>
        <p:txBody>
          <a:bodyPr wrap="square" rtlCol="0" anchor="ctr"/>
          <a:lstStyle/>
          <a:p>
            <a:pPr marL="0" indent="0" algn="ctr">
              <a:buNone/>
            </a:pPr>
            <a:r>
              <a:rPr lang="en-US" sz="1000" dirty="0">
                <a:solidFill>
                  <a:srgbClr val="D29922"/>
                </a:solidFill>
                <a:latin typeface="Segoe UI" pitchFamily="34" charset="0"/>
                <a:ea typeface="Segoe UI" pitchFamily="34" charset="-122"/>
                <a:cs typeface="Segoe UI" pitchFamily="34" charset="-120"/>
              </a:rPr>
              <a:t>Logs / Traces / Evals</a:t>
            </a:r>
            <a:endParaRPr lang="en-US" sz="1000" dirty="0"/>
          </a:p>
        </p:txBody>
      </p:sp>
      <p:sp>
        <p:nvSpPr>
          <p:cNvPr id="24" name="Shape 22"/>
          <p:cNvSpPr/>
          <p:nvPr/>
        </p:nvSpPr>
        <p:spPr>
          <a:xfrm>
            <a:off x="6583680" y="2743200"/>
            <a:ext cx="2103120" cy="365760"/>
          </a:xfrm>
          <a:prstGeom prst="roundRect">
            <a:avLst>
              <a:gd name="adj" fmla="val 15000"/>
            </a:avLst>
          </a:prstGeom>
          <a:solidFill>
            <a:srgbClr val="161B22"/>
          </a:solidFill>
          <a:ln w="9525">
            <a:solidFill>
              <a:srgbClr val="D29922"/>
            </a:solidFill>
            <a:prstDash val="dash"/>
          </a:ln>
        </p:spPr>
        <p:txBody>
          <a:bodyPr/>
          <a:lstStyle/>
          <a:p>
            <a:endParaRPr lang="en-GB"/>
          </a:p>
        </p:txBody>
      </p:sp>
      <p:sp>
        <p:nvSpPr>
          <p:cNvPr id="25" name="Text 23"/>
          <p:cNvSpPr/>
          <p:nvPr/>
        </p:nvSpPr>
        <p:spPr>
          <a:xfrm>
            <a:off x="6583680" y="2743200"/>
            <a:ext cx="2103120" cy="365760"/>
          </a:xfrm>
          <a:prstGeom prst="rect">
            <a:avLst/>
          </a:prstGeom>
          <a:noFill/>
          <a:ln/>
        </p:spPr>
        <p:txBody>
          <a:bodyPr wrap="square" rtlCol="0" anchor="ctr"/>
          <a:lstStyle/>
          <a:p>
            <a:pPr marL="0" indent="0" algn="ctr">
              <a:buNone/>
            </a:pPr>
            <a:r>
              <a:rPr lang="en-US" sz="1000" dirty="0">
                <a:solidFill>
                  <a:srgbClr val="D29922"/>
                </a:solidFill>
                <a:latin typeface="Segoe UI" pitchFamily="34" charset="0"/>
                <a:ea typeface="Segoe UI" pitchFamily="34" charset="-122"/>
                <a:cs typeface="Segoe UI" pitchFamily="34" charset="-120"/>
              </a:rPr>
              <a:t>Policy &amp; Redaction</a:t>
            </a:r>
            <a:endParaRPr lang="en-US" sz="1000" dirty="0"/>
          </a:p>
        </p:txBody>
      </p:sp>
      <p:sp>
        <p:nvSpPr>
          <p:cNvPr id="26" name="Shape 24"/>
          <p:cNvSpPr/>
          <p:nvPr/>
        </p:nvSpPr>
        <p:spPr>
          <a:xfrm>
            <a:off x="9052560" y="2743200"/>
            <a:ext cx="2103120" cy="365760"/>
          </a:xfrm>
          <a:prstGeom prst="roundRect">
            <a:avLst>
              <a:gd name="adj" fmla="val 15000"/>
            </a:avLst>
          </a:prstGeom>
          <a:solidFill>
            <a:srgbClr val="161B22"/>
          </a:solidFill>
          <a:ln w="9525">
            <a:solidFill>
              <a:srgbClr val="D29922"/>
            </a:solidFill>
            <a:prstDash val="dash"/>
          </a:ln>
        </p:spPr>
        <p:txBody>
          <a:bodyPr/>
          <a:lstStyle/>
          <a:p>
            <a:endParaRPr lang="en-GB"/>
          </a:p>
        </p:txBody>
      </p:sp>
      <p:sp>
        <p:nvSpPr>
          <p:cNvPr id="27" name="Text 25"/>
          <p:cNvSpPr/>
          <p:nvPr/>
        </p:nvSpPr>
        <p:spPr>
          <a:xfrm>
            <a:off x="9052560" y="2743200"/>
            <a:ext cx="2103120" cy="365760"/>
          </a:xfrm>
          <a:prstGeom prst="rect">
            <a:avLst/>
          </a:prstGeom>
          <a:noFill/>
          <a:ln/>
        </p:spPr>
        <p:txBody>
          <a:bodyPr wrap="square" rtlCol="0" anchor="ctr"/>
          <a:lstStyle/>
          <a:p>
            <a:pPr marL="0" indent="0" algn="ctr">
              <a:buNone/>
            </a:pPr>
            <a:r>
              <a:rPr lang="en-US" sz="1000" dirty="0">
                <a:solidFill>
                  <a:srgbClr val="D29922"/>
                </a:solidFill>
                <a:latin typeface="Segoe UI" pitchFamily="34" charset="0"/>
                <a:ea typeface="Segoe UI" pitchFamily="34" charset="-122"/>
                <a:cs typeface="Segoe UI" pitchFamily="34" charset="-120"/>
              </a:rPr>
              <a:t>Provider Boundary</a:t>
            </a:r>
            <a:endParaRPr lang="en-US" sz="1000" dirty="0"/>
          </a:p>
        </p:txBody>
      </p:sp>
      <p:sp>
        <p:nvSpPr>
          <p:cNvPr id="28" name="Text 26"/>
          <p:cNvSpPr/>
          <p:nvPr/>
        </p:nvSpPr>
        <p:spPr>
          <a:xfrm>
            <a:off x="914400" y="3383280"/>
            <a:ext cx="10360152" cy="2011680"/>
          </a:xfrm>
          <a:prstGeom prst="rect">
            <a:avLst/>
          </a:prstGeom>
          <a:noFill/>
          <a:ln/>
        </p:spPr>
        <p:txBody>
          <a:bodyPr wrap="square" rtlCol="0" anchor="t"/>
          <a:lstStyle/>
          <a:p>
            <a:pPr marL="342900" indent="-342900">
              <a:lnSpc>
                <a:spcPct val="135000"/>
              </a:lnSpc>
              <a:spcBef>
                <a:spcPts val="400"/>
              </a:spcBef>
              <a:buSzPct val="100000"/>
              <a:buChar char="•"/>
            </a:pPr>
            <a:r>
              <a:rPr lang="en-US" sz="1300" dirty="0">
                <a:solidFill>
                  <a:srgbClr val="E6EDF3"/>
                </a:solidFill>
                <a:latin typeface="Segoe UI" pitchFamily="34" charset="0"/>
                <a:ea typeface="Segoe UI" pitchFamily="34" charset="-122"/>
                <a:cs typeface="Segoe UI" pitchFamily="34" charset="-120"/>
              </a:rPr>
              <a:t>The prompt is already a data boundary — even without RAG or tools</a:t>
            </a:r>
            <a:endParaRPr lang="en-US" sz="1300" dirty="0"/>
          </a:p>
          <a:p>
            <a:pPr marL="342900" indent="-342900">
              <a:lnSpc>
                <a:spcPct val="135000"/>
              </a:lnSpc>
              <a:spcBef>
                <a:spcPts val="400"/>
              </a:spcBef>
              <a:buSzPct val="100000"/>
              <a:buChar char="•"/>
            </a:pPr>
            <a:r>
              <a:rPr lang="en-US" sz="1300" dirty="0">
                <a:solidFill>
                  <a:srgbClr val="E6EDF3"/>
                </a:solidFill>
                <a:latin typeface="Segoe UI" pitchFamily="34" charset="0"/>
                <a:ea typeface="Segoe UI" pitchFamily="34" charset="-122"/>
                <a:cs typeface="Segoe UI" pitchFamily="34" charset="-120"/>
              </a:rPr>
              <a:t>Prompts, responses, logs, and traces become sensitive runtime artifacts</a:t>
            </a:r>
            <a:endParaRPr lang="en-US" sz="1300" dirty="0"/>
          </a:p>
          <a:p>
            <a:pPr marL="342900" indent="-342900">
              <a:lnSpc>
                <a:spcPct val="135000"/>
              </a:lnSpc>
              <a:spcBef>
                <a:spcPts val="400"/>
              </a:spcBef>
              <a:buSzPct val="100000"/>
              <a:buChar char="•"/>
            </a:pPr>
            <a:r>
              <a:rPr lang="en-US" sz="1300" dirty="0">
                <a:solidFill>
                  <a:srgbClr val="E6EDF3"/>
                </a:solidFill>
                <a:latin typeface="Segoe UI" pitchFamily="34" charset="0"/>
                <a:ea typeface="Segoe UI" pitchFamily="34" charset="-122"/>
                <a:cs typeface="Segoe UI" pitchFamily="34" charset="-120"/>
              </a:rPr>
              <a:t>If the model knows internal data from training, can someone extract it?</a:t>
            </a:r>
            <a:endParaRPr lang="en-US" sz="1300" dirty="0"/>
          </a:p>
          <a:p>
            <a:pPr marL="342900" indent="-342900">
              <a:lnSpc>
                <a:spcPct val="135000"/>
              </a:lnSpc>
              <a:spcBef>
                <a:spcPts val="400"/>
              </a:spcBef>
              <a:buSzPct val="100000"/>
              <a:buChar char="•"/>
            </a:pPr>
            <a:r>
              <a:rPr lang="en-US" sz="1300" b="1" dirty="0">
                <a:solidFill>
                  <a:srgbClr val="58A6FF"/>
                </a:solidFill>
                <a:latin typeface="Segoe UI" pitchFamily="34" charset="0"/>
                <a:ea typeface="Segoe UI" pitchFamily="34" charset="-122"/>
                <a:cs typeface="Segoe UI" pitchFamily="34" charset="-120"/>
              </a:rPr>
              <a:t>What does this model know, and where did it learn it?</a:t>
            </a:r>
            <a:endParaRPr lang="en-US" sz="1300" dirty="0"/>
          </a:p>
        </p:txBody>
      </p:sp>
      <p:sp>
        <p:nvSpPr>
          <p:cNvPr id="29" name="Shape 27"/>
          <p:cNvSpPr/>
          <p:nvPr/>
        </p:nvSpPr>
        <p:spPr>
          <a:xfrm>
            <a:off x="731520" y="5669280"/>
            <a:ext cx="54864" cy="411480"/>
          </a:xfrm>
          <a:prstGeom prst="rect">
            <a:avLst/>
          </a:prstGeom>
          <a:solidFill>
            <a:srgbClr val="3FB950"/>
          </a:solidFill>
          <a:ln/>
        </p:spPr>
        <p:txBody>
          <a:bodyPr/>
          <a:lstStyle/>
          <a:p>
            <a:endParaRPr lang="en-GB"/>
          </a:p>
        </p:txBody>
      </p:sp>
      <p:sp>
        <p:nvSpPr>
          <p:cNvPr id="30" name="Text 28"/>
          <p:cNvSpPr/>
          <p:nvPr/>
        </p:nvSpPr>
        <p:spPr>
          <a:xfrm>
            <a:off x="960120" y="5669280"/>
            <a:ext cx="10497312" cy="411480"/>
          </a:xfrm>
          <a:prstGeom prst="rect">
            <a:avLst/>
          </a:prstGeom>
          <a:noFill/>
          <a:ln/>
        </p:spPr>
        <p:txBody>
          <a:bodyPr wrap="square" rtlCol="0" anchor="ctr"/>
          <a:lstStyle/>
          <a:p>
            <a:pPr marL="0" indent="0">
              <a:buNone/>
            </a:pPr>
            <a:r>
              <a:rPr lang="en-US" sz="1400" b="1" i="1" dirty="0">
                <a:solidFill>
                  <a:srgbClr val="3FB950"/>
                </a:solidFill>
                <a:latin typeface="Segoe UI" pitchFamily="34" charset="0"/>
                <a:ea typeface="Segoe UI" pitchFamily="34" charset="-122"/>
                <a:cs typeface="Segoe UI" pitchFamily="34" charset="-120"/>
              </a:rPr>
              <a:t>Stage 1 creates two linked risks: sensitive runtime prompts and ungovernable training data.</a:t>
            </a:r>
            <a:endParaRPr lang="en-US" sz="1400" dirty="0"/>
          </a:p>
        </p:txBody>
      </p:sp>
      <p:sp>
        <p:nvSpPr>
          <p:cNvPr id="31" name="Text 29"/>
          <p:cNvSpPr/>
          <p:nvPr/>
        </p:nvSpPr>
        <p:spPr>
          <a:xfrm>
            <a:off x="8686800" y="6263640"/>
            <a:ext cx="2926080" cy="228600"/>
          </a:xfrm>
          <a:prstGeom prst="rect">
            <a:avLst/>
          </a:prstGeom>
          <a:noFill/>
          <a:ln/>
        </p:spPr>
        <p:txBody>
          <a:bodyPr wrap="square"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OWASP LLM02:2025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274320"/>
          </a:xfrm>
          <a:prstGeom prst="rect">
            <a:avLst/>
          </a:prstGeom>
          <a:noFill/>
          <a:ln/>
        </p:spPr>
        <p:txBody>
          <a:bodyPr wrap="square" rtlCol="0" anchor="ctr"/>
          <a:lstStyle/>
          <a:p>
            <a:pPr marL="0" indent="0">
              <a:buNone/>
            </a:pPr>
            <a:r>
              <a:rPr lang="en-US" sz="1100" dirty="0">
                <a:solidFill>
                  <a:srgbClr val="8B949E"/>
                </a:solidFill>
                <a:latin typeface="Consolas" pitchFamily="34" charset="0"/>
                <a:ea typeface="Consolas" pitchFamily="34" charset="-122"/>
                <a:cs typeface="Consolas" pitchFamily="34" charset="-120"/>
              </a:rPr>
              <a:t>Stage 1 · LLM API</a:t>
            </a:r>
            <a:endParaRPr lang="en-US" sz="1100" dirty="0"/>
          </a:p>
        </p:txBody>
      </p:sp>
      <p:sp>
        <p:nvSpPr>
          <p:cNvPr id="3" name="Text 1"/>
          <p:cNvSpPr/>
          <p:nvPr/>
        </p:nvSpPr>
        <p:spPr>
          <a:xfrm>
            <a:off x="548640" y="594360"/>
            <a:ext cx="11091672" cy="502920"/>
          </a:xfrm>
          <a:prstGeom prst="rect">
            <a:avLst/>
          </a:prstGeom>
          <a:noFill/>
          <a:ln/>
        </p:spPr>
        <p:txBody>
          <a:bodyPr wrap="square" rtlCol="0" anchor="ctr"/>
          <a:lstStyle/>
          <a:p>
            <a:pPr marL="0" indent="0">
              <a:buNone/>
            </a:pPr>
            <a:r>
              <a:rPr lang="en-US" sz="2400" dirty="0">
                <a:solidFill>
                  <a:srgbClr val="8B949E"/>
                </a:solidFill>
                <a:latin typeface="Consolas" pitchFamily="34" charset="0"/>
                <a:ea typeface="Consolas" pitchFamily="34" charset="-122"/>
                <a:cs typeface="Consolas" pitchFamily="34" charset="-120"/>
              </a:rPr>
              <a:t>&gt; </a:t>
            </a:r>
            <a:r>
              <a:rPr lang="en-US" sz="2200" b="1" dirty="0">
                <a:solidFill>
                  <a:srgbClr val="58A6FF"/>
                </a:solidFill>
                <a:latin typeface="Consolas" pitchFamily="34" charset="0"/>
                <a:ea typeface="Consolas" pitchFamily="34" charset="-122"/>
                <a:cs typeface="Consolas" pitchFamily="34" charset="-120"/>
              </a:rPr>
              <a:t>Are we missing business context?</a:t>
            </a:r>
            <a:endParaRPr lang="en-US" sz="2400" dirty="0"/>
          </a:p>
        </p:txBody>
      </p:sp>
      <p:sp>
        <p:nvSpPr>
          <p:cNvPr id="4" name="Shape 2"/>
          <p:cNvSpPr/>
          <p:nvPr/>
        </p:nvSpPr>
        <p:spPr>
          <a:xfrm>
            <a:off x="548640" y="1143000"/>
            <a:ext cx="11091672" cy="13716"/>
          </a:xfrm>
          <a:prstGeom prst="rect">
            <a:avLst/>
          </a:prstGeom>
          <a:solidFill>
            <a:srgbClr val="30363D"/>
          </a:solidFill>
          <a:ln/>
        </p:spPr>
        <p:txBody>
          <a:bodyPr/>
          <a:lstStyle/>
          <a:p>
            <a:endParaRPr lang="en-GB"/>
          </a:p>
        </p:txBody>
      </p:sp>
      <p:sp>
        <p:nvSpPr>
          <p:cNvPr id="5" name="Text 3"/>
          <p:cNvSpPr/>
          <p:nvPr/>
        </p:nvSpPr>
        <p:spPr>
          <a:xfrm>
            <a:off x="10972800" y="6446520"/>
            <a:ext cx="731520" cy="274320"/>
          </a:xfrm>
          <a:prstGeom prst="rect">
            <a:avLst/>
          </a:prstGeom>
          <a:noFill/>
          <a:ln/>
        </p:spPr>
        <p:txBody>
          <a:bodyPr wrap="square" rtlCol="0" anchor="ctr"/>
          <a:lstStyle/>
          <a:p>
            <a:pPr marL="0" indent="0" algn="r">
              <a:buNone/>
            </a:pPr>
            <a:r>
              <a:rPr lang="en-US" sz="1000" dirty="0">
                <a:solidFill>
                  <a:srgbClr val="8B949E"/>
                </a:solidFill>
                <a:latin typeface="Consolas" pitchFamily="34" charset="0"/>
                <a:ea typeface="Consolas" pitchFamily="34" charset="-122"/>
                <a:cs typeface="Consolas" pitchFamily="34" charset="-120"/>
              </a:rPr>
              <a:t>6</a:t>
            </a:r>
            <a:endParaRPr lang="en-US" sz="1000" dirty="0"/>
          </a:p>
        </p:txBody>
      </p:sp>
      <p:sp>
        <p:nvSpPr>
          <p:cNvPr id="6" name="Shape 4"/>
          <p:cNvSpPr/>
          <p:nvPr/>
        </p:nvSpPr>
        <p:spPr>
          <a:xfrm>
            <a:off x="548640" y="1325880"/>
            <a:ext cx="11091672" cy="5074920"/>
          </a:xfrm>
          <a:prstGeom prst="roundRect">
            <a:avLst>
              <a:gd name="adj" fmla="val 2162"/>
            </a:avLst>
          </a:prstGeom>
          <a:solidFill>
            <a:srgbClr val="161B22"/>
          </a:solidFill>
          <a:ln w="9525">
            <a:solidFill>
              <a:srgbClr val="30363D"/>
            </a:solidFill>
            <a:prstDash val="solid"/>
          </a:ln>
        </p:spPr>
        <p:txBody>
          <a:bodyPr/>
          <a:lstStyle/>
          <a:p>
            <a:endParaRPr lang="en-GB"/>
          </a:p>
        </p:txBody>
      </p:sp>
      <p:sp>
        <p:nvSpPr>
          <p:cNvPr id="7" name="Text 5"/>
          <p:cNvSpPr/>
          <p:nvPr/>
        </p:nvSpPr>
        <p:spPr>
          <a:xfrm>
            <a:off x="914400" y="1554480"/>
            <a:ext cx="10360152" cy="4572000"/>
          </a:xfrm>
          <a:prstGeom prst="rect">
            <a:avLst/>
          </a:prstGeom>
          <a:noFill/>
          <a:ln/>
        </p:spPr>
        <p:txBody>
          <a:bodyPr wrap="square" rtlCol="0" anchor="t"/>
          <a:lstStyle/>
          <a:p>
            <a:pPr marL="0" indent="0">
              <a:lnSpc>
                <a:spcPct val="140000"/>
              </a:lnSpc>
              <a:spcAft>
                <a:spcPts val="600"/>
              </a:spcAft>
              <a:buNone/>
            </a:pPr>
            <a:r>
              <a:rPr lang="en-US" sz="1600" dirty="0">
                <a:solidFill>
                  <a:srgbClr val="E6EDF3"/>
                </a:solidFill>
                <a:latin typeface="Segoe UI" pitchFamily="34" charset="0"/>
                <a:ea typeface="Segoe UI" pitchFamily="34" charset="-122"/>
                <a:cs typeface="Segoe UI" pitchFamily="34" charset="-120"/>
              </a:rPr>
              <a:t>A base model doesn't know your policies, services, escalation processes, or approved language.
</a:t>
            </a:r>
            <a:r>
              <a:rPr lang="en-US" sz="1400" dirty="0">
                <a:solidFill>
                  <a:srgbClr val="8B949E"/>
                </a:solidFill>
                <a:latin typeface="Segoe UI" pitchFamily="34" charset="0"/>
                <a:ea typeface="Segoe UI" pitchFamily="34" charset="-122"/>
                <a:cs typeface="Segoe UI" pitchFamily="34" charset="-120"/>
              </a:rPr>
              <a:t>Teams fill the gap by moving private knowledge closer to the model:
</a:t>
            </a:r>
            <a:endParaRPr lang="en-US" sz="1600" dirty="0"/>
          </a:p>
        </p:txBody>
      </p:sp>
      <p:sp>
        <p:nvSpPr>
          <p:cNvPr id="8" name="Shape 6"/>
          <p:cNvSpPr/>
          <p:nvPr/>
        </p:nvSpPr>
        <p:spPr>
          <a:xfrm>
            <a:off x="914400" y="2926080"/>
            <a:ext cx="73152" cy="502920"/>
          </a:xfrm>
          <a:prstGeom prst="rect">
            <a:avLst/>
          </a:prstGeom>
          <a:solidFill>
            <a:srgbClr val="3FB950"/>
          </a:solidFill>
          <a:ln/>
        </p:spPr>
        <p:txBody>
          <a:bodyPr/>
          <a:lstStyle/>
          <a:p>
            <a:endParaRPr lang="en-GB"/>
          </a:p>
        </p:txBody>
      </p:sp>
      <p:sp>
        <p:nvSpPr>
          <p:cNvPr id="9" name="Text 7"/>
          <p:cNvSpPr/>
          <p:nvPr/>
        </p:nvSpPr>
        <p:spPr>
          <a:xfrm>
            <a:off x="1143000" y="2926080"/>
            <a:ext cx="3200400" cy="502920"/>
          </a:xfrm>
          <a:prstGeom prst="rect">
            <a:avLst/>
          </a:prstGeom>
          <a:noFill/>
          <a:ln/>
        </p:spPr>
        <p:txBody>
          <a:bodyPr wrap="square" rtlCol="0" anchor="ctr"/>
          <a:lstStyle/>
          <a:p>
            <a:pPr marL="0" indent="0">
              <a:buNone/>
            </a:pPr>
            <a:r>
              <a:rPr lang="en-US" sz="1400" b="1" dirty="0">
                <a:solidFill>
                  <a:srgbClr val="E6EDF3"/>
                </a:solidFill>
                <a:latin typeface="Segoe UI" pitchFamily="34" charset="0"/>
                <a:ea typeface="Segoe UI" pitchFamily="34" charset="-122"/>
                <a:cs typeface="Segoe UI" pitchFamily="34" charset="-120"/>
              </a:rPr>
              <a:t>Base model only</a:t>
            </a:r>
            <a:endParaRPr lang="en-US" sz="1400" dirty="0"/>
          </a:p>
        </p:txBody>
      </p:sp>
      <p:sp>
        <p:nvSpPr>
          <p:cNvPr id="10" name="Text 8"/>
          <p:cNvSpPr/>
          <p:nvPr/>
        </p:nvSpPr>
        <p:spPr>
          <a:xfrm>
            <a:off x="4480560" y="2926080"/>
            <a:ext cx="6400800" cy="502920"/>
          </a:xfrm>
          <a:prstGeom prst="rect">
            <a:avLst/>
          </a:prstGeom>
          <a:noFill/>
          <a:ln/>
        </p:spPr>
        <p:txBody>
          <a:bodyPr wrap="square" rtlCol="0" anchor="ctr"/>
          <a:lstStyle/>
          <a:p>
            <a:pPr marL="0" indent="0">
              <a:buNone/>
            </a:pPr>
            <a:r>
              <a:rPr lang="en-US" sz="1300" dirty="0">
                <a:solidFill>
                  <a:srgbClr val="8B949E"/>
                </a:solidFill>
                <a:latin typeface="Segoe UI" pitchFamily="34" charset="0"/>
                <a:ea typeface="Segoe UI" pitchFamily="34" charset="-122"/>
                <a:cs typeface="Segoe UI" pitchFamily="34" charset="-120"/>
              </a:rPr>
              <a:t>Broad knowledge, low business specificity</a:t>
            </a:r>
            <a:endParaRPr lang="en-US" sz="1300" dirty="0"/>
          </a:p>
        </p:txBody>
      </p:sp>
      <p:sp>
        <p:nvSpPr>
          <p:cNvPr id="11" name="Shape 9"/>
          <p:cNvSpPr/>
          <p:nvPr/>
        </p:nvSpPr>
        <p:spPr>
          <a:xfrm>
            <a:off x="914400" y="3520440"/>
            <a:ext cx="73152" cy="502920"/>
          </a:xfrm>
          <a:prstGeom prst="rect">
            <a:avLst/>
          </a:prstGeom>
          <a:solidFill>
            <a:srgbClr val="D29922"/>
          </a:solidFill>
          <a:ln/>
        </p:spPr>
        <p:txBody>
          <a:bodyPr/>
          <a:lstStyle/>
          <a:p>
            <a:endParaRPr lang="en-GB"/>
          </a:p>
        </p:txBody>
      </p:sp>
      <p:sp>
        <p:nvSpPr>
          <p:cNvPr id="12" name="Text 10"/>
          <p:cNvSpPr/>
          <p:nvPr/>
        </p:nvSpPr>
        <p:spPr>
          <a:xfrm>
            <a:off x="1143000" y="3520440"/>
            <a:ext cx="3200400" cy="502920"/>
          </a:xfrm>
          <a:prstGeom prst="rect">
            <a:avLst/>
          </a:prstGeom>
          <a:noFill/>
          <a:ln/>
        </p:spPr>
        <p:txBody>
          <a:bodyPr wrap="square" rtlCol="0" anchor="ctr"/>
          <a:lstStyle/>
          <a:p>
            <a:pPr marL="0" indent="0">
              <a:buNone/>
            </a:pPr>
            <a:r>
              <a:rPr lang="en-US" sz="1400" b="1" dirty="0">
                <a:solidFill>
                  <a:srgbClr val="E6EDF3"/>
                </a:solidFill>
                <a:latin typeface="Segoe UI" pitchFamily="34" charset="0"/>
                <a:ea typeface="Segoe UI" pitchFamily="34" charset="-122"/>
                <a:cs typeface="Segoe UI" pitchFamily="34" charset="-120"/>
              </a:rPr>
              <a:t>Prompt stuffing</a:t>
            </a:r>
            <a:endParaRPr lang="en-US" sz="1400" dirty="0"/>
          </a:p>
        </p:txBody>
      </p:sp>
      <p:sp>
        <p:nvSpPr>
          <p:cNvPr id="13" name="Text 11"/>
          <p:cNvSpPr/>
          <p:nvPr/>
        </p:nvSpPr>
        <p:spPr>
          <a:xfrm>
            <a:off x="4480560" y="3520440"/>
            <a:ext cx="6400800" cy="502920"/>
          </a:xfrm>
          <a:prstGeom prst="rect">
            <a:avLst/>
          </a:prstGeom>
          <a:noFill/>
          <a:ln/>
        </p:spPr>
        <p:txBody>
          <a:bodyPr wrap="square" rtlCol="0" anchor="ctr"/>
          <a:lstStyle/>
          <a:p>
            <a:pPr marL="0" indent="0">
              <a:buNone/>
            </a:pPr>
            <a:r>
              <a:rPr lang="en-US" sz="1300" dirty="0">
                <a:solidFill>
                  <a:srgbClr val="8B949E"/>
                </a:solidFill>
                <a:latin typeface="Segoe UI" pitchFamily="34" charset="0"/>
                <a:ea typeface="Segoe UI" pitchFamily="34" charset="-122"/>
                <a:cs typeface="Segoe UI" pitchFamily="34" charset="-120"/>
              </a:rPr>
              <a:t>Quick specificity, high prompt/log exposure</a:t>
            </a:r>
            <a:endParaRPr lang="en-US" sz="1300" dirty="0"/>
          </a:p>
        </p:txBody>
      </p:sp>
      <p:sp>
        <p:nvSpPr>
          <p:cNvPr id="14" name="Shape 12"/>
          <p:cNvSpPr/>
          <p:nvPr/>
        </p:nvSpPr>
        <p:spPr>
          <a:xfrm>
            <a:off x="914400" y="4114800"/>
            <a:ext cx="73152" cy="502920"/>
          </a:xfrm>
          <a:prstGeom prst="rect">
            <a:avLst/>
          </a:prstGeom>
          <a:solidFill>
            <a:srgbClr val="F85149"/>
          </a:solidFill>
          <a:ln/>
        </p:spPr>
        <p:txBody>
          <a:bodyPr/>
          <a:lstStyle/>
          <a:p>
            <a:endParaRPr lang="en-GB"/>
          </a:p>
        </p:txBody>
      </p:sp>
      <p:sp>
        <p:nvSpPr>
          <p:cNvPr id="15" name="Text 13"/>
          <p:cNvSpPr/>
          <p:nvPr/>
        </p:nvSpPr>
        <p:spPr>
          <a:xfrm>
            <a:off x="1143000" y="4114800"/>
            <a:ext cx="3200400" cy="502920"/>
          </a:xfrm>
          <a:prstGeom prst="rect">
            <a:avLst/>
          </a:prstGeom>
          <a:noFill/>
          <a:ln/>
        </p:spPr>
        <p:txBody>
          <a:bodyPr wrap="square" rtlCol="0" anchor="ctr"/>
          <a:lstStyle/>
          <a:p>
            <a:pPr marL="0" indent="0">
              <a:buNone/>
            </a:pPr>
            <a:r>
              <a:rPr lang="en-US" sz="1400" b="1" dirty="0">
                <a:solidFill>
                  <a:srgbClr val="E6EDF3"/>
                </a:solidFill>
                <a:latin typeface="Segoe UI" pitchFamily="34" charset="0"/>
                <a:ea typeface="Segoe UI" pitchFamily="34" charset="-122"/>
                <a:cs typeface="Segoe UI" pitchFamily="34" charset="-120"/>
              </a:rPr>
              <a:t>Training / Fine-tuning</a:t>
            </a:r>
            <a:endParaRPr lang="en-US" sz="1400" dirty="0"/>
          </a:p>
        </p:txBody>
      </p:sp>
      <p:sp>
        <p:nvSpPr>
          <p:cNvPr id="16" name="Text 14"/>
          <p:cNvSpPr/>
          <p:nvPr/>
        </p:nvSpPr>
        <p:spPr>
          <a:xfrm>
            <a:off x="4480560" y="4114800"/>
            <a:ext cx="6400800" cy="502920"/>
          </a:xfrm>
          <a:prstGeom prst="rect">
            <a:avLst/>
          </a:prstGeom>
          <a:noFill/>
          <a:ln/>
        </p:spPr>
        <p:txBody>
          <a:bodyPr wrap="square" rtlCol="0" anchor="ctr"/>
          <a:lstStyle/>
          <a:p>
            <a:pPr marL="0" indent="0">
              <a:buNone/>
            </a:pPr>
            <a:r>
              <a:rPr lang="en-US" sz="1300" dirty="0">
                <a:solidFill>
                  <a:srgbClr val="8B949E"/>
                </a:solidFill>
                <a:latin typeface="Segoe UI" pitchFamily="34" charset="0"/>
                <a:ea typeface="Segoe UI" pitchFamily="34" charset="-122"/>
                <a:cs typeface="Segoe UI" pitchFamily="34" charset="-120"/>
              </a:rPr>
              <a:t>Durable behavior change, harder deletion &amp; ACL</a:t>
            </a:r>
            <a:endParaRPr lang="en-US" sz="1300" dirty="0"/>
          </a:p>
        </p:txBody>
      </p:sp>
      <p:sp>
        <p:nvSpPr>
          <p:cNvPr id="17" name="Shape 15"/>
          <p:cNvSpPr/>
          <p:nvPr/>
        </p:nvSpPr>
        <p:spPr>
          <a:xfrm>
            <a:off x="914400" y="4709160"/>
            <a:ext cx="73152" cy="502920"/>
          </a:xfrm>
          <a:prstGeom prst="rect">
            <a:avLst/>
          </a:prstGeom>
          <a:solidFill>
            <a:srgbClr val="D29922"/>
          </a:solidFill>
          <a:ln/>
        </p:spPr>
        <p:txBody>
          <a:bodyPr/>
          <a:lstStyle/>
          <a:p>
            <a:endParaRPr lang="en-GB"/>
          </a:p>
        </p:txBody>
      </p:sp>
      <p:sp>
        <p:nvSpPr>
          <p:cNvPr id="18" name="Text 16"/>
          <p:cNvSpPr/>
          <p:nvPr/>
        </p:nvSpPr>
        <p:spPr>
          <a:xfrm>
            <a:off x="1143000" y="4709160"/>
            <a:ext cx="3200400" cy="502920"/>
          </a:xfrm>
          <a:prstGeom prst="rect">
            <a:avLst/>
          </a:prstGeom>
          <a:noFill/>
          <a:ln/>
        </p:spPr>
        <p:txBody>
          <a:bodyPr wrap="square" rtlCol="0" anchor="ctr"/>
          <a:lstStyle/>
          <a:p>
            <a:pPr marL="0" indent="0">
              <a:buNone/>
            </a:pPr>
            <a:r>
              <a:rPr lang="en-US" sz="1400" b="1" dirty="0">
                <a:solidFill>
                  <a:srgbClr val="E6EDF3"/>
                </a:solidFill>
                <a:latin typeface="Segoe UI" pitchFamily="34" charset="0"/>
                <a:ea typeface="Segoe UI" pitchFamily="34" charset="-122"/>
                <a:cs typeface="Segoe UI" pitchFamily="34" charset="-120"/>
              </a:rPr>
              <a:t>Retrieval (RAG)</a:t>
            </a:r>
            <a:endParaRPr lang="en-US" sz="1400" dirty="0"/>
          </a:p>
        </p:txBody>
      </p:sp>
      <p:sp>
        <p:nvSpPr>
          <p:cNvPr id="19" name="Text 17"/>
          <p:cNvSpPr/>
          <p:nvPr/>
        </p:nvSpPr>
        <p:spPr>
          <a:xfrm>
            <a:off x="4480560" y="4709160"/>
            <a:ext cx="6400800" cy="502920"/>
          </a:xfrm>
          <a:prstGeom prst="rect">
            <a:avLst/>
          </a:prstGeom>
          <a:noFill/>
          <a:ln/>
        </p:spPr>
        <p:txBody>
          <a:bodyPr wrap="square" rtlCol="0" anchor="ctr"/>
          <a:lstStyle/>
          <a:p>
            <a:pPr marL="0" indent="0">
              <a:buNone/>
            </a:pPr>
            <a:r>
              <a:rPr lang="en-US" sz="1300" dirty="0">
                <a:solidFill>
                  <a:srgbClr val="8B949E"/>
                </a:solidFill>
                <a:latin typeface="Segoe UI" pitchFamily="34" charset="0"/>
                <a:ea typeface="Segoe UI" pitchFamily="34" charset="-122"/>
                <a:cs typeface="Segoe UI" pitchFamily="34" charset="-120"/>
              </a:rPr>
              <a:t>Current knowledge, runtime authorization burden</a:t>
            </a:r>
            <a:endParaRPr lang="en-US" sz="1300" dirty="0"/>
          </a:p>
        </p:txBody>
      </p:sp>
      <p:sp>
        <p:nvSpPr>
          <p:cNvPr id="20" name="Shape 18"/>
          <p:cNvSpPr/>
          <p:nvPr/>
        </p:nvSpPr>
        <p:spPr>
          <a:xfrm>
            <a:off x="731520" y="5669280"/>
            <a:ext cx="54864" cy="411480"/>
          </a:xfrm>
          <a:prstGeom prst="rect">
            <a:avLst/>
          </a:prstGeom>
          <a:solidFill>
            <a:srgbClr val="3FB950"/>
          </a:solidFill>
          <a:ln/>
        </p:spPr>
        <p:txBody>
          <a:bodyPr/>
          <a:lstStyle/>
          <a:p>
            <a:endParaRPr lang="en-GB"/>
          </a:p>
        </p:txBody>
      </p:sp>
      <p:sp>
        <p:nvSpPr>
          <p:cNvPr id="21" name="Text 19"/>
          <p:cNvSpPr/>
          <p:nvPr/>
        </p:nvSpPr>
        <p:spPr>
          <a:xfrm>
            <a:off x="960120" y="5669280"/>
            <a:ext cx="10497312" cy="411480"/>
          </a:xfrm>
          <a:prstGeom prst="rect">
            <a:avLst/>
          </a:prstGeom>
          <a:noFill/>
          <a:ln/>
        </p:spPr>
        <p:txBody>
          <a:bodyPr wrap="square" rtlCol="0" anchor="ctr"/>
          <a:lstStyle/>
          <a:p>
            <a:pPr marL="0" indent="0">
              <a:buNone/>
            </a:pPr>
            <a:r>
              <a:rPr lang="en-US" sz="1400" b="1" i="1" dirty="0">
                <a:solidFill>
                  <a:srgbClr val="3FB950"/>
                </a:solidFill>
                <a:latin typeface="Segoe UI" pitchFamily="34" charset="0"/>
                <a:ea typeface="Segoe UI" pitchFamily="34" charset="-122"/>
                <a:cs typeface="Segoe UI" pitchFamily="34" charset="-120"/>
              </a:rPr>
              <a:t>Business usefulness creates pressure to move private knowledge closer to the model.</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274320"/>
          </a:xfrm>
          <a:prstGeom prst="rect">
            <a:avLst/>
          </a:prstGeom>
          <a:noFill/>
          <a:ln/>
        </p:spPr>
        <p:txBody>
          <a:bodyPr wrap="square" rtlCol="0" anchor="ctr"/>
          <a:lstStyle/>
          <a:p>
            <a:pPr marL="0" indent="0">
              <a:buNone/>
            </a:pPr>
            <a:r>
              <a:rPr lang="en-US" sz="1100" dirty="0">
                <a:solidFill>
                  <a:srgbClr val="8B949E"/>
                </a:solidFill>
                <a:latin typeface="Consolas" pitchFamily="34" charset="0"/>
                <a:ea typeface="Consolas" pitchFamily="34" charset="-122"/>
                <a:cs typeface="Consolas" pitchFamily="34" charset="-120"/>
              </a:rPr>
              <a:t>Stage 1 · Training</a:t>
            </a:r>
            <a:endParaRPr lang="en-US" sz="1100" dirty="0"/>
          </a:p>
        </p:txBody>
      </p:sp>
      <p:sp>
        <p:nvSpPr>
          <p:cNvPr id="3" name="Text 1"/>
          <p:cNvSpPr/>
          <p:nvPr/>
        </p:nvSpPr>
        <p:spPr>
          <a:xfrm>
            <a:off x="548640" y="594360"/>
            <a:ext cx="11091672" cy="502920"/>
          </a:xfrm>
          <a:prstGeom prst="rect">
            <a:avLst/>
          </a:prstGeom>
          <a:noFill/>
          <a:ln/>
        </p:spPr>
        <p:txBody>
          <a:bodyPr wrap="square" rtlCol="0" anchor="ctr"/>
          <a:lstStyle/>
          <a:p>
            <a:pPr marL="0" indent="0">
              <a:buNone/>
            </a:pPr>
            <a:r>
              <a:rPr lang="en-US" sz="2400" dirty="0">
                <a:solidFill>
                  <a:srgbClr val="8B949E"/>
                </a:solidFill>
                <a:latin typeface="Consolas" pitchFamily="34" charset="0"/>
                <a:ea typeface="Consolas" pitchFamily="34" charset="-122"/>
                <a:cs typeface="Consolas" pitchFamily="34" charset="-120"/>
              </a:rPr>
              <a:t>&gt; </a:t>
            </a:r>
            <a:r>
              <a:rPr lang="en-US" sz="2200" b="1" dirty="0">
                <a:solidFill>
                  <a:srgbClr val="58A6FF"/>
                </a:solidFill>
                <a:latin typeface="Consolas" pitchFamily="34" charset="0"/>
                <a:ea typeface="Consolas" pitchFamily="34" charset="-122"/>
                <a:cs typeface="Consolas" pitchFamily="34" charset="-120"/>
              </a:rPr>
              <a:t>How to secure training data?</a:t>
            </a:r>
            <a:endParaRPr lang="en-US" sz="2400" dirty="0"/>
          </a:p>
        </p:txBody>
      </p:sp>
      <p:sp>
        <p:nvSpPr>
          <p:cNvPr id="4" name="Shape 2"/>
          <p:cNvSpPr/>
          <p:nvPr/>
        </p:nvSpPr>
        <p:spPr>
          <a:xfrm>
            <a:off x="548640" y="1143000"/>
            <a:ext cx="11091672" cy="13716"/>
          </a:xfrm>
          <a:prstGeom prst="rect">
            <a:avLst/>
          </a:prstGeom>
          <a:solidFill>
            <a:srgbClr val="30363D"/>
          </a:solidFill>
          <a:ln/>
        </p:spPr>
        <p:txBody>
          <a:bodyPr/>
          <a:lstStyle/>
          <a:p>
            <a:endParaRPr lang="en-GB"/>
          </a:p>
        </p:txBody>
      </p:sp>
      <p:sp>
        <p:nvSpPr>
          <p:cNvPr id="5" name="Text 3"/>
          <p:cNvSpPr/>
          <p:nvPr/>
        </p:nvSpPr>
        <p:spPr>
          <a:xfrm>
            <a:off x="10972800" y="6446520"/>
            <a:ext cx="731520" cy="274320"/>
          </a:xfrm>
          <a:prstGeom prst="rect">
            <a:avLst/>
          </a:prstGeom>
          <a:noFill/>
          <a:ln/>
        </p:spPr>
        <p:txBody>
          <a:bodyPr wrap="square" rtlCol="0" anchor="ctr"/>
          <a:lstStyle/>
          <a:p>
            <a:pPr marL="0" indent="0" algn="r">
              <a:buNone/>
            </a:pPr>
            <a:r>
              <a:rPr lang="en-US" sz="1000" dirty="0">
                <a:solidFill>
                  <a:srgbClr val="8B949E"/>
                </a:solidFill>
                <a:latin typeface="Consolas" pitchFamily="34" charset="0"/>
                <a:ea typeface="Consolas" pitchFamily="34" charset="-122"/>
                <a:cs typeface="Consolas" pitchFamily="34" charset="-120"/>
              </a:rPr>
              <a:t>7</a:t>
            </a:r>
            <a:endParaRPr lang="en-US" sz="1000" dirty="0"/>
          </a:p>
        </p:txBody>
      </p:sp>
      <p:sp>
        <p:nvSpPr>
          <p:cNvPr id="6" name="Shape 4"/>
          <p:cNvSpPr/>
          <p:nvPr/>
        </p:nvSpPr>
        <p:spPr>
          <a:xfrm>
            <a:off x="548640" y="1325880"/>
            <a:ext cx="11091672" cy="5074920"/>
          </a:xfrm>
          <a:prstGeom prst="roundRect">
            <a:avLst>
              <a:gd name="adj" fmla="val 2162"/>
            </a:avLst>
          </a:prstGeom>
          <a:solidFill>
            <a:srgbClr val="161B22"/>
          </a:solidFill>
          <a:ln w="9525">
            <a:solidFill>
              <a:srgbClr val="30363D"/>
            </a:solidFill>
            <a:prstDash val="solid"/>
          </a:ln>
        </p:spPr>
        <p:txBody>
          <a:bodyPr/>
          <a:lstStyle/>
          <a:p>
            <a:endParaRPr lang="en-GB" dirty="0"/>
          </a:p>
        </p:txBody>
      </p:sp>
      <p:sp>
        <p:nvSpPr>
          <p:cNvPr id="7" name="Shape 5"/>
          <p:cNvSpPr/>
          <p:nvPr/>
        </p:nvSpPr>
        <p:spPr>
          <a:xfrm>
            <a:off x="914400" y="1645920"/>
            <a:ext cx="1852574"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8" name="Text 6"/>
          <p:cNvSpPr/>
          <p:nvPr/>
        </p:nvSpPr>
        <p:spPr>
          <a:xfrm>
            <a:off x="914400" y="1645920"/>
            <a:ext cx="1852574" cy="502920"/>
          </a:xfrm>
          <a:prstGeom prst="rect">
            <a:avLst/>
          </a:prstGeom>
          <a:noFill/>
          <a:ln/>
        </p:spPr>
        <p:txBody>
          <a:bodyPr wrap="square" rtlCol="0" anchor="ctr"/>
          <a:lstStyle/>
          <a:p>
            <a:pPr marL="0" indent="0" algn="ctr">
              <a:buNone/>
            </a:pPr>
            <a:r>
              <a:rPr lang="en-US" sz="1100" b="1" dirty="0">
                <a:solidFill>
                  <a:srgbClr val="E6EDF3"/>
                </a:solidFill>
                <a:latin typeface="Segoe UI" pitchFamily="34" charset="0"/>
                <a:ea typeface="Segoe UI" pitchFamily="34" charset="-122"/>
                <a:cs typeface="Segoe UI" pitchFamily="34" charset="-120"/>
              </a:rPr>
              <a:t>Internal Docs</a:t>
            </a:r>
            <a:endParaRPr lang="en-US" sz="1100" dirty="0"/>
          </a:p>
        </p:txBody>
      </p:sp>
      <p:sp>
        <p:nvSpPr>
          <p:cNvPr id="9" name="Text 7"/>
          <p:cNvSpPr/>
          <p:nvPr/>
        </p:nvSpPr>
        <p:spPr>
          <a:xfrm>
            <a:off x="2766974" y="1645920"/>
            <a:ext cx="274320" cy="502920"/>
          </a:xfrm>
          <a:prstGeom prst="rect">
            <a:avLst/>
          </a:prstGeom>
          <a:noFill/>
          <a:ln/>
        </p:spPr>
        <p:txBody>
          <a:bodyPr wrap="square" rtlCol="0" anchor="ctr"/>
          <a:lstStyle/>
          <a:p>
            <a:pPr marL="0" indent="0" algn="ctr">
              <a:buNone/>
            </a:pPr>
            <a:r>
              <a:rPr lang="en-US" sz="1600" dirty="0">
                <a:solidFill>
                  <a:srgbClr val="D29922"/>
                </a:solidFill>
                <a:latin typeface="Segoe UI" pitchFamily="34" charset="0"/>
                <a:ea typeface="Segoe UI" pitchFamily="34" charset="-122"/>
                <a:cs typeface="Segoe UI" pitchFamily="34" charset="-120"/>
              </a:rPr>
              <a:t>→</a:t>
            </a:r>
            <a:endParaRPr lang="en-US" sz="1600" dirty="0"/>
          </a:p>
        </p:txBody>
      </p:sp>
      <p:sp>
        <p:nvSpPr>
          <p:cNvPr id="10" name="Shape 8"/>
          <p:cNvSpPr/>
          <p:nvPr/>
        </p:nvSpPr>
        <p:spPr>
          <a:xfrm>
            <a:off x="3041294" y="1645920"/>
            <a:ext cx="1852574"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1" name="Text 9"/>
          <p:cNvSpPr/>
          <p:nvPr/>
        </p:nvSpPr>
        <p:spPr>
          <a:xfrm>
            <a:off x="3041294" y="1645920"/>
            <a:ext cx="1852574" cy="502920"/>
          </a:xfrm>
          <a:prstGeom prst="rect">
            <a:avLst/>
          </a:prstGeom>
          <a:noFill/>
          <a:ln/>
        </p:spPr>
        <p:txBody>
          <a:bodyPr wrap="square" rtlCol="0" anchor="ctr"/>
          <a:lstStyle/>
          <a:p>
            <a:pPr marL="0" indent="0" algn="ctr">
              <a:buNone/>
            </a:pPr>
            <a:r>
              <a:rPr lang="en-US" sz="1100" b="1" dirty="0">
                <a:solidFill>
                  <a:srgbClr val="E6EDF3"/>
                </a:solidFill>
                <a:latin typeface="Segoe UI" pitchFamily="34" charset="0"/>
                <a:ea typeface="Segoe UI" pitchFamily="34" charset="-122"/>
                <a:cs typeface="Segoe UI" pitchFamily="34" charset="-120"/>
              </a:rPr>
              <a:t>Classification</a:t>
            </a:r>
            <a:endParaRPr lang="en-US" sz="1100" dirty="0"/>
          </a:p>
        </p:txBody>
      </p:sp>
      <p:sp>
        <p:nvSpPr>
          <p:cNvPr id="12" name="Text 10"/>
          <p:cNvSpPr/>
          <p:nvPr/>
        </p:nvSpPr>
        <p:spPr>
          <a:xfrm>
            <a:off x="4893869" y="1645920"/>
            <a:ext cx="274320" cy="502920"/>
          </a:xfrm>
          <a:prstGeom prst="rect">
            <a:avLst/>
          </a:prstGeom>
          <a:noFill/>
          <a:ln/>
        </p:spPr>
        <p:txBody>
          <a:bodyPr wrap="square" rtlCol="0" anchor="ctr"/>
          <a:lstStyle/>
          <a:p>
            <a:pPr marL="0" indent="0" algn="ctr">
              <a:buNone/>
            </a:pPr>
            <a:r>
              <a:rPr lang="en-US" sz="1600" dirty="0">
                <a:solidFill>
                  <a:srgbClr val="D29922"/>
                </a:solidFill>
                <a:latin typeface="Segoe UI" pitchFamily="34" charset="0"/>
                <a:ea typeface="Segoe UI" pitchFamily="34" charset="-122"/>
                <a:cs typeface="Segoe UI" pitchFamily="34" charset="-120"/>
              </a:rPr>
              <a:t>→</a:t>
            </a:r>
            <a:endParaRPr lang="en-US" sz="1600" dirty="0"/>
          </a:p>
        </p:txBody>
      </p:sp>
      <p:sp>
        <p:nvSpPr>
          <p:cNvPr id="13" name="Shape 11"/>
          <p:cNvSpPr/>
          <p:nvPr/>
        </p:nvSpPr>
        <p:spPr>
          <a:xfrm>
            <a:off x="5168189" y="1645920"/>
            <a:ext cx="1852574"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4" name="Text 12"/>
          <p:cNvSpPr/>
          <p:nvPr/>
        </p:nvSpPr>
        <p:spPr>
          <a:xfrm>
            <a:off x="5168189" y="1645920"/>
            <a:ext cx="1852574" cy="502920"/>
          </a:xfrm>
          <a:prstGeom prst="rect">
            <a:avLst/>
          </a:prstGeom>
          <a:noFill/>
          <a:ln/>
        </p:spPr>
        <p:txBody>
          <a:bodyPr wrap="square" rtlCol="0" anchor="ctr"/>
          <a:lstStyle/>
          <a:p>
            <a:pPr marL="0" indent="0" algn="ctr">
              <a:buNone/>
            </a:pPr>
            <a:r>
              <a:rPr lang="en-US" sz="1100" b="1" dirty="0">
                <a:solidFill>
                  <a:srgbClr val="E6EDF3"/>
                </a:solidFill>
                <a:latin typeface="Segoe UI" pitchFamily="34" charset="0"/>
                <a:ea typeface="Segoe UI" pitchFamily="34" charset="-122"/>
                <a:cs typeface="Segoe UI" pitchFamily="34" charset="-120"/>
              </a:rPr>
              <a:t>Redaction</a:t>
            </a:r>
            <a:endParaRPr lang="en-US" sz="1100" dirty="0"/>
          </a:p>
        </p:txBody>
      </p:sp>
      <p:sp>
        <p:nvSpPr>
          <p:cNvPr id="15" name="Text 13"/>
          <p:cNvSpPr/>
          <p:nvPr/>
        </p:nvSpPr>
        <p:spPr>
          <a:xfrm>
            <a:off x="7020763" y="1645920"/>
            <a:ext cx="274320" cy="502920"/>
          </a:xfrm>
          <a:prstGeom prst="rect">
            <a:avLst/>
          </a:prstGeom>
          <a:noFill/>
          <a:ln/>
        </p:spPr>
        <p:txBody>
          <a:bodyPr wrap="square" rtlCol="0" anchor="ctr"/>
          <a:lstStyle/>
          <a:p>
            <a:pPr marL="0" indent="0" algn="ctr">
              <a:buNone/>
            </a:pPr>
            <a:r>
              <a:rPr lang="en-US" sz="1600" dirty="0">
                <a:solidFill>
                  <a:srgbClr val="D29922"/>
                </a:solidFill>
                <a:latin typeface="Segoe UI" pitchFamily="34" charset="0"/>
                <a:ea typeface="Segoe UI" pitchFamily="34" charset="-122"/>
                <a:cs typeface="Segoe UI" pitchFamily="34" charset="-120"/>
              </a:rPr>
              <a:t>→</a:t>
            </a:r>
            <a:endParaRPr lang="en-US" sz="1600" dirty="0"/>
          </a:p>
        </p:txBody>
      </p:sp>
      <p:sp>
        <p:nvSpPr>
          <p:cNvPr id="16" name="Shape 14"/>
          <p:cNvSpPr/>
          <p:nvPr/>
        </p:nvSpPr>
        <p:spPr>
          <a:xfrm>
            <a:off x="7295083" y="1645920"/>
            <a:ext cx="1852574"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7" name="Text 15"/>
          <p:cNvSpPr/>
          <p:nvPr/>
        </p:nvSpPr>
        <p:spPr>
          <a:xfrm>
            <a:off x="7295083" y="1645920"/>
            <a:ext cx="1852574" cy="502920"/>
          </a:xfrm>
          <a:prstGeom prst="rect">
            <a:avLst/>
          </a:prstGeom>
          <a:noFill/>
          <a:ln/>
        </p:spPr>
        <p:txBody>
          <a:bodyPr wrap="square" rtlCol="0" anchor="ctr"/>
          <a:lstStyle/>
          <a:p>
            <a:pPr marL="0" indent="0" algn="ctr">
              <a:buNone/>
            </a:pPr>
            <a:r>
              <a:rPr lang="en-US" sz="1100" b="1" dirty="0">
                <a:solidFill>
                  <a:srgbClr val="E6EDF3"/>
                </a:solidFill>
                <a:latin typeface="Segoe UI" pitchFamily="34" charset="0"/>
                <a:ea typeface="Segoe UI" pitchFamily="34" charset="-122"/>
                <a:cs typeface="Segoe UI" pitchFamily="34" charset="-120"/>
              </a:rPr>
              <a:t>Training Pipeline</a:t>
            </a:r>
            <a:endParaRPr lang="en-US" sz="1100" dirty="0"/>
          </a:p>
        </p:txBody>
      </p:sp>
      <p:sp>
        <p:nvSpPr>
          <p:cNvPr id="18" name="Text 16"/>
          <p:cNvSpPr/>
          <p:nvPr/>
        </p:nvSpPr>
        <p:spPr>
          <a:xfrm>
            <a:off x="9147658" y="1645920"/>
            <a:ext cx="274320" cy="502920"/>
          </a:xfrm>
          <a:prstGeom prst="rect">
            <a:avLst/>
          </a:prstGeom>
          <a:noFill/>
          <a:ln/>
        </p:spPr>
        <p:txBody>
          <a:bodyPr wrap="square" rtlCol="0" anchor="ctr"/>
          <a:lstStyle/>
          <a:p>
            <a:pPr marL="0" indent="0" algn="ctr">
              <a:buNone/>
            </a:pPr>
            <a:r>
              <a:rPr lang="en-US" sz="1600" dirty="0">
                <a:solidFill>
                  <a:srgbClr val="D29922"/>
                </a:solidFill>
                <a:latin typeface="Segoe UI" pitchFamily="34" charset="0"/>
                <a:ea typeface="Segoe UI" pitchFamily="34" charset="-122"/>
                <a:cs typeface="Segoe UI" pitchFamily="34" charset="-120"/>
              </a:rPr>
              <a:t>→</a:t>
            </a:r>
            <a:endParaRPr lang="en-US" sz="1600" dirty="0"/>
          </a:p>
        </p:txBody>
      </p:sp>
      <p:sp>
        <p:nvSpPr>
          <p:cNvPr id="19" name="Shape 17"/>
          <p:cNvSpPr/>
          <p:nvPr/>
        </p:nvSpPr>
        <p:spPr>
          <a:xfrm>
            <a:off x="9421978" y="1645920"/>
            <a:ext cx="1852574"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20" name="Text 18"/>
          <p:cNvSpPr/>
          <p:nvPr/>
        </p:nvSpPr>
        <p:spPr>
          <a:xfrm>
            <a:off x="9421978" y="1645920"/>
            <a:ext cx="1852574" cy="502920"/>
          </a:xfrm>
          <a:prstGeom prst="rect">
            <a:avLst/>
          </a:prstGeom>
          <a:noFill/>
          <a:ln/>
        </p:spPr>
        <p:txBody>
          <a:bodyPr wrap="square" rtlCol="0" anchor="ctr"/>
          <a:lstStyle/>
          <a:p>
            <a:pPr marL="0" indent="0" algn="ctr">
              <a:buNone/>
            </a:pPr>
            <a:r>
              <a:rPr lang="en-US" sz="1100" b="1" dirty="0">
                <a:solidFill>
                  <a:srgbClr val="E6EDF3"/>
                </a:solidFill>
                <a:latin typeface="Segoe UI" pitchFamily="34" charset="0"/>
                <a:ea typeface="Segoe UI" pitchFamily="34" charset="-122"/>
                <a:cs typeface="Segoe UI" pitchFamily="34" charset="-120"/>
              </a:rPr>
              <a:t>Model Behavior</a:t>
            </a:r>
            <a:endParaRPr lang="en-US" sz="1100" dirty="0"/>
          </a:p>
        </p:txBody>
      </p:sp>
      <p:sp>
        <p:nvSpPr>
          <p:cNvPr id="21" name="Text 19"/>
          <p:cNvSpPr/>
          <p:nvPr/>
        </p:nvSpPr>
        <p:spPr>
          <a:xfrm>
            <a:off x="914400" y="3295650"/>
            <a:ext cx="10360152" cy="2007870"/>
          </a:xfrm>
          <a:prstGeom prst="rect">
            <a:avLst/>
          </a:prstGeom>
          <a:noFill/>
          <a:ln/>
        </p:spPr>
        <p:txBody>
          <a:bodyPr wrap="square" rtlCol="0" anchor="t"/>
          <a:lstStyle/>
          <a:p>
            <a:pPr marL="342900" indent="-342900">
              <a:lnSpc>
                <a:spcPct val="135000"/>
              </a:lnSpc>
              <a:spcBef>
                <a:spcPts val="400"/>
              </a:spcBef>
              <a:buSzPct val="100000"/>
              <a:buChar char="•"/>
            </a:pPr>
            <a:r>
              <a:rPr lang="en-US" sz="1300" dirty="0">
                <a:solidFill>
                  <a:srgbClr val="E6EDF3"/>
                </a:solidFill>
                <a:latin typeface="Segoe UI" pitchFamily="34" charset="0"/>
                <a:ea typeface="Segoe UI" pitchFamily="34" charset="-122"/>
                <a:cs typeface="Segoe UI" pitchFamily="34" charset="-120"/>
              </a:rPr>
              <a:t>Training on internal data is a data-placement decision, not just a quality decision</a:t>
            </a:r>
            <a:endParaRPr lang="en-US" sz="1300" dirty="0"/>
          </a:p>
          <a:p>
            <a:pPr marL="342900" indent="-342900">
              <a:lnSpc>
                <a:spcPct val="135000"/>
              </a:lnSpc>
              <a:spcBef>
                <a:spcPts val="400"/>
              </a:spcBef>
              <a:buSzPct val="100000"/>
              <a:buChar char="•"/>
            </a:pPr>
            <a:r>
              <a:rPr lang="en-US" sz="1300" dirty="0">
                <a:solidFill>
                  <a:srgbClr val="E6EDF3"/>
                </a:solidFill>
                <a:latin typeface="Segoe UI" pitchFamily="34" charset="0"/>
                <a:ea typeface="Segoe UI" pitchFamily="34" charset="-122"/>
                <a:cs typeface="Segoe UI" pitchFamily="34" charset="-120"/>
              </a:rPr>
              <a:t>Model weights become a fuzzy, hard-to-query, hard-to-delete storage layer</a:t>
            </a:r>
            <a:endParaRPr lang="en-US" sz="1300" dirty="0"/>
          </a:p>
          <a:p>
            <a:pPr marL="342900" indent="-342900">
              <a:lnSpc>
                <a:spcPct val="135000"/>
              </a:lnSpc>
              <a:spcBef>
                <a:spcPts val="400"/>
              </a:spcBef>
              <a:buSzPct val="100000"/>
              <a:buChar char="•"/>
            </a:pPr>
            <a:r>
              <a:rPr lang="en-US" sz="1300" dirty="0">
                <a:solidFill>
                  <a:srgbClr val="E6EDF3"/>
                </a:solidFill>
                <a:latin typeface="Segoe UI" pitchFamily="34" charset="0"/>
                <a:ea typeface="Segoe UI" pitchFamily="34" charset="-122"/>
                <a:cs typeface="Segoe UI" pitchFamily="34" charset="-120"/>
              </a:rPr>
              <a:t>Cannot apply database ACLs to model weights</a:t>
            </a:r>
            <a:endParaRPr lang="en-US" sz="1300" dirty="0"/>
          </a:p>
        </p:txBody>
      </p:sp>
      <p:sp>
        <p:nvSpPr>
          <p:cNvPr id="22" name="Shape 20"/>
          <p:cNvSpPr/>
          <p:nvPr/>
        </p:nvSpPr>
        <p:spPr>
          <a:xfrm>
            <a:off x="731520" y="5669280"/>
            <a:ext cx="54864" cy="411480"/>
          </a:xfrm>
          <a:prstGeom prst="rect">
            <a:avLst/>
          </a:prstGeom>
          <a:solidFill>
            <a:srgbClr val="3FB950"/>
          </a:solidFill>
          <a:ln/>
        </p:spPr>
        <p:txBody>
          <a:bodyPr/>
          <a:lstStyle/>
          <a:p>
            <a:endParaRPr lang="en-GB"/>
          </a:p>
        </p:txBody>
      </p:sp>
      <p:sp>
        <p:nvSpPr>
          <p:cNvPr id="23" name="Text 21"/>
          <p:cNvSpPr/>
          <p:nvPr/>
        </p:nvSpPr>
        <p:spPr>
          <a:xfrm>
            <a:off x="960120" y="5669280"/>
            <a:ext cx="10497312" cy="411480"/>
          </a:xfrm>
          <a:prstGeom prst="rect">
            <a:avLst/>
          </a:prstGeom>
          <a:noFill/>
          <a:ln/>
        </p:spPr>
        <p:txBody>
          <a:bodyPr wrap="square" rtlCol="0" anchor="ctr"/>
          <a:lstStyle/>
          <a:p>
            <a:pPr marL="0" indent="0">
              <a:buNone/>
            </a:pPr>
            <a:r>
              <a:rPr lang="en-US" sz="1400" b="1" i="1" dirty="0">
                <a:solidFill>
                  <a:srgbClr val="3FB950"/>
                </a:solidFill>
                <a:latin typeface="Segoe UI" pitchFamily="34" charset="0"/>
                <a:ea typeface="Segoe UI" pitchFamily="34" charset="-122"/>
                <a:cs typeface="Segoe UI" pitchFamily="34" charset="-120"/>
              </a:rPr>
              <a:t>Training on internal data can turn model behavior into a sensitive-data artifact.</a:t>
            </a:r>
            <a:endParaRPr lang="en-US" sz="1400" dirty="0"/>
          </a:p>
        </p:txBody>
      </p:sp>
      <p:sp>
        <p:nvSpPr>
          <p:cNvPr id="25" name="Shape 20">
            <a:extLst>
              <a:ext uri="{FF2B5EF4-FFF2-40B4-BE49-F238E27FC236}">
                <a16:creationId xmlns:a16="http://schemas.microsoft.com/office/drawing/2014/main" id="{8C8614B8-A6C5-130E-EFB6-1459706AB5B2}"/>
              </a:ext>
            </a:extLst>
          </p:cNvPr>
          <p:cNvSpPr/>
          <p:nvPr/>
        </p:nvSpPr>
        <p:spPr>
          <a:xfrm>
            <a:off x="1715414" y="2607945"/>
            <a:ext cx="2103120" cy="365760"/>
          </a:xfrm>
          <a:prstGeom prst="roundRect">
            <a:avLst>
              <a:gd name="adj" fmla="val 15000"/>
            </a:avLst>
          </a:prstGeom>
          <a:solidFill>
            <a:srgbClr val="161B22"/>
          </a:solidFill>
          <a:ln w="9525">
            <a:solidFill>
              <a:srgbClr val="D29922"/>
            </a:solidFill>
            <a:prstDash val="dash"/>
          </a:ln>
        </p:spPr>
        <p:txBody>
          <a:bodyPr/>
          <a:lstStyle/>
          <a:p>
            <a:endParaRPr lang="en-GB"/>
          </a:p>
        </p:txBody>
      </p:sp>
      <p:sp>
        <p:nvSpPr>
          <p:cNvPr id="26" name="Text 21">
            <a:extLst>
              <a:ext uri="{FF2B5EF4-FFF2-40B4-BE49-F238E27FC236}">
                <a16:creationId xmlns:a16="http://schemas.microsoft.com/office/drawing/2014/main" id="{5D0495CF-218D-F779-8FB1-C276A8B81420}"/>
              </a:ext>
            </a:extLst>
          </p:cNvPr>
          <p:cNvSpPr/>
          <p:nvPr/>
        </p:nvSpPr>
        <p:spPr>
          <a:xfrm>
            <a:off x="1715414" y="2607945"/>
            <a:ext cx="2103120" cy="365760"/>
          </a:xfrm>
          <a:prstGeom prst="rect">
            <a:avLst/>
          </a:prstGeom>
          <a:noFill/>
          <a:ln/>
        </p:spPr>
        <p:txBody>
          <a:bodyPr wrap="square" rtlCol="0" anchor="ctr"/>
          <a:lstStyle/>
          <a:p>
            <a:pPr marL="0" indent="0" algn="ctr">
              <a:buNone/>
            </a:pPr>
            <a:r>
              <a:rPr lang="en-US" sz="1000" dirty="0">
                <a:solidFill>
                  <a:srgbClr val="D29922"/>
                </a:solidFill>
                <a:latin typeface="Segoe UI" pitchFamily="34" charset="0"/>
                <a:ea typeface="Segoe UI" pitchFamily="34" charset="-122"/>
                <a:cs typeface="Segoe UI" pitchFamily="34" charset="-120"/>
              </a:rPr>
              <a:t>Track dataset lineage</a:t>
            </a:r>
            <a:endParaRPr lang="en-US" sz="1000" dirty="0"/>
          </a:p>
        </p:txBody>
      </p:sp>
      <p:sp>
        <p:nvSpPr>
          <p:cNvPr id="27" name="Shape 20">
            <a:extLst>
              <a:ext uri="{FF2B5EF4-FFF2-40B4-BE49-F238E27FC236}">
                <a16:creationId xmlns:a16="http://schemas.microsoft.com/office/drawing/2014/main" id="{2F69BF65-4778-B5A9-003A-EE5D21675AC6}"/>
              </a:ext>
            </a:extLst>
          </p:cNvPr>
          <p:cNvSpPr/>
          <p:nvPr/>
        </p:nvSpPr>
        <p:spPr>
          <a:xfrm>
            <a:off x="3992880" y="2601849"/>
            <a:ext cx="2103120" cy="365760"/>
          </a:xfrm>
          <a:prstGeom prst="roundRect">
            <a:avLst>
              <a:gd name="adj" fmla="val 15000"/>
            </a:avLst>
          </a:prstGeom>
          <a:solidFill>
            <a:srgbClr val="161B22"/>
          </a:solidFill>
          <a:ln w="9525">
            <a:solidFill>
              <a:srgbClr val="D29922"/>
            </a:solidFill>
            <a:prstDash val="dash"/>
          </a:ln>
        </p:spPr>
        <p:txBody>
          <a:bodyPr/>
          <a:lstStyle/>
          <a:p>
            <a:endParaRPr lang="en-GB"/>
          </a:p>
        </p:txBody>
      </p:sp>
      <p:sp>
        <p:nvSpPr>
          <p:cNvPr id="28" name="Text 21">
            <a:extLst>
              <a:ext uri="{FF2B5EF4-FFF2-40B4-BE49-F238E27FC236}">
                <a16:creationId xmlns:a16="http://schemas.microsoft.com/office/drawing/2014/main" id="{2661766B-7B2E-3890-6382-17B3A7220243}"/>
              </a:ext>
            </a:extLst>
          </p:cNvPr>
          <p:cNvSpPr/>
          <p:nvPr/>
        </p:nvSpPr>
        <p:spPr>
          <a:xfrm>
            <a:off x="3992880" y="2601849"/>
            <a:ext cx="2103120" cy="365760"/>
          </a:xfrm>
          <a:prstGeom prst="rect">
            <a:avLst/>
          </a:prstGeom>
          <a:noFill/>
          <a:ln/>
        </p:spPr>
        <p:txBody>
          <a:bodyPr wrap="square" rtlCol="0" anchor="ctr"/>
          <a:lstStyle/>
          <a:p>
            <a:pPr marL="0" indent="0" algn="ctr">
              <a:buNone/>
            </a:pPr>
            <a:r>
              <a:rPr lang="en-US" sz="1000" dirty="0">
                <a:solidFill>
                  <a:srgbClr val="D29922"/>
                </a:solidFill>
                <a:latin typeface="Segoe UI" pitchFamily="34" charset="0"/>
                <a:cs typeface="Segoe UI" pitchFamily="34" charset="-120"/>
              </a:rPr>
              <a:t>Test memorization before release</a:t>
            </a:r>
            <a:endParaRPr lang="en-US" sz="1000" dirty="0"/>
          </a:p>
        </p:txBody>
      </p:sp>
      <p:sp>
        <p:nvSpPr>
          <p:cNvPr id="29" name="Shape 20">
            <a:extLst>
              <a:ext uri="{FF2B5EF4-FFF2-40B4-BE49-F238E27FC236}">
                <a16:creationId xmlns:a16="http://schemas.microsoft.com/office/drawing/2014/main" id="{E2FE3ED6-066F-F3B0-D29A-7EB3B8B8FD82}"/>
              </a:ext>
            </a:extLst>
          </p:cNvPr>
          <p:cNvSpPr/>
          <p:nvPr/>
        </p:nvSpPr>
        <p:spPr>
          <a:xfrm>
            <a:off x="6270347" y="2594229"/>
            <a:ext cx="2311677" cy="365760"/>
          </a:xfrm>
          <a:prstGeom prst="roundRect">
            <a:avLst>
              <a:gd name="adj" fmla="val 15000"/>
            </a:avLst>
          </a:prstGeom>
          <a:solidFill>
            <a:srgbClr val="161B22"/>
          </a:solidFill>
          <a:ln w="9525">
            <a:solidFill>
              <a:srgbClr val="D29922"/>
            </a:solidFill>
            <a:prstDash val="dash"/>
          </a:ln>
        </p:spPr>
        <p:txBody>
          <a:bodyPr/>
          <a:lstStyle/>
          <a:p>
            <a:endParaRPr lang="en-GB"/>
          </a:p>
        </p:txBody>
      </p:sp>
      <p:sp>
        <p:nvSpPr>
          <p:cNvPr id="30" name="Text 21">
            <a:extLst>
              <a:ext uri="{FF2B5EF4-FFF2-40B4-BE49-F238E27FC236}">
                <a16:creationId xmlns:a16="http://schemas.microsoft.com/office/drawing/2014/main" id="{9CBA17C0-D8DA-DC32-2CBD-06B31776D15C}"/>
              </a:ext>
            </a:extLst>
          </p:cNvPr>
          <p:cNvSpPr/>
          <p:nvPr/>
        </p:nvSpPr>
        <p:spPr>
          <a:xfrm>
            <a:off x="6270347" y="2594229"/>
            <a:ext cx="2277465" cy="365760"/>
          </a:xfrm>
          <a:prstGeom prst="rect">
            <a:avLst/>
          </a:prstGeom>
          <a:noFill/>
          <a:ln/>
        </p:spPr>
        <p:txBody>
          <a:bodyPr wrap="square" rtlCol="0" anchor="ctr"/>
          <a:lstStyle/>
          <a:p>
            <a:pPr marL="0" indent="0" algn="ctr">
              <a:buNone/>
            </a:pPr>
            <a:r>
              <a:rPr lang="en-US" sz="1000" dirty="0">
                <a:solidFill>
                  <a:srgbClr val="D29922"/>
                </a:solidFill>
                <a:latin typeface="Segoe UI" pitchFamily="34" charset="0"/>
                <a:cs typeface="Segoe UI" pitchFamily="34" charset="-120"/>
              </a:rPr>
              <a:t>Plan rollback and model retirement</a:t>
            </a:r>
            <a:endParaRPr lang="en-US" sz="1000" dirty="0"/>
          </a:p>
        </p:txBody>
      </p:sp>
      <p:sp>
        <p:nvSpPr>
          <p:cNvPr id="32" name="Shape 20">
            <a:extLst>
              <a:ext uri="{FF2B5EF4-FFF2-40B4-BE49-F238E27FC236}">
                <a16:creationId xmlns:a16="http://schemas.microsoft.com/office/drawing/2014/main" id="{980FAC2D-F320-C89D-16FF-832127B22912}"/>
              </a:ext>
            </a:extLst>
          </p:cNvPr>
          <p:cNvSpPr/>
          <p:nvPr/>
        </p:nvSpPr>
        <p:spPr>
          <a:xfrm>
            <a:off x="8756371" y="2586228"/>
            <a:ext cx="2311677" cy="365760"/>
          </a:xfrm>
          <a:prstGeom prst="roundRect">
            <a:avLst>
              <a:gd name="adj" fmla="val 15000"/>
            </a:avLst>
          </a:prstGeom>
          <a:solidFill>
            <a:srgbClr val="161B22"/>
          </a:solidFill>
          <a:ln w="9525">
            <a:solidFill>
              <a:srgbClr val="D29922"/>
            </a:solidFill>
            <a:prstDash val="dash"/>
          </a:ln>
        </p:spPr>
        <p:txBody>
          <a:bodyPr/>
          <a:lstStyle/>
          <a:p>
            <a:endParaRPr lang="en-GB"/>
          </a:p>
        </p:txBody>
      </p:sp>
      <p:sp>
        <p:nvSpPr>
          <p:cNvPr id="33" name="Text 21">
            <a:extLst>
              <a:ext uri="{FF2B5EF4-FFF2-40B4-BE49-F238E27FC236}">
                <a16:creationId xmlns:a16="http://schemas.microsoft.com/office/drawing/2014/main" id="{1B17AB86-D4F0-A616-CAF5-8F91070D7C02}"/>
              </a:ext>
            </a:extLst>
          </p:cNvPr>
          <p:cNvSpPr/>
          <p:nvPr/>
        </p:nvSpPr>
        <p:spPr>
          <a:xfrm>
            <a:off x="8756371" y="2586228"/>
            <a:ext cx="2277465" cy="365760"/>
          </a:xfrm>
          <a:prstGeom prst="rect">
            <a:avLst/>
          </a:prstGeom>
          <a:noFill/>
          <a:ln/>
        </p:spPr>
        <p:txBody>
          <a:bodyPr wrap="square" rtlCol="0" anchor="ctr"/>
          <a:lstStyle/>
          <a:p>
            <a:pPr marL="0" indent="0" algn="ctr">
              <a:buNone/>
            </a:pPr>
            <a:r>
              <a:rPr lang="en-US" sz="1000" dirty="0">
                <a:solidFill>
                  <a:srgbClr val="D29922"/>
                </a:solidFill>
                <a:latin typeface="Segoe UI" pitchFamily="34" charset="0"/>
                <a:cs typeface="Segoe UI" pitchFamily="34" charset="-120"/>
              </a:rPr>
              <a:t>Hard to enforce record permissions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274320"/>
          </a:xfrm>
          <a:prstGeom prst="rect">
            <a:avLst/>
          </a:prstGeom>
          <a:noFill/>
          <a:ln/>
        </p:spPr>
        <p:txBody>
          <a:bodyPr wrap="square" rtlCol="0" anchor="ctr"/>
          <a:lstStyle/>
          <a:p>
            <a:pPr marL="0" indent="0">
              <a:buNone/>
            </a:pPr>
            <a:r>
              <a:rPr lang="en-US" sz="1100" dirty="0">
                <a:solidFill>
                  <a:srgbClr val="8B949E"/>
                </a:solidFill>
                <a:latin typeface="Consolas" pitchFamily="34" charset="0"/>
                <a:ea typeface="Consolas" pitchFamily="34" charset="-122"/>
                <a:cs typeface="Consolas" pitchFamily="34" charset="-120"/>
              </a:rPr>
              <a:t>Stage 1 · Extraction</a:t>
            </a:r>
            <a:endParaRPr lang="en-US" sz="1100" dirty="0"/>
          </a:p>
        </p:txBody>
      </p:sp>
      <p:sp>
        <p:nvSpPr>
          <p:cNvPr id="3" name="Text 1"/>
          <p:cNvSpPr/>
          <p:nvPr/>
        </p:nvSpPr>
        <p:spPr>
          <a:xfrm>
            <a:off x="548640" y="594360"/>
            <a:ext cx="11091672" cy="502920"/>
          </a:xfrm>
          <a:prstGeom prst="rect">
            <a:avLst/>
          </a:prstGeom>
          <a:noFill/>
          <a:ln/>
        </p:spPr>
        <p:txBody>
          <a:bodyPr wrap="square" rtlCol="0" anchor="ctr"/>
          <a:lstStyle/>
          <a:p>
            <a:pPr marL="0" indent="0">
              <a:buNone/>
            </a:pPr>
            <a:r>
              <a:rPr lang="en-US" sz="2400" dirty="0">
                <a:solidFill>
                  <a:srgbClr val="8B949E"/>
                </a:solidFill>
                <a:latin typeface="Consolas" pitchFamily="34" charset="0"/>
                <a:ea typeface="Consolas" pitchFamily="34" charset="-122"/>
                <a:cs typeface="Consolas" pitchFamily="34" charset="-120"/>
              </a:rPr>
              <a:t>&gt; </a:t>
            </a:r>
            <a:r>
              <a:rPr lang="en-US" sz="2200" b="1" dirty="0">
                <a:solidFill>
                  <a:srgbClr val="58A6FF"/>
                </a:solidFill>
                <a:latin typeface="Consolas" pitchFamily="34" charset="0"/>
                <a:ea typeface="Consolas" pitchFamily="34" charset="-122"/>
                <a:cs typeface="Consolas" pitchFamily="34" charset="-120"/>
              </a:rPr>
              <a:t>Can training data be extracted?</a:t>
            </a:r>
            <a:endParaRPr lang="en-US" sz="2400" dirty="0"/>
          </a:p>
        </p:txBody>
      </p:sp>
      <p:sp>
        <p:nvSpPr>
          <p:cNvPr id="4" name="Shape 2"/>
          <p:cNvSpPr/>
          <p:nvPr/>
        </p:nvSpPr>
        <p:spPr>
          <a:xfrm>
            <a:off x="548640" y="1143000"/>
            <a:ext cx="11091672" cy="13716"/>
          </a:xfrm>
          <a:prstGeom prst="rect">
            <a:avLst/>
          </a:prstGeom>
          <a:solidFill>
            <a:srgbClr val="30363D"/>
          </a:solidFill>
          <a:ln/>
        </p:spPr>
        <p:txBody>
          <a:bodyPr/>
          <a:lstStyle/>
          <a:p>
            <a:endParaRPr lang="en-GB"/>
          </a:p>
        </p:txBody>
      </p:sp>
      <p:sp>
        <p:nvSpPr>
          <p:cNvPr id="5" name="Text 3"/>
          <p:cNvSpPr/>
          <p:nvPr/>
        </p:nvSpPr>
        <p:spPr>
          <a:xfrm>
            <a:off x="10972800" y="6446520"/>
            <a:ext cx="731520" cy="274320"/>
          </a:xfrm>
          <a:prstGeom prst="rect">
            <a:avLst/>
          </a:prstGeom>
          <a:noFill/>
          <a:ln/>
        </p:spPr>
        <p:txBody>
          <a:bodyPr wrap="square" rtlCol="0" anchor="ctr"/>
          <a:lstStyle/>
          <a:p>
            <a:pPr marL="0" indent="0" algn="r">
              <a:buNone/>
            </a:pPr>
            <a:r>
              <a:rPr lang="en-US" sz="1000" dirty="0">
                <a:solidFill>
                  <a:srgbClr val="8B949E"/>
                </a:solidFill>
                <a:latin typeface="Consolas" pitchFamily="34" charset="0"/>
                <a:ea typeface="Consolas" pitchFamily="34" charset="-122"/>
                <a:cs typeface="Consolas" pitchFamily="34" charset="-120"/>
              </a:rPr>
              <a:t>8</a:t>
            </a:r>
            <a:endParaRPr lang="en-US" sz="1000" dirty="0"/>
          </a:p>
        </p:txBody>
      </p:sp>
      <p:sp>
        <p:nvSpPr>
          <p:cNvPr id="6" name="Shape 4"/>
          <p:cNvSpPr/>
          <p:nvPr/>
        </p:nvSpPr>
        <p:spPr>
          <a:xfrm>
            <a:off x="548640" y="1325880"/>
            <a:ext cx="11091672" cy="5074920"/>
          </a:xfrm>
          <a:prstGeom prst="roundRect">
            <a:avLst>
              <a:gd name="adj" fmla="val 2162"/>
            </a:avLst>
          </a:prstGeom>
          <a:solidFill>
            <a:srgbClr val="161B22"/>
          </a:solidFill>
          <a:ln w="9525">
            <a:solidFill>
              <a:srgbClr val="30363D"/>
            </a:solidFill>
            <a:prstDash val="solid"/>
          </a:ln>
        </p:spPr>
        <p:txBody>
          <a:bodyPr/>
          <a:lstStyle/>
          <a:p>
            <a:endParaRPr lang="en-GB"/>
          </a:p>
        </p:txBody>
      </p:sp>
      <p:sp>
        <p:nvSpPr>
          <p:cNvPr id="7" name="Shape 5"/>
          <p:cNvSpPr/>
          <p:nvPr/>
        </p:nvSpPr>
        <p:spPr>
          <a:xfrm>
            <a:off x="3194685" y="1639062"/>
            <a:ext cx="3200400" cy="1463040"/>
          </a:xfrm>
          <a:prstGeom prst="roundRect">
            <a:avLst>
              <a:gd name="adj" fmla="val 6250"/>
            </a:avLst>
          </a:prstGeom>
          <a:solidFill>
            <a:srgbClr val="010409"/>
          </a:solidFill>
          <a:ln w="12700">
            <a:solidFill>
              <a:srgbClr val="F85149"/>
            </a:solidFill>
            <a:prstDash val="solid"/>
          </a:ln>
        </p:spPr>
        <p:txBody>
          <a:bodyPr/>
          <a:lstStyle/>
          <a:p>
            <a:endParaRPr lang="en-GB"/>
          </a:p>
        </p:txBody>
      </p:sp>
      <p:sp>
        <p:nvSpPr>
          <p:cNvPr id="8" name="Text 6"/>
          <p:cNvSpPr/>
          <p:nvPr/>
        </p:nvSpPr>
        <p:spPr>
          <a:xfrm>
            <a:off x="3194685" y="1639062"/>
            <a:ext cx="3200400" cy="1463040"/>
          </a:xfrm>
          <a:prstGeom prst="rect">
            <a:avLst/>
          </a:prstGeom>
          <a:noFill/>
          <a:ln/>
        </p:spPr>
        <p:txBody>
          <a:bodyPr wrap="square" rtlCol="0" anchor="ctr"/>
          <a:lstStyle/>
          <a:p>
            <a:pPr marL="0" indent="0" algn="ctr">
              <a:buNone/>
            </a:pPr>
            <a:r>
              <a:rPr lang="en-US" sz="1400" dirty="0">
                <a:solidFill>
                  <a:srgbClr val="F85149"/>
                </a:solidFill>
                <a:latin typeface="Consolas" pitchFamily="34" charset="0"/>
                <a:ea typeface="Consolas" pitchFamily="34" charset="-122"/>
                <a:cs typeface="Consolas" pitchFamily="34" charset="-120"/>
              </a:rPr>
              <a:t>Model</a:t>
            </a:r>
            <a:endParaRPr lang="en-US" sz="1400" dirty="0"/>
          </a:p>
          <a:p>
            <a:pPr marL="0" indent="0" algn="ctr">
              <a:buNone/>
            </a:pPr>
            <a:r>
              <a:rPr lang="en-US" sz="1400" dirty="0">
                <a:solidFill>
                  <a:srgbClr val="F85149"/>
                </a:solidFill>
                <a:latin typeface="Consolas" pitchFamily="34" charset="0"/>
                <a:ea typeface="Consolas" pitchFamily="34" charset="-122"/>
                <a:cs typeface="Consolas" pitchFamily="34" charset="-120"/>
              </a:rPr>
              <a:t>(black box)</a:t>
            </a:r>
            <a:endParaRPr lang="en-US" sz="1400" dirty="0"/>
          </a:p>
        </p:txBody>
      </p:sp>
      <p:sp>
        <p:nvSpPr>
          <p:cNvPr id="9" name="Text 7"/>
          <p:cNvSpPr/>
          <p:nvPr/>
        </p:nvSpPr>
        <p:spPr>
          <a:xfrm>
            <a:off x="1365885" y="2004822"/>
            <a:ext cx="1645920" cy="457200"/>
          </a:xfrm>
          <a:prstGeom prst="rect">
            <a:avLst/>
          </a:prstGeom>
          <a:noFill/>
          <a:ln/>
        </p:spPr>
        <p:txBody>
          <a:bodyPr wrap="square" rtlCol="0" anchor="ctr"/>
          <a:lstStyle/>
          <a:p>
            <a:pPr marL="0" indent="0" algn="r">
              <a:buNone/>
            </a:pPr>
            <a:r>
              <a:rPr lang="en-US" sz="1200" dirty="0">
                <a:solidFill>
                  <a:srgbClr val="8B949E"/>
                </a:solidFill>
                <a:latin typeface="Consolas" pitchFamily="34" charset="0"/>
                <a:ea typeface="Consolas" pitchFamily="34" charset="-122"/>
                <a:cs typeface="Consolas" pitchFamily="34" charset="-120"/>
              </a:rPr>
              <a:t>Prompt attempts →</a:t>
            </a:r>
            <a:endParaRPr lang="en-US" sz="1200" dirty="0"/>
          </a:p>
        </p:txBody>
      </p:sp>
      <p:sp>
        <p:nvSpPr>
          <p:cNvPr id="10" name="Text 8"/>
          <p:cNvSpPr/>
          <p:nvPr/>
        </p:nvSpPr>
        <p:spPr>
          <a:xfrm>
            <a:off x="6395085" y="2004822"/>
            <a:ext cx="365760" cy="457200"/>
          </a:xfrm>
          <a:prstGeom prst="rect">
            <a:avLst/>
          </a:prstGeom>
          <a:noFill/>
          <a:ln/>
        </p:spPr>
        <p:txBody>
          <a:bodyPr wrap="square" rtlCol="0" anchor="ctr"/>
          <a:lstStyle/>
          <a:p>
            <a:pPr marL="0" indent="0" algn="ctr">
              <a:buNone/>
            </a:pPr>
            <a:r>
              <a:rPr lang="en-US" sz="1400" dirty="0">
                <a:solidFill>
                  <a:srgbClr val="8B949E"/>
                </a:solidFill>
                <a:latin typeface="Consolas" pitchFamily="34" charset="0"/>
                <a:ea typeface="Consolas" pitchFamily="34" charset="-122"/>
                <a:cs typeface="Consolas" pitchFamily="34" charset="-120"/>
              </a:rPr>
              <a:t>→</a:t>
            </a:r>
            <a:endParaRPr lang="en-US" sz="1400" dirty="0"/>
          </a:p>
        </p:txBody>
      </p:sp>
      <p:sp>
        <p:nvSpPr>
          <p:cNvPr id="11" name="Shape 9"/>
          <p:cNvSpPr/>
          <p:nvPr/>
        </p:nvSpPr>
        <p:spPr>
          <a:xfrm>
            <a:off x="6943725" y="1639062"/>
            <a:ext cx="2286000" cy="320040"/>
          </a:xfrm>
          <a:prstGeom prst="roundRect">
            <a:avLst>
              <a:gd name="adj" fmla="val 11429"/>
            </a:avLst>
          </a:prstGeom>
          <a:solidFill>
            <a:srgbClr val="161B22"/>
          </a:solidFill>
          <a:ln w="6350">
            <a:solidFill>
              <a:srgbClr val="F85149"/>
            </a:solidFill>
            <a:prstDash val="dash"/>
          </a:ln>
        </p:spPr>
        <p:txBody>
          <a:bodyPr/>
          <a:lstStyle/>
          <a:p>
            <a:endParaRPr lang="en-GB"/>
          </a:p>
        </p:txBody>
      </p:sp>
      <p:sp>
        <p:nvSpPr>
          <p:cNvPr id="12" name="Text 10"/>
          <p:cNvSpPr/>
          <p:nvPr/>
        </p:nvSpPr>
        <p:spPr>
          <a:xfrm>
            <a:off x="6943725" y="1639062"/>
            <a:ext cx="2286000" cy="320040"/>
          </a:xfrm>
          <a:prstGeom prst="rect">
            <a:avLst/>
          </a:prstGeom>
          <a:noFill/>
          <a:ln/>
        </p:spPr>
        <p:txBody>
          <a:bodyPr wrap="square" rtlCol="0" anchor="ctr"/>
          <a:lstStyle/>
          <a:p>
            <a:pPr marL="0" indent="0" algn="ctr">
              <a:buNone/>
            </a:pPr>
            <a:r>
              <a:rPr lang="en-US" sz="1000" dirty="0">
                <a:solidFill>
                  <a:srgbClr val="F85149"/>
                </a:solidFill>
                <a:latin typeface="Consolas" pitchFamily="34" charset="0"/>
                <a:ea typeface="Consolas" pitchFamily="34" charset="-122"/>
                <a:cs typeface="Consolas" pitchFamily="34" charset="-120"/>
              </a:rPr>
              <a:t>memorized phrase</a:t>
            </a:r>
            <a:endParaRPr lang="en-US" sz="1000" dirty="0"/>
          </a:p>
        </p:txBody>
      </p:sp>
      <p:sp>
        <p:nvSpPr>
          <p:cNvPr id="13" name="Shape 11"/>
          <p:cNvSpPr/>
          <p:nvPr/>
        </p:nvSpPr>
        <p:spPr>
          <a:xfrm>
            <a:off x="6943725" y="2004822"/>
            <a:ext cx="2286000" cy="320040"/>
          </a:xfrm>
          <a:prstGeom prst="roundRect">
            <a:avLst>
              <a:gd name="adj" fmla="val 11429"/>
            </a:avLst>
          </a:prstGeom>
          <a:solidFill>
            <a:srgbClr val="161B22"/>
          </a:solidFill>
          <a:ln w="6350">
            <a:solidFill>
              <a:srgbClr val="F85149"/>
            </a:solidFill>
            <a:prstDash val="dash"/>
          </a:ln>
        </p:spPr>
        <p:txBody>
          <a:bodyPr/>
          <a:lstStyle/>
          <a:p>
            <a:endParaRPr lang="en-GB"/>
          </a:p>
        </p:txBody>
      </p:sp>
      <p:sp>
        <p:nvSpPr>
          <p:cNvPr id="14" name="Text 12"/>
          <p:cNvSpPr/>
          <p:nvPr/>
        </p:nvSpPr>
        <p:spPr>
          <a:xfrm>
            <a:off x="6943725" y="2004822"/>
            <a:ext cx="2286000" cy="320040"/>
          </a:xfrm>
          <a:prstGeom prst="rect">
            <a:avLst/>
          </a:prstGeom>
          <a:noFill/>
          <a:ln/>
        </p:spPr>
        <p:txBody>
          <a:bodyPr wrap="square" rtlCol="0" anchor="ctr"/>
          <a:lstStyle/>
          <a:p>
            <a:pPr marL="0" indent="0" algn="ctr">
              <a:buNone/>
            </a:pPr>
            <a:r>
              <a:rPr lang="en-US" sz="1000" dirty="0">
                <a:solidFill>
                  <a:srgbClr val="F85149"/>
                </a:solidFill>
                <a:latin typeface="Consolas" pitchFamily="34" charset="0"/>
                <a:ea typeface="Consolas" pitchFamily="34" charset="-122"/>
                <a:cs typeface="Consolas" pitchFamily="34" charset="-120"/>
              </a:rPr>
              <a:t>rare identifier</a:t>
            </a:r>
            <a:endParaRPr lang="en-US" sz="1000" dirty="0"/>
          </a:p>
        </p:txBody>
      </p:sp>
      <p:sp>
        <p:nvSpPr>
          <p:cNvPr id="15" name="Shape 13"/>
          <p:cNvSpPr/>
          <p:nvPr/>
        </p:nvSpPr>
        <p:spPr>
          <a:xfrm>
            <a:off x="6943725" y="2370582"/>
            <a:ext cx="2286000" cy="320040"/>
          </a:xfrm>
          <a:prstGeom prst="roundRect">
            <a:avLst>
              <a:gd name="adj" fmla="val 11429"/>
            </a:avLst>
          </a:prstGeom>
          <a:solidFill>
            <a:srgbClr val="161B22"/>
          </a:solidFill>
          <a:ln w="6350">
            <a:solidFill>
              <a:srgbClr val="F85149"/>
            </a:solidFill>
            <a:prstDash val="dash"/>
          </a:ln>
        </p:spPr>
        <p:txBody>
          <a:bodyPr/>
          <a:lstStyle/>
          <a:p>
            <a:endParaRPr lang="en-GB"/>
          </a:p>
        </p:txBody>
      </p:sp>
      <p:sp>
        <p:nvSpPr>
          <p:cNvPr id="16" name="Text 14"/>
          <p:cNvSpPr/>
          <p:nvPr/>
        </p:nvSpPr>
        <p:spPr>
          <a:xfrm>
            <a:off x="6943725" y="2370582"/>
            <a:ext cx="2286000" cy="320040"/>
          </a:xfrm>
          <a:prstGeom prst="rect">
            <a:avLst/>
          </a:prstGeom>
          <a:noFill/>
          <a:ln/>
        </p:spPr>
        <p:txBody>
          <a:bodyPr wrap="square" rtlCol="0" anchor="ctr"/>
          <a:lstStyle/>
          <a:p>
            <a:pPr marL="0" indent="0" algn="ctr">
              <a:buNone/>
            </a:pPr>
            <a:r>
              <a:rPr lang="en-US" sz="1000" dirty="0">
                <a:solidFill>
                  <a:srgbClr val="F85149"/>
                </a:solidFill>
                <a:latin typeface="Consolas" pitchFamily="34" charset="0"/>
                <a:ea typeface="Consolas" pitchFamily="34" charset="-122"/>
                <a:cs typeface="Consolas" pitchFamily="34" charset="-120"/>
              </a:rPr>
              <a:t>copied passage</a:t>
            </a:r>
            <a:endParaRPr lang="en-US" sz="1000" dirty="0"/>
          </a:p>
        </p:txBody>
      </p:sp>
      <p:sp>
        <p:nvSpPr>
          <p:cNvPr id="17" name="Shape 15"/>
          <p:cNvSpPr/>
          <p:nvPr/>
        </p:nvSpPr>
        <p:spPr>
          <a:xfrm>
            <a:off x="6943725" y="2736342"/>
            <a:ext cx="2286000" cy="320040"/>
          </a:xfrm>
          <a:prstGeom prst="roundRect">
            <a:avLst>
              <a:gd name="adj" fmla="val 11429"/>
            </a:avLst>
          </a:prstGeom>
          <a:solidFill>
            <a:srgbClr val="161B22"/>
          </a:solidFill>
          <a:ln w="6350">
            <a:solidFill>
              <a:srgbClr val="F85149"/>
            </a:solidFill>
            <a:prstDash val="dash"/>
          </a:ln>
        </p:spPr>
        <p:txBody>
          <a:bodyPr/>
          <a:lstStyle/>
          <a:p>
            <a:endParaRPr lang="en-GB"/>
          </a:p>
        </p:txBody>
      </p:sp>
      <p:sp>
        <p:nvSpPr>
          <p:cNvPr id="18" name="Text 16"/>
          <p:cNvSpPr/>
          <p:nvPr/>
        </p:nvSpPr>
        <p:spPr>
          <a:xfrm>
            <a:off x="6943725" y="2736342"/>
            <a:ext cx="2286000" cy="320040"/>
          </a:xfrm>
          <a:prstGeom prst="rect">
            <a:avLst/>
          </a:prstGeom>
          <a:noFill/>
          <a:ln/>
        </p:spPr>
        <p:txBody>
          <a:bodyPr wrap="square" rtlCol="0" anchor="ctr"/>
          <a:lstStyle/>
          <a:p>
            <a:pPr marL="0" indent="0" algn="ctr">
              <a:buNone/>
            </a:pPr>
            <a:r>
              <a:rPr lang="en-US" sz="1000" dirty="0">
                <a:solidFill>
                  <a:srgbClr val="F85149"/>
                </a:solidFill>
                <a:latin typeface="Consolas" pitchFamily="34" charset="0"/>
                <a:ea typeface="Consolas" pitchFamily="34" charset="-122"/>
                <a:cs typeface="Consolas" pitchFamily="34" charset="-120"/>
              </a:rPr>
              <a:t>private example</a:t>
            </a:r>
            <a:endParaRPr lang="en-US" sz="1000" dirty="0"/>
          </a:p>
        </p:txBody>
      </p:sp>
      <p:sp>
        <p:nvSpPr>
          <p:cNvPr id="19" name="Text 17"/>
          <p:cNvSpPr/>
          <p:nvPr/>
        </p:nvSpPr>
        <p:spPr>
          <a:xfrm>
            <a:off x="1280160" y="3260979"/>
            <a:ext cx="3840480" cy="320040"/>
          </a:xfrm>
          <a:prstGeom prst="rect">
            <a:avLst/>
          </a:prstGeom>
          <a:noFill/>
          <a:ln/>
        </p:spPr>
        <p:txBody>
          <a:bodyPr wrap="square" rtlCol="0" anchor="ctr"/>
          <a:lstStyle/>
          <a:p>
            <a:pPr marL="0" indent="0">
              <a:buNone/>
            </a:pPr>
            <a:r>
              <a:rPr lang="en-US" sz="1200" b="1" dirty="0">
                <a:solidFill>
                  <a:srgbClr val="58A6FF"/>
                </a:solidFill>
                <a:latin typeface="Segoe UI" pitchFamily="34" charset="0"/>
                <a:ea typeface="Segoe UI" pitchFamily="34" charset="-122"/>
                <a:cs typeface="Segoe UI" pitchFamily="34" charset="-120"/>
              </a:rPr>
              <a:t>Extraction tests defenders should know</a:t>
            </a:r>
            <a:endParaRPr lang="en-US" sz="1200" dirty="0"/>
          </a:p>
        </p:txBody>
      </p:sp>
      <p:sp>
        <p:nvSpPr>
          <p:cNvPr id="20" name="Text 18"/>
          <p:cNvSpPr/>
          <p:nvPr/>
        </p:nvSpPr>
        <p:spPr>
          <a:xfrm>
            <a:off x="1280160" y="3559302"/>
            <a:ext cx="3840480" cy="1933956"/>
          </a:xfrm>
          <a:prstGeom prst="rect">
            <a:avLst/>
          </a:prstGeom>
          <a:noFill/>
          <a:ln/>
        </p:spPr>
        <p:txBody>
          <a:bodyPr wrap="square" rtlCol="0" anchor="t"/>
          <a:lstStyle/>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Repetition / continuation</a:t>
            </a:r>
            <a:endParaRPr lang="en-US" sz="1200" dirty="0"/>
          </a:p>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Canary strings</a:t>
            </a:r>
            <a:endParaRPr lang="en-US" sz="1200" dirty="0"/>
          </a:p>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Membership inference</a:t>
            </a:r>
            <a:endParaRPr lang="en-US" sz="1200" dirty="0"/>
          </a:p>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Inversion / reconstruction</a:t>
            </a:r>
            <a:endParaRPr lang="en-US" sz="1200" dirty="0"/>
          </a:p>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Targeted prefix probing</a:t>
            </a:r>
            <a:endParaRPr lang="en-US" sz="1200" dirty="0"/>
          </a:p>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Fine-tune leakage testing</a:t>
            </a:r>
            <a:endParaRPr lang="en-US" sz="1200" dirty="0"/>
          </a:p>
        </p:txBody>
      </p:sp>
      <p:sp>
        <p:nvSpPr>
          <p:cNvPr id="21" name="Shape 19"/>
          <p:cNvSpPr/>
          <p:nvPr/>
        </p:nvSpPr>
        <p:spPr>
          <a:xfrm>
            <a:off x="731520" y="5394960"/>
            <a:ext cx="54864" cy="411480"/>
          </a:xfrm>
          <a:prstGeom prst="rect">
            <a:avLst/>
          </a:prstGeom>
          <a:solidFill>
            <a:srgbClr val="3FB950"/>
          </a:solidFill>
          <a:ln/>
        </p:spPr>
        <p:txBody>
          <a:bodyPr/>
          <a:lstStyle/>
          <a:p>
            <a:endParaRPr lang="en-GB"/>
          </a:p>
        </p:txBody>
      </p:sp>
      <p:sp>
        <p:nvSpPr>
          <p:cNvPr id="22" name="Text 20"/>
          <p:cNvSpPr/>
          <p:nvPr/>
        </p:nvSpPr>
        <p:spPr>
          <a:xfrm>
            <a:off x="960120" y="5394960"/>
            <a:ext cx="10497312" cy="411480"/>
          </a:xfrm>
          <a:prstGeom prst="rect">
            <a:avLst/>
          </a:prstGeom>
          <a:noFill/>
          <a:ln/>
        </p:spPr>
        <p:txBody>
          <a:bodyPr wrap="square" rtlCol="0" anchor="ctr"/>
          <a:lstStyle/>
          <a:p>
            <a:pPr marL="0" indent="0">
              <a:buNone/>
            </a:pPr>
            <a:r>
              <a:rPr lang="en-US" sz="1400" b="1" i="1" dirty="0">
                <a:solidFill>
                  <a:srgbClr val="3FB950"/>
                </a:solidFill>
                <a:latin typeface="Segoe UI" pitchFamily="34" charset="0"/>
                <a:ea typeface="Segoe UI" pitchFamily="34" charset="-122"/>
                <a:cs typeface="Segoe UI" pitchFamily="34" charset="-120"/>
              </a:rPr>
              <a:t>Rare or sensitive fragments may be recoverable — teams need repeatable tests before release.</a:t>
            </a:r>
            <a:endParaRPr lang="en-US" sz="1400" dirty="0"/>
          </a:p>
        </p:txBody>
      </p:sp>
      <p:sp>
        <p:nvSpPr>
          <p:cNvPr id="23" name="Text 21"/>
          <p:cNvSpPr/>
          <p:nvPr/>
        </p:nvSpPr>
        <p:spPr>
          <a:xfrm>
            <a:off x="8686800" y="6263640"/>
            <a:ext cx="2926080" cy="228600"/>
          </a:xfrm>
          <a:prstGeom prst="rect">
            <a:avLst/>
          </a:prstGeom>
          <a:noFill/>
          <a:ln/>
        </p:spPr>
        <p:txBody>
          <a:bodyPr wrap="square"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OWASP LLM02:2025 · arXiv:2311.17035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274320"/>
          </a:xfrm>
          <a:prstGeom prst="rect">
            <a:avLst/>
          </a:prstGeom>
          <a:noFill/>
          <a:ln/>
        </p:spPr>
        <p:txBody>
          <a:bodyPr wrap="square" rtlCol="0" anchor="ctr"/>
          <a:lstStyle/>
          <a:p>
            <a:pPr marL="0" indent="0">
              <a:buNone/>
            </a:pPr>
            <a:r>
              <a:rPr lang="en-US" sz="1100" dirty="0">
                <a:solidFill>
                  <a:srgbClr val="8B949E"/>
                </a:solidFill>
                <a:latin typeface="Consolas" pitchFamily="34" charset="0"/>
                <a:ea typeface="Consolas" pitchFamily="34" charset="-122"/>
                <a:cs typeface="Consolas" pitchFamily="34" charset="-120"/>
              </a:rPr>
              <a:t>Stage 1 · Evidence</a:t>
            </a:r>
            <a:endParaRPr lang="en-US" sz="1100" dirty="0"/>
          </a:p>
        </p:txBody>
      </p:sp>
      <p:sp>
        <p:nvSpPr>
          <p:cNvPr id="3" name="Text 1"/>
          <p:cNvSpPr/>
          <p:nvPr/>
        </p:nvSpPr>
        <p:spPr>
          <a:xfrm>
            <a:off x="548640" y="594360"/>
            <a:ext cx="11091672" cy="502920"/>
          </a:xfrm>
          <a:prstGeom prst="rect">
            <a:avLst/>
          </a:prstGeom>
          <a:noFill/>
          <a:ln/>
        </p:spPr>
        <p:txBody>
          <a:bodyPr wrap="square" rtlCol="0" anchor="ctr"/>
          <a:lstStyle/>
          <a:p>
            <a:pPr marL="0" indent="0">
              <a:buNone/>
            </a:pPr>
            <a:r>
              <a:rPr lang="en-US" sz="2400" dirty="0">
                <a:solidFill>
                  <a:srgbClr val="8B949E"/>
                </a:solidFill>
                <a:latin typeface="Consolas" pitchFamily="34" charset="0"/>
                <a:ea typeface="Consolas" pitchFamily="34" charset="-122"/>
                <a:cs typeface="Consolas" pitchFamily="34" charset="-120"/>
              </a:rPr>
              <a:t>&gt; </a:t>
            </a:r>
            <a:r>
              <a:rPr lang="en-US" sz="2200" b="1" dirty="0">
                <a:solidFill>
                  <a:srgbClr val="58A6FF"/>
                </a:solidFill>
                <a:latin typeface="Consolas" pitchFamily="34" charset="0"/>
                <a:ea typeface="Consolas" pitchFamily="34" charset="-122"/>
                <a:cs typeface="Consolas" pitchFamily="34" charset="-120"/>
              </a:rPr>
              <a:t>Did OpenAI used copyright materials?</a:t>
            </a:r>
            <a:endParaRPr lang="en-US" sz="2400" dirty="0"/>
          </a:p>
        </p:txBody>
      </p:sp>
      <p:sp>
        <p:nvSpPr>
          <p:cNvPr id="4" name="Shape 2"/>
          <p:cNvSpPr/>
          <p:nvPr/>
        </p:nvSpPr>
        <p:spPr>
          <a:xfrm>
            <a:off x="548640" y="1143000"/>
            <a:ext cx="11091672" cy="13716"/>
          </a:xfrm>
          <a:prstGeom prst="rect">
            <a:avLst/>
          </a:prstGeom>
          <a:solidFill>
            <a:srgbClr val="30363D"/>
          </a:solidFill>
          <a:ln/>
        </p:spPr>
        <p:txBody>
          <a:bodyPr/>
          <a:lstStyle/>
          <a:p>
            <a:endParaRPr lang="en-GB"/>
          </a:p>
        </p:txBody>
      </p:sp>
      <p:sp>
        <p:nvSpPr>
          <p:cNvPr id="5" name="Text 3"/>
          <p:cNvSpPr/>
          <p:nvPr/>
        </p:nvSpPr>
        <p:spPr>
          <a:xfrm>
            <a:off x="10972800" y="6446520"/>
            <a:ext cx="731520" cy="274320"/>
          </a:xfrm>
          <a:prstGeom prst="rect">
            <a:avLst/>
          </a:prstGeom>
          <a:noFill/>
          <a:ln/>
        </p:spPr>
        <p:txBody>
          <a:bodyPr wrap="square" rtlCol="0" anchor="ctr"/>
          <a:lstStyle/>
          <a:p>
            <a:pPr marL="0" indent="0" algn="r">
              <a:buNone/>
            </a:pPr>
            <a:r>
              <a:rPr lang="en-US" sz="1000" dirty="0">
                <a:solidFill>
                  <a:srgbClr val="8B949E"/>
                </a:solidFill>
                <a:latin typeface="Consolas" pitchFamily="34" charset="0"/>
                <a:ea typeface="Consolas" pitchFamily="34" charset="-122"/>
                <a:cs typeface="Consolas" pitchFamily="34" charset="-120"/>
              </a:rPr>
              <a:t>9</a:t>
            </a:r>
            <a:endParaRPr lang="en-US" sz="1000" dirty="0"/>
          </a:p>
        </p:txBody>
      </p:sp>
      <p:sp>
        <p:nvSpPr>
          <p:cNvPr id="6" name="Shape 4"/>
          <p:cNvSpPr/>
          <p:nvPr/>
        </p:nvSpPr>
        <p:spPr>
          <a:xfrm>
            <a:off x="548640" y="1325880"/>
            <a:ext cx="11091672" cy="5074920"/>
          </a:xfrm>
          <a:prstGeom prst="roundRect">
            <a:avLst>
              <a:gd name="adj" fmla="val 2162"/>
            </a:avLst>
          </a:prstGeom>
          <a:solidFill>
            <a:srgbClr val="161B22"/>
          </a:solidFill>
          <a:ln w="9525">
            <a:solidFill>
              <a:srgbClr val="30363D"/>
            </a:solidFill>
            <a:prstDash val="solid"/>
          </a:ln>
        </p:spPr>
        <p:txBody>
          <a:bodyPr/>
          <a:lstStyle/>
          <a:p>
            <a:endParaRPr lang="en-GB"/>
          </a:p>
        </p:txBody>
      </p:sp>
      <p:sp>
        <p:nvSpPr>
          <p:cNvPr id="7" name="Shape 5"/>
          <p:cNvSpPr/>
          <p:nvPr/>
        </p:nvSpPr>
        <p:spPr>
          <a:xfrm>
            <a:off x="914400" y="1828800"/>
            <a:ext cx="4722876" cy="1097280"/>
          </a:xfrm>
          <a:prstGeom prst="roundRect">
            <a:avLst>
              <a:gd name="adj" fmla="val 6667"/>
            </a:avLst>
          </a:prstGeom>
          <a:solidFill>
            <a:srgbClr val="161B22"/>
          </a:solidFill>
          <a:ln w="12700">
            <a:solidFill>
              <a:srgbClr val="D29922"/>
            </a:solidFill>
            <a:prstDash val="solid"/>
          </a:ln>
        </p:spPr>
        <p:txBody>
          <a:bodyPr/>
          <a:lstStyle/>
          <a:p>
            <a:endParaRPr lang="en-GB"/>
          </a:p>
        </p:txBody>
      </p:sp>
      <p:sp>
        <p:nvSpPr>
          <p:cNvPr id="8" name="Text 6"/>
          <p:cNvSpPr/>
          <p:nvPr/>
        </p:nvSpPr>
        <p:spPr>
          <a:xfrm>
            <a:off x="1097280" y="1965960"/>
            <a:ext cx="4357116" cy="822960"/>
          </a:xfrm>
          <a:prstGeom prst="rect">
            <a:avLst/>
          </a:prstGeom>
          <a:noFill/>
          <a:ln/>
        </p:spPr>
        <p:txBody>
          <a:bodyPr wrap="square" rtlCol="0" anchor="ctr"/>
          <a:lstStyle/>
          <a:p>
            <a:pPr marL="0" indent="0" algn="ctr">
              <a:buNone/>
            </a:pPr>
            <a:r>
              <a:rPr lang="en-US" sz="1400" dirty="0">
                <a:solidFill>
                  <a:srgbClr val="D29922"/>
                </a:solidFill>
                <a:latin typeface="Segoe UI" pitchFamily="34" charset="0"/>
                <a:ea typeface="Segoe UI" pitchFamily="34" charset="-122"/>
                <a:cs typeface="Segoe UI" pitchFamily="34" charset="-120"/>
              </a:rPr>
              <a:t>Publisher content</a:t>
            </a:r>
            <a:endParaRPr lang="en-US" sz="1400" dirty="0"/>
          </a:p>
          <a:p>
            <a:pPr marL="0" indent="0" algn="ctr">
              <a:buNone/>
            </a:pPr>
            <a:r>
              <a:rPr lang="en-US" sz="1400" dirty="0">
                <a:solidFill>
                  <a:srgbClr val="D29922"/>
                </a:solidFill>
                <a:latin typeface="Segoe UI" pitchFamily="34" charset="0"/>
                <a:ea typeface="Segoe UI" pitchFamily="34" charset="-122"/>
                <a:cs typeface="Segoe UI" pitchFamily="34" charset="-120"/>
              </a:rPr>
              <a:t>in training data</a:t>
            </a:r>
            <a:endParaRPr lang="en-US" sz="1400" dirty="0"/>
          </a:p>
        </p:txBody>
      </p:sp>
      <p:sp>
        <p:nvSpPr>
          <p:cNvPr id="9" name="Text 7"/>
          <p:cNvSpPr/>
          <p:nvPr/>
        </p:nvSpPr>
        <p:spPr>
          <a:xfrm>
            <a:off x="5637276" y="2103120"/>
            <a:ext cx="914400" cy="457200"/>
          </a:xfrm>
          <a:prstGeom prst="rect">
            <a:avLst/>
          </a:prstGeom>
          <a:noFill/>
          <a:ln/>
        </p:spPr>
        <p:txBody>
          <a:bodyPr wrap="square" rtlCol="0" anchor="ctr"/>
          <a:lstStyle/>
          <a:p>
            <a:pPr marL="0" indent="0" algn="ctr">
              <a:buNone/>
            </a:pPr>
            <a:r>
              <a:rPr lang="en-US" sz="2000" dirty="0">
                <a:solidFill>
                  <a:srgbClr val="8B949E"/>
                </a:solidFill>
                <a:latin typeface="Segoe UI" pitchFamily="34" charset="0"/>
                <a:ea typeface="Segoe UI" pitchFamily="34" charset="-122"/>
                <a:cs typeface="Segoe UI" pitchFamily="34" charset="-120"/>
              </a:rPr>
              <a:t>→</a:t>
            </a:r>
            <a:endParaRPr lang="en-US" sz="2000" dirty="0"/>
          </a:p>
        </p:txBody>
      </p:sp>
      <p:sp>
        <p:nvSpPr>
          <p:cNvPr id="10" name="Shape 8"/>
          <p:cNvSpPr/>
          <p:nvPr/>
        </p:nvSpPr>
        <p:spPr>
          <a:xfrm>
            <a:off x="6551676" y="1828800"/>
            <a:ext cx="4722876" cy="1097280"/>
          </a:xfrm>
          <a:prstGeom prst="roundRect">
            <a:avLst>
              <a:gd name="adj" fmla="val 6667"/>
            </a:avLst>
          </a:prstGeom>
          <a:solidFill>
            <a:srgbClr val="161B22"/>
          </a:solidFill>
          <a:ln w="12700">
            <a:solidFill>
              <a:srgbClr val="D29922"/>
            </a:solidFill>
            <a:prstDash val="solid"/>
          </a:ln>
        </p:spPr>
        <p:txBody>
          <a:bodyPr/>
          <a:lstStyle/>
          <a:p>
            <a:endParaRPr lang="en-GB"/>
          </a:p>
        </p:txBody>
      </p:sp>
      <p:sp>
        <p:nvSpPr>
          <p:cNvPr id="11" name="Text 9"/>
          <p:cNvSpPr/>
          <p:nvPr/>
        </p:nvSpPr>
        <p:spPr>
          <a:xfrm>
            <a:off x="6734556" y="1965960"/>
            <a:ext cx="4357116" cy="822960"/>
          </a:xfrm>
          <a:prstGeom prst="rect">
            <a:avLst/>
          </a:prstGeom>
          <a:noFill/>
          <a:ln/>
        </p:spPr>
        <p:txBody>
          <a:bodyPr wrap="square" rtlCol="0" anchor="ctr"/>
          <a:lstStyle/>
          <a:p>
            <a:pPr marL="0" indent="0" algn="ctr">
              <a:buNone/>
            </a:pPr>
            <a:r>
              <a:rPr lang="en-US" sz="1400" dirty="0">
                <a:solidFill>
                  <a:srgbClr val="D29922"/>
                </a:solidFill>
                <a:latin typeface="Segoe UI" pitchFamily="34" charset="0"/>
                <a:ea typeface="Segoe UI" pitchFamily="34" charset="-122"/>
                <a:cs typeface="Segoe UI" pitchFamily="34" charset="-120"/>
              </a:rPr>
              <a:t>Disputed</a:t>
            </a:r>
            <a:endParaRPr lang="en-US" sz="1400" dirty="0"/>
          </a:p>
          <a:p>
            <a:pPr marL="0" indent="0" algn="ctr">
              <a:buNone/>
            </a:pPr>
            <a:r>
              <a:rPr lang="en-US" sz="1400" dirty="0">
                <a:solidFill>
                  <a:srgbClr val="D29922"/>
                </a:solidFill>
                <a:latin typeface="Segoe UI" pitchFamily="34" charset="0"/>
                <a:ea typeface="Segoe UI" pitchFamily="34" charset="-122"/>
                <a:cs typeface="Segoe UI" pitchFamily="34" charset="-120"/>
              </a:rPr>
              <a:t>reproduction</a:t>
            </a:r>
            <a:endParaRPr lang="en-US" sz="1400" dirty="0"/>
          </a:p>
        </p:txBody>
      </p:sp>
      <p:sp>
        <p:nvSpPr>
          <p:cNvPr id="12" name="Shape 10"/>
          <p:cNvSpPr/>
          <p:nvPr/>
        </p:nvSpPr>
        <p:spPr>
          <a:xfrm>
            <a:off x="914400" y="3383280"/>
            <a:ext cx="4722876" cy="1097280"/>
          </a:xfrm>
          <a:prstGeom prst="roundRect">
            <a:avLst>
              <a:gd name="adj" fmla="val 6667"/>
            </a:avLst>
          </a:prstGeom>
          <a:solidFill>
            <a:srgbClr val="161B22"/>
          </a:solidFill>
          <a:ln w="12700">
            <a:solidFill>
              <a:srgbClr val="F85149"/>
            </a:solidFill>
            <a:prstDash val="solid"/>
          </a:ln>
        </p:spPr>
        <p:txBody>
          <a:bodyPr/>
          <a:lstStyle/>
          <a:p>
            <a:endParaRPr lang="en-GB"/>
          </a:p>
        </p:txBody>
      </p:sp>
      <p:sp>
        <p:nvSpPr>
          <p:cNvPr id="13" name="Text 11"/>
          <p:cNvSpPr/>
          <p:nvPr/>
        </p:nvSpPr>
        <p:spPr>
          <a:xfrm>
            <a:off x="1097280" y="3520440"/>
            <a:ext cx="4357116" cy="822960"/>
          </a:xfrm>
          <a:prstGeom prst="rect">
            <a:avLst/>
          </a:prstGeom>
          <a:noFill/>
          <a:ln/>
        </p:spPr>
        <p:txBody>
          <a:bodyPr wrap="square" rtlCol="0" anchor="ctr"/>
          <a:lstStyle/>
          <a:p>
            <a:pPr marL="0" indent="0" algn="ctr">
              <a:buNone/>
            </a:pPr>
            <a:r>
              <a:rPr lang="en-US" sz="1400" dirty="0">
                <a:solidFill>
                  <a:srgbClr val="F85149"/>
                </a:solidFill>
                <a:latin typeface="Segoe UI" pitchFamily="34" charset="0"/>
                <a:ea typeface="Segoe UI" pitchFamily="34" charset="-122"/>
                <a:cs typeface="Segoe UI" pitchFamily="34" charset="-120"/>
              </a:rPr>
              <a:t>Internal business data</a:t>
            </a:r>
            <a:endParaRPr lang="en-US" sz="1400" dirty="0"/>
          </a:p>
          <a:p>
            <a:pPr marL="0" indent="0" algn="ctr">
              <a:buNone/>
            </a:pPr>
            <a:r>
              <a:rPr lang="en-US" sz="1400" dirty="0">
                <a:solidFill>
                  <a:srgbClr val="F85149"/>
                </a:solidFill>
                <a:latin typeface="Segoe UI" pitchFamily="34" charset="0"/>
                <a:ea typeface="Segoe UI" pitchFamily="34" charset="-122"/>
                <a:cs typeface="Segoe UI" pitchFamily="34" charset="-120"/>
              </a:rPr>
              <a:t>in training</a:t>
            </a:r>
            <a:endParaRPr lang="en-US" sz="1400" dirty="0"/>
          </a:p>
        </p:txBody>
      </p:sp>
      <p:sp>
        <p:nvSpPr>
          <p:cNvPr id="14" name="Text 12"/>
          <p:cNvSpPr/>
          <p:nvPr/>
        </p:nvSpPr>
        <p:spPr>
          <a:xfrm>
            <a:off x="5637276" y="3657600"/>
            <a:ext cx="914400" cy="457200"/>
          </a:xfrm>
          <a:prstGeom prst="rect">
            <a:avLst/>
          </a:prstGeom>
          <a:noFill/>
          <a:ln/>
        </p:spPr>
        <p:txBody>
          <a:bodyPr wrap="square" rtlCol="0" anchor="ctr"/>
          <a:lstStyle/>
          <a:p>
            <a:pPr marL="0" indent="0" algn="ctr">
              <a:buNone/>
            </a:pPr>
            <a:r>
              <a:rPr lang="en-US" sz="2000" dirty="0">
                <a:solidFill>
                  <a:srgbClr val="8B949E"/>
                </a:solidFill>
                <a:latin typeface="Segoe UI" pitchFamily="34" charset="0"/>
                <a:ea typeface="Segoe UI" pitchFamily="34" charset="-122"/>
                <a:cs typeface="Segoe UI" pitchFamily="34" charset="-120"/>
              </a:rPr>
              <a:t>→</a:t>
            </a:r>
            <a:endParaRPr lang="en-US" sz="2000" dirty="0"/>
          </a:p>
        </p:txBody>
      </p:sp>
      <p:sp>
        <p:nvSpPr>
          <p:cNvPr id="15" name="Shape 13"/>
          <p:cNvSpPr/>
          <p:nvPr/>
        </p:nvSpPr>
        <p:spPr>
          <a:xfrm>
            <a:off x="6551676" y="3383280"/>
            <a:ext cx="4722876" cy="1097280"/>
          </a:xfrm>
          <a:prstGeom prst="roundRect">
            <a:avLst>
              <a:gd name="adj" fmla="val 6667"/>
            </a:avLst>
          </a:prstGeom>
          <a:solidFill>
            <a:srgbClr val="161B22"/>
          </a:solidFill>
          <a:ln w="12700">
            <a:solidFill>
              <a:srgbClr val="F85149"/>
            </a:solidFill>
            <a:prstDash val="solid"/>
          </a:ln>
        </p:spPr>
        <p:txBody>
          <a:bodyPr/>
          <a:lstStyle/>
          <a:p>
            <a:endParaRPr lang="en-GB"/>
          </a:p>
        </p:txBody>
      </p:sp>
      <p:sp>
        <p:nvSpPr>
          <p:cNvPr id="16" name="Text 14"/>
          <p:cNvSpPr/>
          <p:nvPr/>
        </p:nvSpPr>
        <p:spPr>
          <a:xfrm>
            <a:off x="6734556" y="3520440"/>
            <a:ext cx="4357116" cy="822960"/>
          </a:xfrm>
          <a:prstGeom prst="rect">
            <a:avLst/>
          </a:prstGeom>
          <a:noFill/>
          <a:ln/>
        </p:spPr>
        <p:txBody>
          <a:bodyPr wrap="square" rtlCol="0" anchor="ctr"/>
          <a:lstStyle/>
          <a:p>
            <a:pPr marL="0" indent="0" algn="ctr">
              <a:buNone/>
            </a:pPr>
            <a:r>
              <a:rPr lang="en-US" sz="1400" dirty="0">
                <a:solidFill>
                  <a:srgbClr val="F85149"/>
                </a:solidFill>
                <a:latin typeface="Segoe UI" pitchFamily="34" charset="0"/>
                <a:ea typeface="Segoe UI" pitchFamily="34" charset="-122"/>
                <a:cs typeface="Segoe UI" pitchFamily="34" charset="-120"/>
              </a:rPr>
              <a:t>Potential sensitive-data</a:t>
            </a:r>
            <a:endParaRPr lang="en-US" sz="1400" dirty="0"/>
          </a:p>
          <a:p>
            <a:pPr marL="0" indent="0" algn="ctr">
              <a:buNone/>
            </a:pPr>
            <a:r>
              <a:rPr lang="en-US" sz="1400" dirty="0">
                <a:solidFill>
                  <a:srgbClr val="F85149"/>
                </a:solidFill>
                <a:latin typeface="Segoe UI" pitchFamily="34" charset="0"/>
                <a:ea typeface="Segoe UI" pitchFamily="34" charset="-122"/>
                <a:cs typeface="Segoe UI" pitchFamily="34" charset="-120"/>
              </a:rPr>
              <a:t>exposure</a:t>
            </a:r>
            <a:endParaRPr lang="en-US" sz="1400" dirty="0"/>
          </a:p>
        </p:txBody>
      </p:sp>
      <p:sp>
        <p:nvSpPr>
          <p:cNvPr id="17" name="Shape 15"/>
          <p:cNvSpPr/>
          <p:nvPr/>
        </p:nvSpPr>
        <p:spPr>
          <a:xfrm>
            <a:off x="731520" y="5120640"/>
            <a:ext cx="54864" cy="411480"/>
          </a:xfrm>
          <a:prstGeom prst="rect">
            <a:avLst/>
          </a:prstGeom>
          <a:solidFill>
            <a:srgbClr val="3FB950"/>
          </a:solidFill>
          <a:ln/>
        </p:spPr>
        <p:txBody>
          <a:bodyPr/>
          <a:lstStyle/>
          <a:p>
            <a:endParaRPr lang="en-GB"/>
          </a:p>
        </p:txBody>
      </p:sp>
      <p:sp>
        <p:nvSpPr>
          <p:cNvPr id="18" name="Text 16"/>
          <p:cNvSpPr/>
          <p:nvPr/>
        </p:nvSpPr>
        <p:spPr>
          <a:xfrm>
            <a:off x="960120" y="5120640"/>
            <a:ext cx="10497312" cy="411480"/>
          </a:xfrm>
          <a:prstGeom prst="rect">
            <a:avLst/>
          </a:prstGeom>
          <a:noFill/>
          <a:ln/>
        </p:spPr>
        <p:txBody>
          <a:bodyPr wrap="square" rtlCol="0" anchor="ctr"/>
          <a:lstStyle/>
          <a:p>
            <a:pPr marL="0" indent="0">
              <a:buNone/>
            </a:pPr>
            <a:r>
              <a:rPr lang="en-US" sz="1400" b="1" i="1" dirty="0">
                <a:solidFill>
                  <a:srgbClr val="3FB950"/>
                </a:solidFill>
                <a:latin typeface="Segoe UI" pitchFamily="34" charset="0"/>
                <a:ea typeface="Segoe UI" pitchFamily="34" charset="-122"/>
                <a:cs typeface="Segoe UI" pitchFamily="34" charset="-120"/>
              </a:rPr>
              <a:t>If public content can become a regurgitation dispute, private content can become an exposure incident.</a:t>
            </a:r>
            <a:endParaRPr lang="en-US" sz="1400" dirty="0"/>
          </a:p>
        </p:txBody>
      </p:sp>
      <p:sp>
        <p:nvSpPr>
          <p:cNvPr id="19" name="Text 17"/>
          <p:cNvSpPr/>
          <p:nvPr/>
        </p:nvSpPr>
        <p:spPr>
          <a:xfrm>
            <a:off x="8686800" y="6263640"/>
            <a:ext cx="2926080" cy="228600"/>
          </a:xfrm>
          <a:prstGeom prst="rect">
            <a:avLst/>
          </a:prstGeom>
          <a:noFill/>
          <a:ln/>
        </p:spPr>
        <p:txBody>
          <a:bodyPr wrap="square"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Authors Guild et al. v. OpenAI</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274320"/>
          </a:xfrm>
          <a:prstGeom prst="rect">
            <a:avLst/>
          </a:prstGeom>
          <a:noFill/>
          <a:ln/>
        </p:spPr>
        <p:txBody>
          <a:bodyPr wrap="square" rtlCol="0" anchor="ctr"/>
          <a:lstStyle/>
          <a:p>
            <a:pPr marL="0" indent="0">
              <a:buNone/>
            </a:pPr>
            <a:r>
              <a:rPr lang="en-US" sz="1100" dirty="0">
                <a:solidFill>
                  <a:srgbClr val="8B949E"/>
                </a:solidFill>
                <a:latin typeface="Consolas" pitchFamily="34" charset="0"/>
                <a:ea typeface="Consolas" pitchFamily="34" charset="-122"/>
                <a:cs typeface="Consolas" pitchFamily="34" charset="-120"/>
              </a:rPr>
              <a:t>Stage 1 · Governance</a:t>
            </a:r>
            <a:endParaRPr lang="en-US" sz="1100" dirty="0"/>
          </a:p>
        </p:txBody>
      </p:sp>
      <p:sp>
        <p:nvSpPr>
          <p:cNvPr id="3" name="Text 1"/>
          <p:cNvSpPr/>
          <p:nvPr/>
        </p:nvSpPr>
        <p:spPr>
          <a:xfrm>
            <a:off x="548640" y="594360"/>
            <a:ext cx="11091672" cy="502920"/>
          </a:xfrm>
          <a:prstGeom prst="rect">
            <a:avLst/>
          </a:prstGeom>
          <a:noFill/>
          <a:ln/>
        </p:spPr>
        <p:txBody>
          <a:bodyPr wrap="square" rtlCol="0" anchor="ctr"/>
          <a:lstStyle/>
          <a:p>
            <a:pPr marL="0" indent="0">
              <a:buNone/>
            </a:pPr>
            <a:r>
              <a:rPr lang="en-US" sz="2400" dirty="0">
                <a:solidFill>
                  <a:srgbClr val="8B949E"/>
                </a:solidFill>
                <a:latin typeface="Consolas" pitchFamily="34" charset="0"/>
                <a:ea typeface="Consolas" pitchFamily="34" charset="-122"/>
                <a:cs typeface="Consolas" pitchFamily="34" charset="-120"/>
              </a:rPr>
              <a:t>&gt; </a:t>
            </a:r>
            <a:r>
              <a:rPr lang="en-US" sz="2200" b="1" dirty="0">
                <a:solidFill>
                  <a:srgbClr val="58A6FF"/>
                </a:solidFill>
                <a:latin typeface="Consolas" pitchFamily="34" charset="0"/>
                <a:ea typeface="Consolas" pitchFamily="34" charset="-122"/>
                <a:cs typeface="Consolas" pitchFamily="34" charset="-120"/>
              </a:rPr>
              <a:t>Is my data safe?</a:t>
            </a:r>
            <a:endParaRPr lang="en-US" sz="2400" dirty="0"/>
          </a:p>
        </p:txBody>
      </p:sp>
      <p:sp>
        <p:nvSpPr>
          <p:cNvPr id="4" name="Shape 2"/>
          <p:cNvSpPr/>
          <p:nvPr/>
        </p:nvSpPr>
        <p:spPr>
          <a:xfrm>
            <a:off x="548640" y="1143000"/>
            <a:ext cx="11091672" cy="13716"/>
          </a:xfrm>
          <a:prstGeom prst="rect">
            <a:avLst/>
          </a:prstGeom>
          <a:solidFill>
            <a:srgbClr val="30363D"/>
          </a:solidFill>
          <a:ln/>
        </p:spPr>
        <p:txBody>
          <a:bodyPr/>
          <a:lstStyle/>
          <a:p>
            <a:endParaRPr lang="en-GB"/>
          </a:p>
        </p:txBody>
      </p:sp>
      <p:sp>
        <p:nvSpPr>
          <p:cNvPr id="5" name="Text 3"/>
          <p:cNvSpPr/>
          <p:nvPr/>
        </p:nvSpPr>
        <p:spPr>
          <a:xfrm>
            <a:off x="10972800" y="6446520"/>
            <a:ext cx="731520" cy="274320"/>
          </a:xfrm>
          <a:prstGeom prst="rect">
            <a:avLst/>
          </a:prstGeom>
          <a:noFill/>
          <a:ln/>
        </p:spPr>
        <p:txBody>
          <a:bodyPr wrap="square" rtlCol="0" anchor="ctr"/>
          <a:lstStyle/>
          <a:p>
            <a:pPr marL="0" indent="0" algn="r">
              <a:buNone/>
            </a:pPr>
            <a:r>
              <a:rPr lang="en-US" sz="1000" dirty="0">
                <a:solidFill>
                  <a:srgbClr val="8B949E"/>
                </a:solidFill>
                <a:latin typeface="Consolas" pitchFamily="34" charset="0"/>
                <a:ea typeface="Consolas" pitchFamily="34" charset="-122"/>
                <a:cs typeface="Consolas" pitchFamily="34" charset="-120"/>
              </a:rPr>
              <a:t>10</a:t>
            </a:r>
            <a:endParaRPr lang="en-US" sz="1000" dirty="0"/>
          </a:p>
        </p:txBody>
      </p:sp>
      <p:sp>
        <p:nvSpPr>
          <p:cNvPr id="6" name="Shape 4"/>
          <p:cNvSpPr/>
          <p:nvPr/>
        </p:nvSpPr>
        <p:spPr>
          <a:xfrm>
            <a:off x="548640" y="1325880"/>
            <a:ext cx="11091672" cy="5074920"/>
          </a:xfrm>
          <a:prstGeom prst="roundRect">
            <a:avLst>
              <a:gd name="adj" fmla="val 2162"/>
            </a:avLst>
          </a:prstGeom>
          <a:solidFill>
            <a:srgbClr val="161B22"/>
          </a:solidFill>
          <a:ln w="9525">
            <a:solidFill>
              <a:srgbClr val="30363D"/>
            </a:solidFill>
            <a:prstDash val="solid"/>
          </a:ln>
        </p:spPr>
        <p:txBody>
          <a:bodyPr/>
          <a:lstStyle/>
          <a:p>
            <a:endParaRPr lang="en-GB"/>
          </a:p>
        </p:txBody>
      </p:sp>
      <p:sp>
        <p:nvSpPr>
          <p:cNvPr id="7" name="Text 5"/>
          <p:cNvSpPr/>
          <p:nvPr/>
        </p:nvSpPr>
        <p:spPr>
          <a:xfrm>
            <a:off x="914400" y="1554480"/>
            <a:ext cx="10360152" cy="4572000"/>
          </a:xfrm>
          <a:prstGeom prst="rect">
            <a:avLst/>
          </a:prstGeom>
          <a:noFill/>
          <a:ln/>
        </p:spPr>
        <p:txBody>
          <a:bodyPr wrap="square" rtlCol="0" anchor="t"/>
          <a:lstStyle/>
          <a:p>
            <a:pPr marL="0" indent="0">
              <a:lnSpc>
                <a:spcPct val="150000"/>
              </a:lnSpc>
              <a:spcAft>
                <a:spcPts val="600"/>
              </a:spcAft>
              <a:buNone/>
            </a:pPr>
            <a:r>
              <a:rPr lang="en-US" sz="1500" dirty="0">
                <a:solidFill>
                  <a:srgbClr val="E6EDF3"/>
                </a:solidFill>
                <a:latin typeface="Segoe UI" pitchFamily="34" charset="0"/>
                <a:ea typeface="Segoe UI" pitchFamily="34" charset="-122"/>
                <a:cs typeface="Segoe UI" pitchFamily="34" charset="-120"/>
              </a:rPr>
              <a:t>Model weights are poor storage for data requiring precise controls:
</a:t>
            </a:r>
            <a:endParaRPr lang="en-US" sz="1500" dirty="0"/>
          </a:p>
        </p:txBody>
      </p:sp>
      <p:sp>
        <p:nvSpPr>
          <p:cNvPr id="8" name="Shape 6"/>
          <p:cNvSpPr/>
          <p:nvPr/>
        </p:nvSpPr>
        <p:spPr>
          <a:xfrm>
            <a:off x="1371600" y="2137410"/>
            <a:ext cx="365760" cy="365760"/>
          </a:xfrm>
          <a:prstGeom prst="roundRect">
            <a:avLst>
              <a:gd name="adj" fmla="val 10000"/>
            </a:avLst>
          </a:prstGeom>
          <a:solidFill>
            <a:srgbClr val="F85149"/>
          </a:solidFill>
          <a:ln/>
        </p:spPr>
        <p:txBody>
          <a:bodyPr/>
          <a:lstStyle/>
          <a:p>
            <a:endParaRPr lang="en-GB"/>
          </a:p>
        </p:txBody>
      </p:sp>
      <p:sp>
        <p:nvSpPr>
          <p:cNvPr id="9" name="Text 7"/>
          <p:cNvSpPr/>
          <p:nvPr/>
        </p:nvSpPr>
        <p:spPr>
          <a:xfrm>
            <a:off x="1371600" y="2137410"/>
            <a:ext cx="365760" cy="365760"/>
          </a:xfrm>
          <a:prstGeom prst="rect">
            <a:avLst/>
          </a:prstGeom>
          <a:noFill/>
          <a:ln/>
        </p:spPr>
        <p:txBody>
          <a:bodyPr wrap="square" rtlCol="0" anchor="ctr"/>
          <a:lstStyle/>
          <a:p>
            <a:pPr marL="0" indent="0" algn="ctr">
              <a:buNone/>
            </a:pPr>
            <a:r>
              <a:rPr lang="en-US" sz="1600" b="1" dirty="0">
                <a:solidFill>
                  <a:srgbClr val="0D1117"/>
                </a:solidFill>
                <a:latin typeface="Segoe UI" pitchFamily="34" charset="0"/>
                <a:ea typeface="Segoe UI" pitchFamily="34" charset="-122"/>
                <a:cs typeface="Segoe UI" pitchFamily="34" charset="-120"/>
              </a:rPr>
              <a:t>✕</a:t>
            </a:r>
            <a:endParaRPr lang="en-US" sz="1600" dirty="0"/>
          </a:p>
        </p:txBody>
      </p:sp>
      <p:sp>
        <p:nvSpPr>
          <p:cNvPr id="10" name="Text 8"/>
          <p:cNvSpPr/>
          <p:nvPr/>
        </p:nvSpPr>
        <p:spPr>
          <a:xfrm>
            <a:off x="2011680" y="2101215"/>
            <a:ext cx="7315200" cy="457200"/>
          </a:xfrm>
          <a:prstGeom prst="rect">
            <a:avLst/>
          </a:prstGeom>
          <a:noFill/>
          <a:ln/>
        </p:spPr>
        <p:txBody>
          <a:bodyPr wrap="square" rtlCol="0" anchor="ctr"/>
          <a:lstStyle/>
          <a:p>
            <a:pPr marL="0" indent="0">
              <a:buNone/>
            </a:pPr>
            <a:r>
              <a:rPr lang="en-US" sz="1500" dirty="0">
                <a:solidFill>
                  <a:srgbClr val="E6EDF3"/>
                </a:solidFill>
                <a:latin typeface="Segoe UI" pitchFamily="34" charset="0"/>
                <a:ea typeface="Segoe UI" pitchFamily="34" charset="-122"/>
                <a:cs typeface="Segoe UI" pitchFamily="34" charset="-120"/>
              </a:rPr>
              <a:t>Needs access control</a:t>
            </a:r>
            <a:endParaRPr lang="en-US" sz="1500" dirty="0"/>
          </a:p>
        </p:txBody>
      </p:sp>
      <p:sp>
        <p:nvSpPr>
          <p:cNvPr id="11" name="Shape 9"/>
          <p:cNvSpPr/>
          <p:nvPr/>
        </p:nvSpPr>
        <p:spPr>
          <a:xfrm>
            <a:off x="1371600" y="2731770"/>
            <a:ext cx="365760" cy="365760"/>
          </a:xfrm>
          <a:prstGeom prst="roundRect">
            <a:avLst>
              <a:gd name="adj" fmla="val 10000"/>
            </a:avLst>
          </a:prstGeom>
          <a:solidFill>
            <a:srgbClr val="F85149"/>
          </a:solidFill>
          <a:ln/>
        </p:spPr>
        <p:txBody>
          <a:bodyPr/>
          <a:lstStyle/>
          <a:p>
            <a:endParaRPr lang="en-GB"/>
          </a:p>
        </p:txBody>
      </p:sp>
      <p:sp>
        <p:nvSpPr>
          <p:cNvPr id="12" name="Text 10"/>
          <p:cNvSpPr/>
          <p:nvPr/>
        </p:nvSpPr>
        <p:spPr>
          <a:xfrm>
            <a:off x="1371600" y="2731770"/>
            <a:ext cx="365760" cy="365760"/>
          </a:xfrm>
          <a:prstGeom prst="rect">
            <a:avLst/>
          </a:prstGeom>
          <a:noFill/>
          <a:ln/>
        </p:spPr>
        <p:txBody>
          <a:bodyPr wrap="square" rtlCol="0" anchor="ctr"/>
          <a:lstStyle/>
          <a:p>
            <a:pPr marL="0" indent="0" algn="ctr">
              <a:buNone/>
            </a:pPr>
            <a:r>
              <a:rPr lang="en-US" sz="1600" b="1" dirty="0">
                <a:solidFill>
                  <a:srgbClr val="0D1117"/>
                </a:solidFill>
                <a:latin typeface="Segoe UI" pitchFamily="34" charset="0"/>
                <a:ea typeface="Segoe UI" pitchFamily="34" charset="-122"/>
                <a:cs typeface="Segoe UI" pitchFamily="34" charset="-120"/>
              </a:rPr>
              <a:t>✕</a:t>
            </a:r>
            <a:endParaRPr lang="en-US" sz="1600" dirty="0"/>
          </a:p>
        </p:txBody>
      </p:sp>
      <p:sp>
        <p:nvSpPr>
          <p:cNvPr id="13" name="Text 11"/>
          <p:cNvSpPr/>
          <p:nvPr/>
        </p:nvSpPr>
        <p:spPr>
          <a:xfrm>
            <a:off x="2011680" y="2695575"/>
            <a:ext cx="7315200" cy="457200"/>
          </a:xfrm>
          <a:prstGeom prst="rect">
            <a:avLst/>
          </a:prstGeom>
          <a:noFill/>
          <a:ln/>
        </p:spPr>
        <p:txBody>
          <a:bodyPr wrap="square" rtlCol="0" anchor="ctr"/>
          <a:lstStyle/>
          <a:p>
            <a:pPr marL="0" indent="0">
              <a:buNone/>
            </a:pPr>
            <a:r>
              <a:rPr lang="en-US" sz="1500" dirty="0">
                <a:solidFill>
                  <a:srgbClr val="E6EDF3"/>
                </a:solidFill>
                <a:latin typeface="Segoe UI" pitchFamily="34" charset="0"/>
                <a:ea typeface="Segoe UI" pitchFamily="34" charset="-122"/>
                <a:cs typeface="Segoe UI" pitchFamily="34" charset="-120"/>
              </a:rPr>
              <a:t>Needs deletion capability</a:t>
            </a:r>
            <a:endParaRPr lang="en-US" sz="1500" dirty="0"/>
          </a:p>
        </p:txBody>
      </p:sp>
      <p:sp>
        <p:nvSpPr>
          <p:cNvPr id="14" name="Shape 12"/>
          <p:cNvSpPr/>
          <p:nvPr/>
        </p:nvSpPr>
        <p:spPr>
          <a:xfrm>
            <a:off x="1371600" y="3326130"/>
            <a:ext cx="365760" cy="365760"/>
          </a:xfrm>
          <a:prstGeom prst="roundRect">
            <a:avLst>
              <a:gd name="adj" fmla="val 10000"/>
            </a:avLst>
          </a:prstGeom>
          <a:solidFill>
            <a:srgbClr val="F85149"/>
          </a:solidFill>
          <a:ln/>
        </p:spPr>
        <p:txBody>
          <a:bodyPr/>
          <a:lstStyle/>
          <a:p>
            <a:endParaRPr lang="en-GB"/>
          </a:p>
        </p:txBody>
      </p:sp>
      <p:sp>
        <p:nvSpPr>
          <p:cNvPr id="15" name="Text 13"/>
          <p:cNvSpPr/>
          <p:nvPr/>
        </p:nvSpPr>
        <p:spPr>
          <a:xfrm>
            <a:off x="1371600" y="3326130"/>
            <a:ext cx="365760" cy="365760"/>
          </a:xfrm>
          <a:prstGeom prst="rect">
            <a:avLst/>
          </a:prstGeom>
          <a:noFill/>
          <a:ln/>
        </p:spPr>
        <p:txBody>
          <a:bodyPr wrap="square" rtlCol="0" anchor="ctr"/>
          <a:lstStyle/>
          <a:p>
            <a:pPr marL="0" indent="0" algn="ctr">
              <a:buNone/>
            </a:pPr>
            <a:r>
              <a:rPr lang="en-US" sz="1600" b="1" dirty="0">
                <a:solidFill>
                  <a:srgbClr val="0D1117"/>
                </a:solidFill>
                <a:latin typeface="Segoe UI" pitchFamily="34" charset="0"/>
                <a:ea typeface="Segoe UI" pitchFamily="34" charset="-122"/>
                <a:cs typeface="Segoe UI" pitchFamily="34" charset="-120"/>
              </a:rPr>
              <a:t>✕</a:t>
            </a:r>
            <a:endParaRPr lang="en-US" sz="1600" dirty="0"/>
          </a:p>
        </p:txBody>
      </p:sp>
      <p:sp>
        <p:nvSpPr>
          <p:cNvPr id="16" name="Text 14"/>
          <p:cNvSpPr/>
          <p:nvPr/>
        </p:nvSpPr>
        <p:spPr>
          <a:xfrm>
            <a:off x="2011680" y="3289935"/>
            <a:ext cx="7315200" cy="457200"/>
          </a:xfrm>
          <a:prstGeom prst="rect">
            <a:avLst/>
          </a:prstGeom>
          <a:noFill/>
          <a:ln/>
        </p:spPr>
        <p:txBody>
          <a:bodyPr wrap="square" rtlCol="0" anchor="ctr"/>
          <a:lstStyle/>
          <a:p>
            <a:pPr marL="0" indent="0">
              <a:buNone/>
            </a:pPr>
            <a:r>
              <a:rPr lang="en-US" sz="1500" dirty="0">
                <a:solidFill>
                  <a:srgbClr val="E6EDF3"/>
                </a:solidFill>
                <a:latin typeface="Segoe UI" pitchFamily="34" charset="0"/>
                <a:ea typeface="Segoe UI" pitchFamily="34" charset="-122"/>
                <a:cs typeface="Segoe UI" pitchFamily="34" charset="-120"/>
              </a:rPr>
              <a:t>Needs audit trail</a:t>
            </a:r>
            <a:endParaRPr lang="en-US" sz="1500" dirty="0"/>
          </a:p>
        </p:txBody>
      </p:sp>
      <p:sp>
        <p:nvSpPr>
          <p:cNvPr id="17" name="Shape 15"/>
          <p:cNvSpPr/>
          <p:nvPr/>
        </p:nvSpPr>
        <p:spPr>
          <a:xfrm>
            <a:off x="1371600" y="3920490"/>
            <a:ext cx="365760" cy="365760"/>
          </a:xfrm>
          <a:prstGeom prst="roundRect">
            <a:avLst>
              <a:gd name="adj" fmla="val 10000"/>
            </a:avLst>
          </a:prstGeom>
          <a:solidFill>
            <a:srgbClr val="F85149"/>
          </a:solidFill>
          <a:ln/>
        </p:spPr>
        <p:txBody>
          <a:bodyPr/>
          <a:lstStyle/>
          <a:p>
            <a:endParaRPr lang="en-GB"/>
          </a:p>
        </p:txBody>
      </p:sp>
      <p:sp>
        <p:nvSpPr>
          <p:cNvPr id="18" name="Text 16"/>
          <p:cNvSpPr/>
          <p:nvPr/>
        </p:nvSpPr>
        <p:spPr>
          <a:xfrm>
            <a:off x="1371600" y="3920490"/>
            <a:ext cx="365760" cy="365760"/>
          </a:xfrm>
          <a:prstGeom prst="rect">
            <a:avLst/>
          </a:prstGeom>
          <a:noFill/>
          <a:ln/>
        </p:spPr>
        <p:txBody>
          <a:bodyPr wrap="square" rtlCol="0" anchor="ctr"/>
          <a:lstStyle/>
          <a:p>
            <a:pPr marL="0" indent="0" algn="ctr">
              <a:buNone/>
            </a:pPr>
            <a:r>
              <a:rPr lang="en-US" sz="1600" b="1" dirty="0">
                <a:solidFill>
                  <a:srgbClr val="0D1117"/>
                </a:solidFill>
                <a:latin typeface="Segoe UI" pitchFamily="34" charset="0"/>
                <a:ea typeface="Segoe UI" pitchFamily="34" charset="-122"/>
                <a:cs typeface="Segoe UI" pitchFamily="34" charset="-120"/>
              </a:rPr>
              <a:t>✕</a:t>
            </a:r>
            <a:endParaRPr lang="en-US" sz="1600" dirty="0"/>
          </a:p>
        </p:txBody>
      </p:sp>
      <p:sp>
        <p:nvSpPr>
          <p:cNvPr id="19" name="Text 17"/>
          <p:cNvSpPr/>
          <p:nvPr/>
        </p:nvSpPr>
        <p:spPr>
          <a:xfrm>
            <a:off x="2011680" y="3884295"/>
            <a:ext cx="7315200" cy="457200"/>
          </a:xfrm>
          <a:prstGeom prst="rect">
            <a:avLst/>
          </a:prstGeom>
          <a:noFill/>
          <a:ln/>
        </p:spPr>
        <p:txBody>
          <a:bodyPr wrap="square" rtlCol="0" anchor="ctr"/>
          <a:lstStyle/>
          <a:p>
            <a:pPr marL="0" indent="0">
              <a:buNone/>
            </a:pPr>
            <a:r>
              <a:rPr lang="en-US" sz="1500" dirty="0">
                <a:solidFill>
                  <a:srgbClr val="E6EDF3"/>
                </a:solidFill>
                <a:latin typeface="Segoe UI" pitchFamily="34" charset="0"/>
                <a:ea typeface="Segoe UI" pitchFamily="34" charset="-122"/>
                <a:cs typeface="Segoe UI" pitchFamily="34" charset="-120"/>
              </a:rPr>
              <a:t>Contains identifiers (PII, account IDs)</a:t>
            </a:r>
            <a:endParaRPr lang="en-US" sz="1500" dirty="0"/>
          </a:p>
        </p:txBody>
      </p:sp>
      <p:sp>
        <p:nvSpPr>
          <p:cNvPr id="20" name="Shape 18"/>
          <p:cNvSpPr/>
          <p:nvPr/>
        </p:nvSpPr>
        <p:spPr>
          <a:xfrm>
            <a:off x="1371600" y="4514850"/>
            <a:ext cx="365760" cy="365760"/>
          </a:xfrm>
          <a:prstGeom prst="roundRect">
            <a:avLst>
              <a:gd name="adj" fmla="val 10000"/>
            </a:avLst>
          </a:prstGeom>
          <a:solidFill>
            <a:srgbClr val="F85149"/>
          </a:solidFill>
          <a:ln/>
        </p:spPr>
        <p:txBody>
          <a:bodyPr/>
          <a:lstStyle/>
          <a:p>
            <a:endParaRPr lang="en-GB"/>
          </a:p>
        </p:txBody>
      </p:sp>
      <p:sp>
        <p:nvSpPr>
          <p:cNvPr id="21" name="Text 19"/>
          <p:cNvSpPr/>
          <p:nvPr/>
        </p:nvSpPr>
        <p:spPr>
          <a:xfrm>
            <a:off x="1371600" y="4514850"/>
            <a:ext cx="365760" cy="365760"/>
          </a:xfrm>
          <a:prstGeom prst="rect">
            <a:avLst/>
          </a:prstGeom>
          <a:noFill/>
          <a:ln/>
        </p:spPr>
        <p:txBody>
          <a:bodyPr wrap="square" rtlCol="0" anchor="ctr"/>
          <a:lstStyle/>
          <a:p>
            <a:pPr marL="0" indent="0" algn="ctr">
              <a:buNone/>
            </a:pPr>
            <a:r>
              <a:rPr lang="en-US" sz="1600" b="1" dirty="0">
                <a:solidFill>
                  <a:srgbClr val="0D1117"/>
                </a:solidFill>
                <a:latin typeface="Segoe UI" pitchFamily="34" charset="0"/>
                <a:ea typeface="Segoe UI" pitchFamily="34" charset="-122"/>
                <a:cs typeface="Segoe UI" pitchFamily="34" charset="-120"/>
              </a:rPr>
              <a:t>✕</a:t>
            </a:r>
            <a:endParaRPr lang="en-US" sz="1600" dirty="0"/>
          </a:p>
        </p:txBody>
      </p:sp>
      <p:sp>
        <p:nvSpPr>
          <p:cNvPr id="22" name="Text 20"/>
          <p:cNvSpPr/>
          <p:nvPr/>
        </p:nvSpPr>
        <p:spPr>
          <a:xfrm>
            <a:off x="2011680" y="4478655"/>
            <a:ext cx="7315200" cy="457200"/>
          </a:xfrm>
          <a:prstGeom prst="rect">
            <a:avLst/>
          </a:prstGeom>
          <a:noFill/>
          <a:ln/>
        </p:spPr>
        <p:txBody>
          <a:bodyPr wrap="square" rtlCol="0" anchor="ctr"/>
          <a:lstStyle/>
          <a:p>
            <a:pPr marL="0" indent="0">
              <a:buNone/>
            </a:pPr>
            <a:r>
              <a:rPr lang="en-US" sz="1500" dirty="0">
                <a:solidFill>
                  <a:srgbClr val="E6EDF3"/>
                </a:solidFill>
                <a:latin typeface="Segoe UI" pitchFamily="34" charset="0"/>
                <a:ea typeface="Segoe UI" pitchFamily="34" charset="-122"/>
                <a:cs typeface="Segoe UI" pitchFamily="34" charset="-120"/>
              </a:rPr>
              <a:t>Contains regulated or confidential facts</a:t>
            </a:r>
            <a:endParaRPr lang="en-US" sz="1500" dirty="0"/>
          </a:p>
        </p:txBody>
      </p:sp>
      <p:sp>
        <p:nvSpPr>
          <p:cNvPr id="23" name="Shape 21"/>
          <p:cNvSpPr/>
          <p:nvPr/>
        </p:nvSpPr>
        <p:spPr>
          <a:xfrm>
            <a:off x="1371600" y="5109210"/>
            <a:ext cx="365760" cy="365760"/>
          </a:xfrm>
          <a:prstGeom prst="roundRect">
            <a:avLst>
              <a:gd name="adj" fmla="val 10000"/>
            </a:avLst>
          </a:prstGeom>
          <a:solidFill>
            <a:srgbClr val="F85149"/>
          </a:solidFill>
          <a:ln/>
        </p:spPr>
        <p:txBody>
          <a:bodyPr/>
          <a:lstStyle/>
          <a:p>
            <a:endParaRPr lang="en-GB"/>
          </a:p>
        </p:txBody>
      </p:sp>
      <p:sp>
        <p:nvSpPr>
          <p:cNvPr id="24" name="Text 22"/>
          <p:cNvSpPr/>
          <p:nvPr/>
        </p:nvSpPr>
        <p:spPr>
          <a:xfrm>
            <a:off x="1371600" y="5109210"/>
            <a:ext cx="365760" cy="365760"/>
          </a:xfrm>
          <a:prstGeom prst="rect">
            <a:avLst/>
          </a:prstGeom>
          <a:noFill/>
          <a:ln/>
        </p:spPr>
        <p:txBody>
          <a:bodyPr wrap="square" rtlCol="0" anchor="ctr"/>
          <a:lstStyle/>
          <a:p>
            <a:pPr marL="0" indent="0" algn="ctr">
              <a:buNone/>
            </a:pPr>
            <a:r>
              <a:rPr lang="en-US" sz="1600" b="1" dirty="0">
                <a:solidFill>
                  <a:srgbClr val="0D1117"/>
                </a:solidFill>
                <a:latin typeface="Segoe UI" pitchFamily="34" charset="0"/>
                <a:ea typeface="Segoe UI" pitchFamily="34" charset="-122"/>
                <a:cs typeface="Segoe UI" pitchFamily="34" charset="-120"/>
              </a:rPr>
              <a:t>✕</a:t>
            </a:r>
            <a:endParaRPr lang="en-US" sz="1600" dirty="0"/>
          </a:p>
        </p:txBody>
      </p:sp>
      <p:sp>
        <p:nvSpPr>
          <p:cNvPr id="25" name="Text 23"/>
          <p:cNvSpPr/>
          <p:nvPr/>
        </p:nvSpPr>
        <p:spPr>
          <a:xfrm>
            <a:off x="2011680" y="5073015"/>
            <a:ext cx="7315200" cy="457200"/>
          </a:xfrm>
          <a:prstGeom prst="rect">
            <a:avLst/>
          </a:prstGeom>
          <a:noFill/>
          <a:ln/>
        </p:spPr>
        <p:txBody>
          <a:bodyPr wrap="square" rtlCol="0" anchor="ctr"/>
          <a:lstStyle/>
          <a:p>
            <a:pPr marL="0" indent="0">
              <a:buNone/>
            </a:pPr>
            <a:r>
              <a:rPr lang="en-US" sz="1500" dirty="0">
                <a:solidFill>
                  <a:srgbClr val="E6EDF3"/>
                </a:solidFill>
                <a:latin typeface="Segoe UI" pitchFamily="34" charset="0"/>
                <a:ea typeface="Segoe UI" pitchFamily="34" charset="-122"/>
                <a:cs typeface="Segoe UI" pitchFamily="34" charset="-120"/>
              </a:rPr>
              <a:t>Requires tenant isolation</a:t>
            </a:r>
            <a:endParaRPr lang="en-US" sz="1500" dirty="0"/>
          </a:p>
        </p:txBody>
      </p:sp>
      <p:sp>
        <p:nvSpPr>
          <p:cNvPr id="26" name="Shape 24"/>
          <p:cNvSpPr/>
          <p:nvPr/>
        </p:nvSpPr>
        <p:spPr>
          <a:xfrm>
            <a:off x="731520" y="5669280"/>
            <a:ext cx="54864" cy="411480"/>
          </a:xfrm>
          <a:prstGeom prst="rect">
            <a:avLst/>
          </a:prstGeom>
          <a:solidFill>
            <a:srgbClr val="3FB950"/>
          </a:solidFill>
          <a:ln/>
        </p:spPr>
        <p:txBody>
          <a:bodyPr/>
          <a:lstStyle/>
          <a:p>
            <a:endParaRPr lang="en-GB"/>
          </a:p>
        </p:txBody>
      </p:sp>
      <p:sp>
        <p:nvSpPr>
          <p:cNvPr id="27" name="Text 25"/>
          <p:cNvSpPr/>
          <p:nvPr/>
        </p:nvSpPr>
        <p:spPr>
          <a:xfrm>
            <a:off x="960120" y="5669280"/>
            <a:ext cx="10497312" cy="411480"/>
          </a:xfrm>
          <a:prstGeom prst="rect">
            <a:avLst/>
          </a:prstGeom>
          <a:noFill/>
          <a:ln/>
        </p:spPr>
        <p:txBody>
          <a:bodyPr wrap="square" rtlCol="0" anchor="ctr"/>
          <a:lstStyle/>
          <a:p>
            <a:pPr marL="0" indent="0">
              <a:buNone/>
            </a:pPr>
            <a:r>
              <a:rPr lang="en-US" sz="1400" b="1" i="1" dirty="0">
                <a:solidFill>
                  <a:srgbClr val="3FB950"/>
                </a:solidFill>
                <a:latin typeface="Segoe UI" pitchFamily="34" charset="0"/>
                <a:ea typeface="Segoe UI" pitchFamily="34" charset="-122"/>
                <a:cs typeface="Segoe UI" pitchFamily="34" charset="-120"/>
              </a:rPr>
              <a:t>If data needs ACL, deletion, audit, or tenant isolation — keep it out of model weights.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0B1A0B"/>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274320"/>
          </a:xfrm>
          <a:prstGeom prst="rect">
            <a:avLst/>
          </a:prstGeom>
          <a:noFill/>
          <a:ln/>
        </p:spPr>
        <p:txBody>
          <a:bodyPr wrap="square" rtlCol="0" anchor="ctr"/>
          <a:lstStyle/>
          <a:p>
            <a:pPr marL="0" indent="0">
              <a:buNone/>
            </a:pPr>
            <a:r>
              <a:rPr lang="en-US" sz="1100" dirty="0">
                <a:solidFill>
                  <a:srgbClr val="8B949E"/>
                </a:solidFill>
                <a:latin typeface="Consolas" pitchFamily="34" charset="0"/>
                <a:ea typeface="Consolas" pitchFamily="34" charset="-122"/>
                <a:cs typeface="Consolas" pitchFamily="34" charset="-120"/>
              </a:rPr>
              <a:t>Stage 1 · Controls</a:t>
            </a:r>
            <a:endParaRPr lang="en-US" sz="1100" dirty="0"/>
          </a:p>
        </p:txBody>
      </p:sp>
      <p:sp>
        <p:nvSpPr>
          <p:cNvPr id="3" name="Text 1"/>
          <p:cNvSpPr/>
          <p:nvPr/>
        </p:nvSpPr>
        <p:spPr>
          <a:xfrm>
            <a:off x="548640" y="594360"/>
            <a:ext cx="11091672" cy="502920"/>
          </a:xfrm>
          <a:prstGeom prst="rect">
            <a:avLst/>
          </a:prstGeom>
          <a:noFill/>
          <a:ln/>
        </p:spPr>
        <p:txBody>
          <a:bodyPr wrap="square" rtlCol="0" anchor="ctr"/>
          <a:lstStyle/>
          <a:p>
            <a:pPr marL="0" indent="0">
              <a:buNone/>
            </a:pPr>
            <a:r>
              <a:rPr lang="en-US" sz="2400" dirty="0">
                <a:solidFill>
                  <a:srgbClr val="8B949E"/>
                </a:solidFill>
                <a:latin typeface="Consolas" pitchFamily="34" charset="0"/>
                <a:ea typeface="Consolas" pitchFamily="34" charset="-122"/>
                <a:cs typeface="Consolas" pitchFamily="34" charset="-120"/>
              </a:rPr>
              <a:t>&gt; </a:t>
            </a:r>
            <a:r>
              <a:rPr lang="en-US" sz="2200" b="1" dirty="0">
                <a:solidFill>
                  <a:srgbClr val="3FB950"/>
                </a:solidFill>
                <a:latin typeface="Consolas" pitchFamily="34" charset="0"/>
                <a:ea typeface="Consolas" pitchFamily="34" charset="-122"/>
                <a:cs typeface="Consolas" pitchFamily="34" charset="-120"/>
              </a:rPr>
              <a:t>What should we do?</a:t>
            </a:r>
            <a:endParaRPr lang="en-US" sz="2400" dirty="0"/>
          </a:p>
        </p:txBody>
      </p:sp>
      <p:sp>
        <p:nvSpPr>
          <p:cNvPr id="4" name="Shape 2"/>
          <p:cNvSpPr/>
          <p:nvPr/>
        </p:nvSpPr>
        <p:spPr>
          <a:xfrm>
            <a:off x="548640" y="1143000"/>
            <a:ext cx="11091672" cy="13716"/>
          </a:xfrm>
          <a:prstGeom prst="rect">
            <a:avLst/>
          </a:prstGeom>
          <a:solidFill>
            <a:srgbClr val="30363D"/>
          </a:solidFill>
          <a:ln/>
        </p:spPr>
        <p:txBody>
          <a:bodyPr/>
          <a:lstStyle/>
          <a:p>
            <a:endParaRPr lang="en-GB"/>
          </a:p>
        </p:txBody>
      </p:sp>
      <p:sp>
        <p:nvSpPr>
          <p:cNvPr id="5" name="Text 3"/>
          <p:cNvSpPr/>
          <p:nvPr/>
        </p:nvSpPr>
        <p:spPr>
          <a:xfrm>
            <a:off x="10972800" y="6446520"/>
            <a:ext cx="731520" cy="274320"/>
          </a:xfrm>
          <a:prstGeom prst="rect">
            <a:avLst/>
          </a:prstGeom>
          <a:noFill/>
          <a:ln/>
        </p:spPr>
        <p:txBody>
          <a:bodyPr wrap="square" rtlCol="0" anchor="ctr"/>
          <a:lstStyle/>
          <a:p>
            <a:pPr marL="0" indent="0" algn="r">
              <a:buNone/>
            </a:pPr>
            <a:r>
              <a:rPr lang="en-US" sz="1000" dirty="0">
                <a:solidFill>
                  <a:srgbClr val="8B949E"/>
                </a:solidFill>
                <a:latin typeface="Consolas" pitchFamily="34" charset="0"/>
                <a:ea typeface="Consolas" pitchFamily="34" charset="-122"/>
                <a:cs typeface="Consolas" pitchFamily="34" charset="-120"/>
              </a:rPr>
              <a:t>11</a:t>
            </a:r>
            <a:endParaRPr lang="en-US" sz="1000" dirty="0"/>
          </a:p>
        </p:txBody>
      </p:sp>
      <p:sp>
        <p:nvSpPr>
          <p:cNvPr id="6" name="Shape 4"/>
          <p:cNvSpPr/>
          <p:nvPr/>
        </p:nvSpPr>
        <p:spPr>
          <a:xfrm>
            <a:off x="548640" y="1325880"/>
            <a:ext cx="11091672" cy="2103120"/>
          </a:xfrm>
          <a:prstGeom prst="roundRect">
            <a:avLst>
              <a:gd name="adj" fmla="val 5217"/>
            </a:avLst>
          </a:prstGeom>
          <a:solidFill>
            <a:srgbClr val="161B22"/>
          </a:solidFill>
          <a:ln w="9525">
            <a:solidFill>
              <a:srgbClr val="30363D"/>
            </a:solidFill>
            <a:prstDash val="solid"/>
          </a:ln>
        </p:spPr>
        <p:txBody>
          <a:bodyPr/>
          <a:lstStyle/>
          <a:p>
            <a:endParaRPr lang="en-GB"/>
          </a:p>
        </p:txBody>
      </p:sp>
      <p:sp>
        <p:nvSpPr>
          <p:cNvPr id="7" name="Shape 5"/>
          <p:cNvSpPr/>
          <p:nvPr/>
        </p:nvSpPr>
        <p:spPr>
          <a:xfrm>
            <a:off x="914400" y="1554480"/>
            <a:ext cx="1498092"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8" name="Text 6"/>
          <p:cNvSpPr/>
          <p:nvPr/>
        </p:nvSpPr>
        <p:spPr>
          <a:xfrm>
            <a:off x="914400" y="1554480"/>
            <a:ext cx="1498092"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Data Classification</a:t>
            </a:r>
            <a:endParaRPr lang="en-US" sz="900" dirty="0"/>
          </a:p>
        </p:txBody>
      </p:sp>
      <p:sp>
        <p:nvSpPr>
          <p:cNvPr id="9" name="Text 7"/>
          <p:cNvSpPr/>
          <p:nvPr/>
        </p:nvSpPr>
        <p:spPr>
          <a:xfrm>
            <a:off x="2412492" y="1554480"/>
            <a:ext cx="274320" cy="502920"/>
          </a:xfrm>
          <a:prstGeom prst="rect">
            <a:avLst/>
          </a:prstGeom>
          <a:noFill/>
          <a:ln/>
        </p:spPr>
        <p:txBody>
          <a:bodyPr wrap="square" rtlCol="0" anchor="ctr"/>
          <a:lstStyle/>
          <a:p>
            <a:pPr marL="0" indent="0" algn="ctr">
              <a:buNone/>
            </a:pPr>
            <a:r>
              <a:rPr lang="en-US" sz="1600" dirty="0">
                <a:solidFill>
                  <a:srgbClr val="3FB950"/>
                </a:solidFill>
                <a:latin typeface="Segoe UI" pitchFamily="34" charset="0"/>
                <a:ea typeface="Segoe UI" pitchFamily="34" charset="-122"/>
                <a:cs typeface="Segoe UI" pitchFamily="34" charset="-120"/>
              </a:rPr>
              <a:t>→</a:t>
            </a:r>
            <a:endParaRPr lang="en-US" sz="1600" dirty="0"/>
          </a:p>
        </p:txBody>
      </p:sp>
      <p:sp>
        <p:nvSpPr>
          <p:cNvPr id="10" name="Shape 8"/>
          <p:cNvSpPr/>
          <p:nvPr/>
        </p:nvSpPr>
        <p:spPr>
          <a:xfrm>
            <a:off x="2686812" y="1554480"/>
            <a:ext cx="1498092"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1" name="Text 9"/>
          <p:cNvSpPr/>
          <p:nvPr/>
        </p:nvSpPr>
        <p:spPr>
          <a:xfrm>
            <a:off x="2686812" y="1554480"/>
            <a:ext cx="1498092"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Minimization</a:t>
            </a:r>
            <a:endParaRPr lang="en-US" sz="900" dirty="0"/>
          </a:p>
        </p:txBody>
      </p:sp>
      <p:sp>
        <p:nvSpPr>
          <p:cNvPr id="12" name="Text 10"/>
          <p:cNvSpPr/>
          <p:nvPr/>
        </p:nvSpPr>
        <p:spPr>
          <a:xfrm>
            <a:off x="4184904" y="1554480"/>
            <a:ext cx="274320" cy="502920"/>
          </a:xfrm>
          <a:prstGeom prst="rect">
            <a:avLst/>
          </a:prstGeom>
          <a:noFill/>
          <a:ln/>
        </p:spPr>
        <p:txBody>
          <a:bodyPr wrap="square" rtlCol="0" anchor="ctr"/>
          <a:lstStyle/>
          <a:p>
            <a:pPr marL="0" indent="0" algn="ctr">
              <a:buNone/>
            </a:pPr>
            <a:r>
              <a:rPr lang="en-US" sz="1600" dirty="0">
                <a:solidFill>
                  <a:srgbClr val="3FB950"/>
                </a:solidFill>
                <a:latin typeface="Segoe UI" pitchFamily="34" charset="0"/>
                <a:ea typeface="Segoe UI" pitchFamily="34" charset="-122"/>
                <a:cs typeface="Segoe UI" pitchFamily="34" charset="-120"/>
              </a:rPr>
              <a:t>→</a:t>
            </a:r>
            <a:endParaRPr lang="en-US" sz="1600" dirty="0"/>
          </a:p>
        </p:txBody>
      </p:sp>
      <p:sp>
        <p:nvSpPr>
          <p:cNvPr id="13" name="Shape 11"/>
          <p:cNvSpPr/>
          <p:nvPr/>
        </p:nvSpPr>
        <p:spPr>
          <a:xfrm>
            <a:off x="4459224" y="1554480"/>
            <a:ext cx="1498092"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4" name="Text 12"/>
          <p:cNvSpPr/>
          <p:nvPr/>
        </p:nvSpPr>
        <p:spPr>
          <a:xfrm>
            <a:off x="4459224" y="1554480"/>
            <a:ext cx="1498092"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Approved Datasets</a:t>
            </a:r>
            <a:endParaRPr lang="en-US" sz="900" dirty="0"/>
          </a:p>
        </p:txBody>
      </p:sp>
      <p:sp>
        <p:nvSpPr>
          <p:cNvPr id="15" name="Text 13"/>
          <p:cNvSpPr/>
          <p:nvPr/>
        </p:nvSpPr>
        <p:spPr>
          <a:xfrm>
            <a:off x="5957316" y="1554480"/>
            <a:ext cx="274320" cy="502920"/>
          </a:xfrm>
          <a:prstGeom prst="rect">
            <a:avLst/>
          </a:prstGeom>
          <a:noFill/>
          <a:ln/>
        </p:spPr>
        <p:txBody>
          <a:bodyPr wrap="square" rtlCol="0" anchor="ctr"/>
          <a:lstStyle/>
          <a:p>
            <a:pPr marL="0" indent="0" algn="ctr">
              <a:buNone/>
            </a:pPr>
            <a:r>
              <a:rPr lang="en-US" sz="1600" dirty="0">
                <a:solidFill>
                  <a:srgbClr val="3FB950"/>
                </a:solidFill>
                <a:latin typeface="Segoe UI" pitchFamily="34" charset="0"/>
                <a:ea typeface="Segoe UI" pitchFamily="34" charset="-122"/>
                <a:cs typeface="Segoe UI" pitchFamily="34" charset="-120"/>
              </a:rPr>
              <a:t>→</a:t>
            </a:r>
            <a:endParaRPr lang="en-US" sz="1600" dirty="0"/>
          </a:p>
        </p:txBody>
      </p:sp>
      <p:sp>
        <p:nvSpPr>
          <p:cNvPr id="16" name="Shape 14"/>
          <p:cNvSpPr/>
          <p:nvPr/>
        </p:nvSpPr>
        <p:spPr>
          <a:xfrm>
            <a:off x="6231636" y="1554480"/>
            <a:ext cx="1498092"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7" name="Text 15"/>
          <p:cNvSpPr/>
          <p:nvPr/>
        </p:nvSpPr>
        <p:spPr>
          <a:xfrm>
            <a:off x="6231636" y="1554480"/>
            <a:ext cx="1498092"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Memorization Test</a:t>
            </a:r>
            <a:endParaRPr lang="en-US" sz="900" dirty="0"/>
          </a:p>
        </p:txBody>
      </p:sp>
      <p:sp>
        <p:nvSpPr>
          <p:cNvPr id="18" name="Text 16"/>
          <p:cNvSpPr/>
          <p:nvPr/>
        </p:nvSpPr>
        <p:spPr>
          <a:xfrm>
            <a:off x="7729728" y="1554480"/>
            <a:ext cx="274320" cy="502920"/>
          </a:xfrm>
          <a:prstGeom prst="rect">
            <a:avLst/>
          </a:prstGeom>
          <a:noFill/>
          <a:ln/>
        </p:spPr>
        <p:txBody>
          <a:bodyPr wrap="square" rtlCol="0" anchor="ctr"/>
          <a:lstStyle/>
          <a:p>
            <a:pPr marL="0" indent="0" algn="ctr">
              <a:buNone/>
            </a:pPr>
            <a:r>
              <a:rPr lang="en-US" sz="1600" dirty="0">
                <a:solidFill>
                  <a:srgbClr val="3FB950"/>
                </a:solidFill>
                <a:latin typeface="Segoe UI" pitchFamily="34" charset="0"/>
                <a:ea typeface="Segoe UI" pitchFamily="34" charset="-122"/>
                <a:cs typeface="Segoe UI" pitchFamily="34" charset="-120"/>
              </a:rPr>
              <a:t>→</a:t>
            </a:r>
            <a:endParaRPr lang="en-US" sz="1600" dirty="0"/>
          </a:p>
        </p:txBody>
      </p:sp>
      <p:sp>
        <p:nvSpPr>
          <p:cNvPr id="19" name="Shape 17"/>
          <p:cNvSpPr/>
          <p:nvPr/>
        </p:nvSpPr>
        <p:spPr>
          <a:xfrm>
            <a:off x="8004048" y="1554480"/>
            <a:ext cx="1498092"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20" name="Text 18"/>
          <p:cNvSpPr/>
          <p:nvPr/>
        </p:nvSpPr>
        <p:spPr>
          <a:xfrm>
            <a:off x="8004048" y="1554480"/>
            <a:ext cx="1498092"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Release Approval</a:t>
            </a:r>
            <a:endParaRPr lang="en-US" sz="900" dirty="0"/>
          </a:p>
        </p:txBody>
      </p:sp>
      <p:sp>
        <p:nvSpPr>
          <p:cNvPr id="21" name="Text 19"/>
          <p:cNvSpPr/>
          <p:nvPr/>
        </p:nvSpPr>
        <p:spPr>
          <a:xfrm>
            <a:off x="9502140" y="1554480"/>
            <a:ext cx="274320" cy="502920"/>
          </a:xfrm>
          <a:prstGeom prst="rect">
            <a:avLst/>
          </a:prstGeom>
          <a:noFill/>
          <a:ln/>
        </p:spPr>
        <p:txBody>
          <a:bodyPr wrap="square" rtlCol="0" anchor="ctr"/>
          <a:lstStyle/>
          <a:p>
            <a:pPr marL="0" indent="0" algn="ctr">
              <a:buNone/>
            </a:pPr>
            <a:r>
              <a:rPr lang="en-US" sz="1600" dirty="0">
                <a:solidFill>
                  <a:srgbClr val="3FB950"/>
                </a:solidFill>
                <a:latin typeface="Segoe UI" pitchFamily="34" charset="0"/>
                <a:ea typeface="Segoe UI" pitchFamily="34" charset="-122"/>
                <a:cs typeface="Segoe UI" pitchFamily="34" charset="-120"/>
              </a:rPr>
              <a:t>→</a:t>
            </a:r>
            <a:endParaRPr lang="en-US" sz="1600" dirty="0"/>
          </a:p>
        </p:txBody>
      </p:sp>
      <p:sp>
        <p:nvSpPr>
          <p:cNvPr id="22" name="Shape 20"/>
          <p:cNvSpPr/>
          <p:nvPr/>
        </p:nvSpPr>
        <p:spPr>
          <a:xfrm>
            <a:off x="9776460" y="1554480"/>
            <a:ext cx="1498092"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23" name="Text 21"/>
          <p:cNvSpPr/>
          <p:nvPr/>
        </p:nvSpPr>
        <p:spPr>
          <a:xfrm>
            <a:off x="9776460" y="1554480"/>
            <a:ext cx="1498092"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Monitoring</a:t>
            </a:r>
            <a:endParaRPr lang="en-US" sz="900" dirty="0"/>
          </a:p>
        </p:txBody>
      </p:sp>
      <p:sp>
        <p:nvSpPr>
          <p:cNvPr id="24" name="Shape 22"/>
          <p:cNvSpPr/>
          <p:nvPr/>
        </p:nvSpPr>
        <p:spPr>
          <a:xfrm>
            <a:off x="914400" y="3611880"/>
            <a:ext cx="10360152" cy="2103120"/>
          </a:xfrm>
          <a:prstGeom prst="roundRect">
            <a:avLst>
              <a:gd name="adj" fmla="val 3478"/>
            </a:avLst>
          </a:prstGeom>
          <a:solidFill>
            <a:srgbClr val="010409"/>
          </a:solidFill>
          <a:ln w="9525">
            <a:solidFill>
              <a:srgbClr val="30363D"/>
            </a:solidFill>
            <a:prstDash val="solid"/>
          </a:ln>
        </p:spPr>
        <p:txBody>
          <a:bodyPr/>
          <a:lstStyle/>
          <a:p>
            <a:endParaRPr lang="en-GB"/>
          </a:p>
        </p:txBody>
      </p:sp>
      <p:sp>
        <p:nvSpPr>
          <p:cNvPr id="25" name="Shape 23"/>
          <p:cNvSpPr/>
          <p:nvPr/>
        </p:nvSpPr>
        <p:spPr>
          <a:xfrm>
            <a:off x="1097280" y="3721608"/>
            <a:ext cx="73152" cy="73152"/>
          </a:xfrm>
          <a:prstGeom prst="ellipse">
            <a:avLst/>
          </a:prstGeom>
          <a:solidFill>
            <a:srgbClr val="F85149"/>
          </a:solidFill>
          <a:ln/>
        </p:spPr>
        <p:txBody>
          <a:bodyPr/>
          <a:lstStyle/>
          <a:p>
            <a:endParaRPr lang="en-GB"/>
          </a:p>
        </p:txBody>
      </p:sp>
      <p:sp>
        <p:nvSpPr>
          <p:cNvPr id="26" name="Shape 24"/>
          <p:cNvSpPr/>
          <p:nvPr/>
        </p:nvSpPr>
        <p:spPr>
          <a:xfrm>
            <a:off x="1261872" y="3721608"/>
            <a:ext cx="73152" cy="73152"/>
          </a:xfrm>
          <a:prstGeom prst="ellipse">
            <a:avLst/>
          </a:prstGeom>
          <a:solidFill>
            <a:srgbClr val="D29922"/>
          </a:solidFill>
          <a:ln/>
        </p:spPr>
        <p:txBody>
          <a:bodyPr/>
          <a:lstStyle/>
          <a:p>
            <a:endParaRPr lang="en-GB"/>
          </a:p>
        </p:txBody>
      </p:sp>
      <p:sp>
        <p:nvSpPr>
          <p:cNvPr id="27" name="Shape 25"/>
          <p:cNvSpPr/>
          <p:nvPr/>
        </p:nvSpPr>
        <p:spPr>
          <a:xfrm>
            <a:off x="1426464" y="3721608"/>
            <a:ext cx="73152" cy="73152"/>
          </a:xfrm>
          <a:prstGeom prst="ellipse">
            <a:avLst/>
          </a:prstGeom>
          <a:solidFill>
            <a:srgbClr val="3FB950"/>
          </a:solidFill>
          <a:ln/>
        </p:spPr>
        <p:txBody>
          <a:bodyPr/>
          <a:lstStyle/>
          <a:p>
            <a:endParaRPr lang="en-GB"/>
          </a:p>
        </p:txBody>
      </p:sp>
      <p:sp>
        <p:nvSpPr>
          <p:cNvPr id="28" name="Text 26"/>
          <p:cNvSpPr/>
          <p:nvPr/>
        </p:nvSpPr>
        <p:spPr>
          <a:xfrm>
            <a:off x="1143000" y="3931920"/>
            <a:ext cx="9902952" cy="1645920"/>
          </a:xfrm>
          <a:prstGeom prst="rect">
            <a:avLst/>
          </a:prstGeom>
          <a:noFill/>
          <a:ln/>
        </p:spPr>
        <p:txBody>
          <a:bodyPr wrap="square" rtlCol="0" anchor="t"/>
          <a:lstStyle/>
          <a:p>
            <a:pPr marL="0" indent="0">
              <a:lnSpc>
                <a:spcPct val="150000"/>
              </a:lnSpc>
              <a:buNone/>
            </a:pPr>
            <a:r>
              <a:rPr lang="en-US" sz="1200" dirty="0">
                <a:solidFill>
                  <a:srgbClr val="3FB950"/>
                </a:solidFill>
                <a:latin typeface="Consolas" pitchFamily="34" charset="0"/>
                <a:ea typeface="Consolas" pitchFamily="34" charset="-122"/>
                <a:cs typeface="Consolas" pitchFamily="34" charset="-120"/>
              </a:rPr>
              <a:t>$ python demos/stage1_release_gate.py --input raw_support_ticket.txt</a:t>
            </a:r>
            <a:r>
              <a:rPr lang="en-US" sz="1200" dirty="0">
                <a:solidFill>
                  <a:srgbClr val="F85149"/>
                </a:solidFill>
                <a:latin typeface="Consolas" pitchFamily="34" charset="0"/>
                <a:ea typeface="Consolas" pitchFamily="34" charset="-122"/>
                <a:cs typeface="Consolas" pitchFamily="34" charset="-120"/>
              </a:rPr>
              <a:t>BLOCK: email_address, customer_identifier, secret_like_token</a:t>
            </a:r>
            <a:r>
              <a:rPr lang="en-US" sz="1200" dirty="0">
                <a:solidFill>
                  <a:srgbClr val="3FB950"/>
                </a:solidFill>
                <a:latin typeface="Consolas" pitchFamily="34" charset="0"/>
                <a:ea typeface="Consolas" pitchFamily="34" charset="-122"/>
                <a:cs typeface="Consolas" pitchFamily="34" charset="-120"/>
              </a:rPr>
              <a:t>$ python demos/stage1_release_gate.py --input redacted_support_ticket.txtALLOW: minimized_example; lineage=demo-ticket-042; release_record=created</a:t>
            </a:r>
            <a:endParaRPr lang="en-US" sz="1200" dirty="0"/>
          </a:p>
        </p:txBody>
      </p:sp>
      <p:sp>
        <p:nvSpPr>
          <p:cNvPr id="29" name="Shape 27"/>
          <p:cNvSpPr/>
          <p:nvPr/>
        </p:nvSpPr>
        <p:spPr>
          <a:xfrm>
            <a:off x="731520" y="5943600"/>
            <a:ext cx="54864" cy="411480"/>
          </a:xfrm>
          <a:prstGeom prst="rect">
            <a:avLst/>
          </a:prstGeom>
          <a:solidFill>
            <a:srgbClr val="3FB950"/>
          </a:solidFill>
          <a:ln/>
        </p:spPr>
        <p:txBody>
          <a:bodyPr/>
          <a:lstStyle/>
          <a:p>
            <a:endParaRPr lang="en-GB"/>
          </a:p>
        </p:txBody>
      </p:sp>
      <p:sp>
        <p:nvSpPr>
          <p:cNvPr id="30" name="Text 28"/>
          <p:cNvSpPr/>
          <p:nvPr/>
        </p:nvSpPr>
        <p:spPr>
          <a:xfrm>
            <a:off x="960120" y="5943600"/>
            <a:ext cx="10497312" cy="411480"/>
          </a:xfrm>
          <a:prstGeom prst="rect">
            <a:avLst/>
          </a:prstGeom>
          <a:noFill/>
          <a:ln/>
        </p:spPr>
        <p:txBody>
          <a:bodyPr wrap="square" rtlCol="0" anchor="ctr"/>
          <a:lstStyle/>
          <a:p>
            <a:pPr marL="0" indent="0">
              <a:buNone/>
            </a:pPr>
            <a:r>
              <a:rPr lang="en-US" sz="1400" b="1" i="1" dirty="0">
                <a:solidFill>
                  <a:srgbClr val="3FB950"/>
                </a:solidFill>
                <a:latin typeface="Segoe UI" pitchFamily="34" charset="0"/>
                <a:ea typeface="Segoe UI" pitchFamily="34" charset="-122"/>
                <a:cs typeface="Segoe UI" pitchFamily="34" charset="-120"/>
              </a:rPr>
              <a:t>Defense: data minimization, prompt governance, training lineage, memorization eval, release traceability.</a:t>
            </a:r>
            <a:endParaRPr lang="en-US" sz="1400" dirty="0"/>
          </a:p>
        </p:txBody>
      </p:sp>
      <p:sp>
        <p:nvSpPr>
          <p:cNvPr id="31" name="Text 29"/>
          <p:cNvSpPr/>
          <p:nvPr/>
        </p:nvSpPr>
        <p:spPr>
          <a:xfrm>
            <a:off x="8686800" y="6263640"/>
            <a:ext cx="2926080" cy="228600"/>
          </a:xfrm>
          <a:prstGeom prst="rect">
            <a:avLst/>
          </a:prstGeom>
          <a:noFill/>
          <a:ln/>
        </p:spPr>
        <p:txBody>
          <a:bodyPr wrap="square"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OWASP LLM02:2025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274320"/>
          </a:xfrm>
          <a:prstGeom prst="rect">
            <a:avLst/>
          </a:prstGeom>
          <a:noFill/>
          <a:ln/>
        </p:spPr>
        <p:txBody>
          <a:bodyPr wrap="square" rtlCol="0" anchor="ctr"/>
          <a:lstStyle/>
          <a:p>
            <a:pPr marL="0" indent="0">
              <a:buNone/>
            </a:pPr>
            <a:r>
              <a:rPr lang="en-US" sz="1100" dirty="0">
                <a:solidFill>
                  <a:srgbClr val="8B949E"/>
                </a:solidFill>
                <a:latin typeface="Consolas" pitchFamily="34" charset="0"/>
                <a:ea typeface="Consolas" pitchFamily="34" charset="-122"/>
                <a:cs typeface="Consolas" pitchFamily="34" charset="-120"/>
              </a:rPr>
              <a:t>Stage 2 · RAG</a:t>
            </a:r>
            <a:endParaRPr lang="en-US" sz="1100" dirty="0"/>
          </a:p>
        </p:txBody>
      </p:sp>
      <p:sp>
        <p:nvSpPr>
          <p:cNvPr id="3" name="Text 1"/>
          <p:cNvSpPr/>
          <p:nvPr/>
        </p:nvSpPr>
        <p:spPr>
          <a:xfrm>
            <a:off x="548640" y="594360"/>
            <a:ext cx="11091672" cy="502920"/>
          </a:xfrm>
          <a:prstGeom prst="rect">
            <a:avLst/>
          </a:prstGeom>
          <a:noFill/>
          <a:ln/>
        </p:spPr>
        <p:txBody>
          <a:bodyPr wrap="square" rtlCol="0" anchor="ctr"/>
          <a:lstStyle/>
          <a:p>
            <a:pPr marL="0" indent="0">
              <a:buNone/>
            </a:pPr>
            <a:r>
              <a:rPr lang="en-US" sz="2400" dirty="0">
                <a:solidFill>
                  <a:srgbClr val="8B949E"/>
                </a:solidFill>
                <a:latin typeface="Consolas" pitchFamily="34" charset="0"/>
                <a:ea typeface="Consolas" pitchFamily="34" charset="-122"/>
                <a:cs typeface="Consolas" pitchFamily="34" charset="-120"/>
              </a:rPr>
              <a:t>&gt; </a:t>
            </a:r>
            <a:r>
              <a:rPr lang="en-US" sz="2200" b="1" dirty="0">
                <a:solidFill>
                  <a:srgbClr val="58A6FF"/>
                </a:solidFill>
                <a:latin typeface="Consolas" pitchFamily="34" charset="0"/>
                <a:ea typeface="Consolas" pitchFamily="34" charset="-122"/>
                <a:cs typeface="Consolas" pitchFamily="34" charset="-120"/>
              </a:rPr>
              <a:t>What is RAG?</a:t>
            </a:r>
            <a:endParaRPr lang="en-US" sz="2400" dirty="0"/>
          </a:p>
        </p:txBody>
      </p:sp>
      <p:sp>
        <p:nvSpPr>
          <p:cNvPr id="4" name="Shape 2"/>
          <p:cNvSpPr/>
          <p:nvPr/>
        </p:nvSpPr>
        <p:spPr>
          <a:xfrm>
            <a:off x="548640" y="1143000"/>
            <a:ext cx="11091672" cy="13716"/>
          </a:xfrm>
          <a:prstGeom prst="rect">
            <a:avLst/>
          </a:prstGeom>
          <a:solidFill>
            <a:srgbClr val="30363D"/>
          </a:solidFill>
          <a:ln/>
        </p:spPr>
        <p:txBody>
          <a:bodyPr/>
          <a:lstStyle/>
          <a:p>
            <a:endParaRPr lang="en-GB"/>
          </a:p>
        </p:txBody>
      </p:sp>
      <p:sp>
        <p:nvSpPr>
          <p:cNvPr id="5" name="Text 3"/>
          <p:cNvSpPr/>
          <p:nvPr/>
        </p:nvSpPr>
        <p:spPr>
          <a:xfrm>
            <a:off x="10972800" y="6446520"/>
            <a:ext cx="731520" cy="274320"/>
          </a:xfrm>
          <a:prstGeom prst="rect">
            <a:avLst/>
          </a:prstGeom>
          <a:noFill/>
          <a:ln/>
        </p:spPr>
        <p:txBody>
          <a:bodyPr wrap="square" rtlCol="0" anchor="ctr"/>
          <a:lstStyle/>
          <a:p>
            <a:pPr marL="0" indent="0" algn="r">
              <a:buNone/>
            </a:pPr>
            <a:r>
              <a:rPr lang="en-US" sz="1000" dirty="0">
                <a:solidFill>
                  <a:srgbClr val="8B949E"/>
                </a:solidFill>
                <a:latin typeface="Consolas" pitchFamily="34" charset="0"/>
                <a:ea typeface="Consolas" pitchFamily="34" charset="-122"/>
                <a:cs typeface="Consolas" pitchFamily="34" charset="-120"/>
              </a:rPr>
              <a:t>12</a:t>
            </a:r>
            <a:endParaRPr lang="en-US" sz="1000" dirty="0"/>
          </a:p>
        </p:txBody>
      </p:sp>
      <p:sp>
        <p:nvSpPr>
          <p:cNvPr id="6" name="Shape 4"/>
          <p:cNvSpPr/>
          <p:nvPr/>
        </p:nvSpPr>
        <p:spPr>
          <a:xfrm>
            <a:off x="548640" y="1325880"/>
            <a:ext cx="11091672" cy="5074920"/>
          </a:xfrm>
          <a:prstGeom prst="roundRect">
            <a:avLst>
              <a:gd name="adj" fmla="val 2162"/>
            </a:avLst>
          </a:prstGeom>
          <a:solidFill>
            <a:srgbClr val="161B22"/>
          </a:solidFill>
          <a:ln w="9525">
            <a:solidFill>
              <a:srgbClr val="30363D"/>
            </a:solidFill>
            <a:prstDash val="solid"/>
          </a:ln>
        </p:spPr>
        <p:txBody>
          <a:bodyPr/>
          <a:lstStyle/>
          <a:p>
            <a:endParaRPr lang="en-GB"/>
          </a:p>
        </p:txBody>
      </p:sp>
      <p:sp>
        <p:nvSpPr>
          <p:cNvPr id="7" name="Shape 5"/>
          <p:cNvSpPr/>
          <p:nvPr/>
        </p:nvSpPr>
        <p:spPr>
          <a:xfrm>
            <a:off x="914400" y="1645920"/>
            <a:ext cx="1054989"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8" name="Text 6"/>
          <p:cNvSpPr/>
          <p:nvPr/>
        </p:nvSpPr>
        <p:spPr>
          <a:xfrm>
            <a:off x="914400" y="1645920"/>
            <a:ext cx="1054989"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Source Systems</a:t>
            </a:r>
            <a:endParaRPr lang="en-US" sz="900" dirty="0"/>
          </a:p>
        </p:txBody>
      </p:sp>
      <p:sp>
        <p:nvSpPr>
          <p:cNvPr id="9" name="Text 7"/>
          <p:cNvSpPr/>
          <p:nvPr/>
        </p:nvSpPr>
        <p:spPr>
          <a:xfrm>
            <a:off x="1969389" y="1645920"/>
            <a:ext cx="274320" cy="502920"/>
          </a:xfrm>
          <a:prstGeom prst="rect">
            <a:avLst/>
          </a:prstGeom>
          <a:noFill/>
          <a:ln/>
        </p:spPr>
        <p:txBody>
          <a:bodyPr wrap="square" rtlCol="0" anchor="ctr"/>
          <a:lstStyle/>
          <a:p>
            <a:pPr marL="0" indent="0" algn="ctr">
              <a:buNone/>
            </a:pPr>
            <a:r>
              <a:rPr lang="en-US" sz="1600" dirty="0">
                <a:solidFill>
                  <a:srgbClr val="8B949E"/>
                </a:solidFill>
                <a:latin typeface="Segoe UI" pitchFamily="34" charset="0"/>
                <a:ea typeface="Segoe UI" pitchFamily="34" charset="-122"/>
                <a:cs typeface="Segoe UI" pitchFamily="34" charset="-120"/>
              </a:rPr>
              <a:t>→</a:t>
            </a:r>
            <a:endParaRPr lang="en-US" sz="1600" dirty="0"/>
          </a:p>
        </p:txBody>
      </p:sp>
      <p:sp>
        <p:nvSpPr>
          <p:cNvPr id="10" name="Shape 8"/>
          <p:cNvSpPr/>
          <p:nvPr/>
        </p:nvSpPr>
        <p:spPr>
          <a:xfrm>
            <a:off x="2243709" y="1645920"/>
            <a:ext cx="1054989"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1" name="Text 9"/>
          <p:cNvSpPr/>
          <p:nvPr/>
        </p:nvSpPr>
        <p:spPr>
          <a:xfrm>
            <a:off x="2243709" y="1645920"/>
            <a:ext cx="1054989"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Parser / Chunker</a:t>
            </a:r>
            <a:endParaRPr lang="en-US" sz="900" dirty="0"/>
          </a:p>
        </p:txBody>
      </p:sp>
      <p:sp>
        <p:nvSpPr>
          <p:cNvPr id="12" name="Text 10"/>
          <p:cNvSpPr/>
          <p:nvPr/>
        </p:nvSpPr>
        <p:spPr>
          <a:xfrm>
            <a:off x="3298698" y="1645920"/>
            <a:ext cx="274320" cy="502920"/>
          </a:xfrm>
          <a:prstGeom prst="rect">
            <a:avLst/>
          </a:prstGeom>
          <a:noFill/>
          <a:ln/>
        </p:spPr>
        <p:txBody>
          <a:bodyPr wrap="square" rtlCol="0" anchor="ctr"/>
          <a:lstStyle/>
          <a:p>
            <a:pPr marL="0" indent="0" algn="ctr">
              <a:buNone/>
            </a:pPr>
            <a:r>
              <a:rPr lang="en-US" sz="1600" dirty="0">
                <a:solidFill>
                  <a:srgbClr val="8B949E"/>
                </a:solidFill>
                <a:latin typeface="Segoe UI" pitchFamily="34" charset="0"/>
                <a:ea typeface="Segoe UI" pitchFamily="34" charset="-122"/>
                <a:cs typeface="Segoe UI" pitchFamily="34" charset="-120"/>
              </a:rPr>
              <a:t>→</a:t>
            </a:r>
            <a:endParaRPr lang="en-US" sz="1600" dirty="0"/>
          </a:p>
        </p:txBody>
      </p:sp>
      <p:sp>
        <p:nvSpPr>
          <p:cNvPr id="13" name="Shape 11"/>
          <p:cNvSpPr/>
          <p:nvPr/>
        </p:nvSpPr>
        <p:spPr>
          <a:xfrm>
            <a:off x="3573018" y="1645920"/>
            <a:ext cx="1054989"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4" name="Text 12"/>
          <p:cNvSpPr/>
          <p:nvPr/>
        </p:nvSpPr>
        <p:spPr>
          <a:xfrm>
            <a:off x="3573018" y="1645920"/>
            <a:ext cx="1054989"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Embedding Model</a:t>
            </a:r>
            <a:endParaRPr lang="en-US" sz="900" dirty="0"/>
          </a:p>
        </p:txBody>
      </p:sp>
      <p:sp>
        <p:nvSpPr>
          <p:cNvPr id="15" name="Text 13"/>
          <p:cNvSpPr/>
          <p:nvPr/>
        </p:nvSpPr>
        <p:spPr>
          <a:xfrm>
            <a:off x="4628007" y="1645920"/>
            <a:ext cx="274320" cy="502920"/>
          </a:xfrm>
          <a:prstGeom prst="rect">
            <a:avLst/>
          </a:prstGeom>
          <a:noFill/>
          <a:ln/>
        </p:spPr>
        <p:txBody>
          <a:bodyPr wrap="square" rtlCol="0" anchor="ctr"/>
          <a:lstStyle/>
          <a:p>
            <a:pPr marL="0" indent="0" algn="ctr">
              <a:buNone/>
            </a:pPr>
            <a:r>
              <a:rPr lang="en-US" sz="1600" dirty="0">
                <a:solidFill>
                  <a:srgbClr val="8B949E"/>
                </a:solidFill>
                <a:latin typeface="Segoe UI" pitchFamily="34" charset="0"/>
                <a:ea typeface="Segoe UI" pitchFamily="34" charset="-122"/>
                <a:cs typeface="Segoe UI" pitchFamily="34" charset="-120"/>
              </a:rPr>
              <a:t>→</a:t>
            </a:r>
            <a:endParaRPr lang="en-US" sz="1600" dirty="0"/>
          </a:p>
        </p:txBody>
      </p:sp>
      <p:sp>
        <p:nvSpPr>
          <p:cNvPr id="16" name="Shape 14"/>
          <p:cNvSpPr/>
          <p:nvPr/>
        </p:nvSpPr>
        <p:spPr>
          <a:xfrm>
            <a:off x="4902327" y="1645920"/>
            <a:ext cx="1054989"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7" name="Text 15"/>
          <p:cNvSpPr/>
          <p:nvPr/>
        </p:nvSpPr>
        <p:spPr>
          <a:xfrm>
            <a:off x="4902327" y="1645920"/>
            <a:ext cx="1054989"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Vector Index</a:t>
            </a:r>
            <a:endParaRPr lang="en-US" sz="900" dirty="0"/>
          </a:p>
        </p:txBody>
      </p:sp>
      <p:sp>
        <p:nvSpPr>
          <p:cNvPr id="18" name="Text 16"/>
          <p:cNvSpPr/>
          <p:nvPr/>
        </p:nvSpPr>
        <p:spPr>
          <a:xfrm>
            <a:off x="5957316" y="1645920"/>
            <a:ext cx="274320" cy="502920"/>
          </a:xfrm>
          <a:prstGeom prst="rect">
            <a:avLst/>
          </a:prstGeom>
          <a:noFill/>
          <a:ln/>
        </p:spPr>
        <p:txBody>
          <a:bodyPr wrap="square" rtlCol="0" anchor="ctr"/>
          <a:lstStyle/>
          <a:p>
            <a:pPr marL="0" indent="0" algn="ctr">
              <a:buNone/>
            </a:pPr>
            <a:r>
              <a:rPr lang="en-US" sz="1600" dirty="0">
                <a:solidFill>
                  <a:srgbClr val="8B949E"/>
                </a:solidFill>
                <a:latin typeface="Segoe UI" pitchFamily="34" charset="0"/>
                <a:ea typeface="Segoe UI" pitchFamily="34" charset="-122"/>
                <a:cs typeface="Segoe UI" pitchFamily="34" charset="-120"/>
              </a:rPr>
              <a:t>→</a:t>
            </a:r>
            <a:endParaRPr lang="en-US" sz="1600" dirty="0"/>
          </a:p>
        </p:txBody>
      </p:sp>
      <p:sp>
        <p:nvSpPr>
          <p:cNvPr id="19" name="Shape 17"/>
          <p:cNvSpPr/>
          <p:nvPr/>
        </p:nvSpPr>
        <p:spPr>
          <a:xfrm>
            <a:off x="6231636" y="1645920"/>
            <a:ext cx="1054989"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20" name="Text 18"/>
          <p:cNvSpPr/>
          <p:nvPr/>
        </p:nvSpPr>
        <p:spPr>
          <a:xfrm>
            <a:off x="6231636" y="1645920"/>
            <a:ext cx="1054989"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Retriever</a:t>
            </a:r>
            <a:endParaRPr lang="en-US" sz="900" dirty="0"/>
          </a:p>
        </p:txBody>
      </p:sp>
      <p:sp>
        <p:nvSpPr>
          <p:cNvPr id="21" name="Text 19"/>
          <p:cNvSpPr/>
          <p:nvPr/>
        </p:nvSpPr>
        <p:spPr>
          <a:xfrm>
            <a:off x="7286625" y="1645920"/>
            <a:ext cx="274320" cy="502920"/>
          </a:xfrm>
          <a:prstGeom prst="rect">
            <a:avLst/>
          </a:prstGeom>
          <a:noFill/>
          <a:ln/>
        </p:spPr>
        <p:txBody>
          <a:bodyPr wrap="square" rtlCol="0" anchor="ctr"/>
          <a:lstStyle/>
          <a:p>
            <a:pPr marL="0" indent="0" algn="ctr">
              <a:buNone/>
            </a:pPr>
            <a:r>
              <a:rPr lang="en-US" sz="1600" dirty="0">
                <a:solidFill>
                  <a:srgbClr val="8B949E"/>
                </a:solidFill>
                <a:latin typeface="Segoe UI" pitchFamily="34" charset="0"/>
                <a:ea typeface="Segoe UI" pitchFamily="34" charset="-122"/>
                <a:cs typeface="Segoe UI" pitchFamily="34" charset="-120"/>
              </a:rPr>
              <a:t>→</a:t>
            </a:r>
            <a:endParaRPr lang="en-US" sz="1600" dirty="0"/>
          </a:p>
        </p:txBody>
      </p:sp>
      <p:sp>
        <p:nvSpPr>
          <p:cNvPr id="22" name="Shape 20"/>
          <p:cNvSpPr/>
          <p:nvPr/>
        </p:nvSpPr>
        <p:spPr>
          <a:xfrm>
            <a:off x="7560945" y="1645920"/>
            <a:ext cx="1054989"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23" name="Text 21"/>
          <p:cNvSpPr/>
          <p:nvPr/>
        </p:nvSpPr>
        <p:spPr>
          <a:xfrm>
            <a:off x="7560945" y="1645920"/>
            <a:ext cx="1054989"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Context Builder</a:t>
            </a:r>
            <a:endParaRPr lang="en-US" sz="900" dirty="0"/>
          </a:p>
        </p:txBody>
      </p:sp>
      <p:sp>
        <p:nvSpPr>
          <p:cNvPr id="24" name="Text 22"/>
          <p:cNvSpPr/>
          <p:nvPr/>
        </p:nvSpPr>
        <p:spPr>
          <a:xfrm>
            <a:off x="8615934" y="1645920"/>
            <a:ext cx="274320" cy="502920"/>
          </a:xfrm>
          <a:prstGeom prst="rect">
            <a:avLst/>
          </a:prstGeom>
          <a:noFill/>
          <a:ln/>
        </p:spPr>
        <p:txBody>
          <a:bodyPr wrap="square" rtlCol="0" anchor="ctr"/>
          <a:lstStyle/>
          <a:p>
            <a:pPr marL="0" indent="0" algn="ctr">
              <a:buNone/>
            </a:pPr>
            <a:r>
              <a:rPr lang="en-US" sz="1600" dirty="0">
                <a:solidFill>
                  <a:srgbClr val="8B949E"/>
                </a:solidFill>
                <a:latin typeface="Segoe UI" pitchFamily="34" charset="0"/>
                <a:ea typeface="Segoe UI" pitchFamily="34" charset="-122"/>
                <a:cs typeface="Segoe UI" pitchFamily="34" charset="-120"/>
              </a:rPr>
              <a:t>→</a:t>
            </a:r>
            <a:endParaRPr lang="en-US" sz="1600" dirty="0"/>
          </a:p>
        </p:txBody>
      </p:sp>
      <p:sp>
        <p:nvSpPr>
          <p:cNvPr id="25" name="Shape 23"/>
          <p:cNvSpPr/>
          <p:nvPr/>
        </p:nvSpPr>
        <p:spPr>
          <a:xfrm>
            <a:off x="8890254" y="1645920"/>
            <a:ext cx="1054989"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26" name="Text 24"/>
          <p:cNvSpPr/>
          <p:nvPr/>
        </p:nvSpPr>
        <p:spPr>
          <a:xfrm>
            <a:off x="8890254" y="1645920"/>
            <a:ext cx="1054989"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LLM</a:t>
            </a:r>
            <a:endParaRPr lang="en-US" sz="900" dirty="0"/>
          </a:p>
        </p:txBody>
      </p:sp>
      <p:sp>
        <p:nvSpPr>
          <p:cNvPr id="27" name="Text 25"/>
          <p:cNvSpPr/>
          <p:nvPr/>
        </p:nvSpPr>
        <p:spPr>
          <a:xfrm>
            <a:off x="9945243" y="1645920"/>
            <a:ext cx="274320" cy="502920"/>
          </a:xfrm>
          <a:prstGeom prst="rect">
            <a:avLst/>
          </a:prstGeom>
          <a:noFill/>
          <a:ln/>
        </p:spPr>
        <p:txBody>
          <a:bodyPr wrap="square" rtlCol="0" anchor="ctr"/>
          <a:lstStyle/>
          <a:p>
            <a:pPr marL="0" indent="0" algn="ctr">
              <a:buNone/>
            </a:pPr>
            <a:r>
              <a:rPr lang="en-US" sz="1600" dirty="0">
                <a:solidFill>
                  <a:srgbClr val="8B949E"/>
                </a:solidFill>
                <a:latin typeface="Segoe UI" pitchFamily="34" charset="0"/>
                <a:ea typeface="Segoe UI" pitchFamily="34" charset="-122"/>
                <a:cs typeface="Segoe UI" pitchFamily="34" charset="-120"/>
              </a:rPr>
              <a:t>→</a:t>
            </a:r>
            <a:endParaRPr lang="en-US" sz="1600" dirty="0"/>
          </a:p>
        </p:txBody>
      </p:sp>
      <p:sp>
        <p:nvSpPr>
          <p:cNvPr id="28" name="Shape 26"/>
          <p:cNvSpPr/>
          <p:nvPr/>
        </p:nvSpPr>
        <p:spPr>
          <a:xfrm>
            <a:off x="10219563" y="1645920"/>
            <a:ext cx="1054989"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29" name="Text 27"/>
          <p:cNvSpPr/>
          <p:nvPr/>
        </p:nvSpPr>
        <p:spPr>
          <a:xfrm>
            <a:off x="10219563" y="1645920"/>
            <a:ext cx="1054989"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Answer</a:t>
            </a:r>
            <a:endParaRPr lang="en-US" sz="900" dirty="0"/>
          </a:p>
        </p:txBody>
      </p:sp>
      <p:sp>
        <p:nvSpPr>
          <p:cNvPr id="30" name="Text 28"/>
          <p:cNvSpPr/>
          <p:nvPr/>
        </p:nvSpPr>
        <p:spPr>
          <a:xfrm>
            <a:off x="1828800" y="2423160"/>
            <a:ext cx="2743200" cy="320040"/>
          </a:xfrm>
          <a:prstGeom prst="rect">
            <a:avLst/>
          </a:prstGeom>
          <a:noFill/>
          <a:ln/>
        </p:spPr>
        <p:txBody>
          <a:bodyPr wrap="square" rtlCol="0" anchor="ctr"/>
          <a:lstStyle/>
          <a:p>
            <a:pPr marL="0" indent="0" algn="ctr">
              <a:buNone/>
            </a:pPr>
            <a:r>
              <a:rPr lang="en-US" sz="1000" dirty="0">
                <a:solidFill>
                  <a:srgbClr val="D29922"/>
                </a:solidFill>
                <a:latin typeface="Consolas" pitchFamily="34" charset="0"/>
                <a:ea typeface="Consolas" pitchFamily="34" charset="-122"/>
                <a:cs typeface="Consolas" pitchFamily="34" charset="-120"/>
              </a:rPr>
              <a:t>⚠ Where are ACLs enforced?</a:t>
            </a:r>
            <a:endParaRPr lang="en-US" sz="1000" dirty="0"/>
          </a:p>
        </p:txBody>
      </p:sp>
      <p:sp>
        <p:nvSpPr>
          <p:cNvPr id="31" name="Text 29"/>
          <p:cNvSpPr/>
          <p:nvPr/>
        </p:nvSpPr>
        <p:spPr>
          <a:xfrm>
            <a:off x="5029200" y="2423160"/>
            <a:ext cx="2743200" cy="320040"/>
          </a:xfrm>
          <a:prstGeom prst="rect">
            <a:avLst/>
          </a:prstGeom>
          <a:noFill/>
          <a:ln/>
        </p:spPr>
        <p:txBody>
          <a:bodyPr wrap="square" rtlCol="0" anchor="ctr"/>
          <a:lstStyle/>
          <a:p>
            <a:pPr marL="0" indent="0" algn="ctr">
              <a:buNone/>
            </a:pPr>
            <a:r>
              <a:rPr lang="en-US" sz="1000" dirty="0">
                <a:solidFill>
                  <a:srgbClr val="D29922"/>
                </a:solidFill>
                <a:latin typeface="Consolas" pitchFamily="34" charset="0"/>
                <a:ea typeface="Consolas" pitchFamily="34" charset="-122"/>
                <a:cs typeface="Consolas" pitchFamily="34" charset="-120"/>
              </a:rPr>
              <a:t>⚠ Which chunks entered the prompt?</a:t>
            </a:r>
            <a:endParaRPr lang="en-US" sz="1000" dirty="0"/>
          </a:p>
        </p:txBody>
      </p:sp>
      <p:sp>
        <p:nvSpPr>
          <p:cNvPr id="32" name="Text 30"/>
          <p:cNvSpPr/>
          <p:nvPr/>
        </p:nvSpPr>
        <p:spPr>
          <a:xfrm>
            <a:off x="8686800" y="2423160"/>
            <a:ext cx="2743200" cy="320040"/>
          </a:xfrm>
          <a:prstGeom prst="rect">
            <a:avLst/>
          </a:prstGeom>
          <a:noFill/>
          <a:ln/>
        </p:spPr>
        <p:txBody>
          <a:bodyPr wrap="square" rtlCol="0" anchor="ctr"/>
          <a:lstStyle/>
          <a:p>
            <a:pPr marL="0" indent="0" algn="ctr">
              <a:buNone/>
            </a:pPr>
            <a:r>
              <a:rPr lang="en-US" sz="1000" dirty="0">
                <a:solidFill>
                  <a:srgbClr val="D29922"/>
                </a:solidFill>
                <a:latin typeface="Consolas" pitchFamily="34" charset="0"/>
                <a:ea typeface="Consolas" pitchFamily="34" charset="-122"/>
                <a:cs typeface="Consolas" pitchFamily="34" charset="-120"/>
              </a:rPr>
              <a:t>⚠ What gets logged?</a:t>
            </a:r>
            <a:endParaRPr lang="en-US" sz="1000" dirty="0"/>
          </a:p>
        </p:txBody>
      </p:sp>
      <p:sp>
        <p:nvSpPr>
          <p:cNvPr id="33" name="Text 31"/>
          <p:cNvSpPr/>
          <p:nvPr/>
        </p:nvSpPr>
        <p:spPr>
          <a:xfrm>
            <a:off x="914400" y="3017520"/>
            <a:ext cx="10360152" cy="2286000"/>
          </a:xfrm>
          <a:prstGeom prst="rect">
            <a:avLst/>
          </a:prstGeom>
          <a:noFill/>
          <a:ln/>
        </p:spPr>
        <p:txBody>
          <a:bodyPr wrap="square" rtlCol="0" anchor="t"/>
          <a:lstStyle/>
          <a:p>
            <a:pPr marL="342900" indent="-342900">
              <a:lnSpc>
                <a:spcPct val="135000"/>
              </a:lnSpc>
              <a:spcBef>
                <a:spcPts val="400"/>
              </a:spcBef>
              <a:buSzPct val="100000"/>
              <a:buChar char="•"/>
            </a:pPr>
            <a:r>
              <a:rPr lang="en-US" sz="1300" dirty="0">
                <a:solidFill>
                  <a:srgbClr val="E6EDF3"/>
                </a:solidFill>
                <a:latin typeface="Segoe UI" pitchFamily="34" charset="0"/>
                <a:ea typeface="Segoe UI" pitchFamily="34" charset="-122"/>
                <a:cs typeface="Segoe UI" pitchFamily="34" charset="-120"/>
              </a:rPr>
              <a:t>RAG keeps internal knowledge outside the model — retrieved at runtime</a:t>
            </a:r>
            <a:endParaRPr lang="en-US" sz="1300" dirty="0"/>
          </a:p>
          <a:p>
            <a:pPr marL="342900" indent="-342900">
              <a:lnSpc>
                <a:spcPct val="135000"/>
              </a:lnSpc>
              <a:spcBef>
                <a:spcPts val="400"/>
              </a:spcBef>
              <a:buSzPct val="100000"/>
              <a:buChar char="•"/>
            </a:pPr>
            <a:r>
              <a:rPr lang="en-US" sz="1300" dirty="0">
                <a:solidFill>
                  <a:srgbClr val="E6EDF3"/>
                </a:solidFill>
                <a:latin typeface="Segoe UI" pitchFamily="34" charset="0"/>
                <a:ea typeface="Segoe UI" pitchFamily="34" charset="-122"/>
                <a:cs typeface="Segoe UI" pitchFamily="34" charset="-120"/>
              </a:rPr>
              <a:t>Reduces training memorization risk but shifts exposure to the runtime data path</a:t>
            </a:r>
            <a:endParaRPr lang="en-US" sz="1300" dirty="0"/>
          </a:p>
          <a:p>
            <a:pPr marL="342900" indent="-342900">
              <a:lnSpc>
                <a:spcPct val="135000"/>
              </a:lnSpc>
              <a:spcBef>
                <a:spcPts val="400"/>
              </a:spcBef>
              <a:buSzPct val="100000"/>
              <a:buChar char="•"/>
            </a:pPr>
            <a:r>
              <a:rPr lang="en-US" sz="1300" dirty="0">
                <a:solidFill>
                  <a:srgbClr val="E6EDF3"/>
                </a:solidFill>
                <a:latin typeface="Segoe UI" pitchFamily="34" charset="0"/>
                <a:ea typeface="Segoe UI" pitchFamily="34" charset="-122"/>
                <a:cs typeface="Segoe UI" pitchFamily="34" charset="-120"/>
              </a:rPr>
              <a:t>Sensitive data moves into: ingestion, indexes, retrieval, context, prompts, logs</a:t>
            </a:r>
            <a:endParaRPr lang="en-US" sz="1300" dirty="0"/>
          </a:p>
          <a:p>
            <a:pPr marL="342900" indent="-342900">
              <a:lnSpc>
                <a:spcPct val="135000"/>
              </a:lnSpc>
              <a:spcBef>
                <a:spcPts val="400"/>
              </a:spcBef>
              <a:buSzPct val="100000"/>
              <a:buChar char="•"/>
            </a:pPr>
            <a:r>
              <a:rPr lang="en-US" sz="1300" b="1" dirty="0">
                <a:solidFill>
                  <a:srgbClr val="58A6FF"/>
                </a:solidFill>
                <a:latin typeface="Segoe UI" pitchFamily="34" charset="0"/>
                <a:ea typeface="Segoe UI" pitchFamily="34" charset="-122"/>
                <a:cs typeface="Segoe UI" pitchFamily="34" charset="-120"/>
              </a:rPr>
              <a:t>The sensitive data didn't disappear — it moved</a:t>
            </a:r>
            <a:endParaRPr lang="en-US" sz="1300" dirty="0"/>
          </a:p>
        </p:txBody>
      </p:sp>
      <p:sp>
        <p:nvSpPr>
          <p:cNvPr id="34" name="Shape 32"/>
          <p:cNvSpPr/>
          <p:nvPr/>
        </p:nvSpPr>
        <p:spPr>
          <a:xfrm>
            <a:off x="731520" y="5669280"/>
            <a:ext cx="54864" cy="411480"/>
          </a:xfrm>
          <a:prstGeom prst="rect">
            <a:avLst/>
          </a:prstGeom>
          <a:solidFill>
            <a:srgbClr val="3FB950"/>
          </a:solidFill>
          <a:ln/>
        </p:spPr>
        <p:txBody>
          <a:bodyPr/>
          <a:lstStyle/>
          <a:p>
            <a:endParaRPr lang="en-GB"/>
          </a:p>
        </p:txBody>
      </p:sp>
      <p:sp>
        <p:nvSpPr>
          <p:cNvPr id="35" name="Text 33"/>
          <p:cNvSpPr/>
          <p:nvPr/>
        </p:nvSpPr>
        <p:spPr>
          <a:xfrm>
            <a:off x="960120" y="5669280"/>
            <a:ext cx="10497312" cy="411480"/>
          </a:xfrm>
          <a:prstGeom prst="rect">
            <a:avLst/>
          </a:prstGeom>
          <a:noFill/>
          <a:ln/>
        </p:spPr>
        <p:txBody>
          <a:bodyPr wrap="square" rtlCol="0" anchor="ctr"/>
          <a:lstStyle/>
          <a:p>
            <a:pPr marL="0" indent="0">
              <a:buNone/>
            </a:pPr>
            <a:r>
              <a:rPr lang="en-US" sz="1400" b="1" i="1" dirty="0">
                <a:solidFill>
                  <a:srgbClr val="3FB950"/>
                </a:solidFill>
                <a:latin typeface="Segoe UI" pitchFamily="34" charset="0"/>
                <a:ea typeface="Segoe UI" pitchFamily="34" charset="-122"/>
                <a:cs typeface="Segoe UI" pitchFamily="34" charset="-120"/>
              </a:rPr>
              <a:t>RAG shifts operational exposure into ingestion, indexing, retrieval, context assembly, and telemetry.</a:t>
            </a:r>
            <a:endParaRPr lang="en-US" sz="1400" dirty="0"/>
          </a:p>
        </p:txBody>
      </p:sp>
      <p:sp>
        <p:nvSpPr>
          <p:cNvPr id="36" name="Text 34"/>
          <p:cNvSpPr/>
          <p:nvPr/>
        </p:nvSpPr>
        <p:spPr>
          <a:xfrm>
            <a:off x="8686800" y="6263640"/>
            <a:ext cx="2926080" cy="228600"/>
          </a:xfrm>
          <a:prstGeom prst="rect">
            <a:avLst/>
          </a:prstGeom>
          <a:noFill/>
          <a:ln/>
        </p:spPr>
        <p:txBody>
          <a:bodyPr wrap="square"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OWASP LLM08:2025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274320"/>
          </a:xfrm>
          <a:prstGeom prst="rect">
            <a:avLst/>
          </a:prstGeom>
          <a:noFill/>
          <a:ln/>
        </p:spPr>
        <p:txBody>
          <a:bodyPr wrap="square" rtlCol="0" anchor="ctr"/>
          <a:lstStyle/>
          <a:p>
            <a:pPr marL="0" indent="0">
              <a:buNone/>
            </a:pPr>
            <a:r>
              <a:rPr lang="en-US" sz="1100" dirty="0">
                <a:solidFill>
                  <a:srgbClr val="8B949E"/>
                </a:solidFill>
                <a:latin typeface="Consolas" pitchFamily="34" charset="0"/>
                <a:ea typeface="Consolas" pitchFamily="34" charset="-122"/>
                <a:cs typeface="Consolas" pitchFamily="34" charset="-120"/>
              </a:rPr>
              <a:t>Stage 2 · RAG</a:t>
            </a:r>
            <a:endParaRPr lang="en-US" sz="1100" dirty="0"/>
          </a:p>
        </p:txBody>
      </p:sp>
      <p:sp>
        <p:nvSpPr>
          <p:cNvPr id="3" name="Text 1"/>
          <p:cNvSpPr/>
          <p:nvPr/>
        </p:nvSpPr>
        <p:spPr>
          <a:xfrm>
            <a:off x="548640" y="594360"/>
            <a:ext cx="11091672" cy="502920"/>
          </a:xfrm>
          <a:prstGeom prst="rect">
            <a:avLst/>
          </a:prstGeom>
          <a:noFill/>
          <a:ln/>
        </p:spPr>
        <p:txBody>
          <a:bodyPr wrap="square" rtlCol="0" anchor="ctr"/>
          <a:lstStyle/>
          <a:p>
            <a:pPr marL="0" indent="0">
              <a:buNone/>
            </a:pPr>
            <a:r>
              <a:rPr lang="en-US" sz="2400" dirty="0">
                <a:solidFill>
                  <a:srgbClr val="8B949E"/>
                </a:solidFill>
                <a:latin typeface="Consolas" pitchFamily="34" charset="0"/>
                <a:ea typeface="Consolas" pitchFamily="34" charset="-122"/>
                <a:cs typeface="Consolas" pitchFamily="34" charset="-120"/>
              </a:rPr>
              <a:t>&gt; </a:t>
            </a:r>
            <a:r>
              <a:rPr lang="en-US" sz="2200" b="1" dirty="0">
                <a:solidFill>
                  <a:srgbClr val="58A6FF"/>
                </a:solidFill>
                <a:latin typeface="Consolas" pitchFamily="34" charset="0"/>
                <a:ea typeface="Consolas" pitchFamily="34" charset="-122"/>
                <a:cs typeface="Consolas" pitchFamily="34" charset="-120"/>
              </a:rPr>
              <a:t>Why use RAG?</a:t>
            </a:r>
            <a:endParaRPr lang="en-US" sz="2400" dirty="0"/>
          </a:p>
        </p:txBody>
      </p:sp>
      <p:sp>
        <p:nvSpPr>
          <p:cNvPr id="4" name="Shape 2"/>
          <p:cNvSpPr/>
          <p:nvPr/>
        </p:nvSpPr>
        <p:spPr>
          <a:xfrm>
            <a:off x="548640" y="1143000"/>
            <a:ext cx="11091672" cy="13716"/>
          </a:xfrm>
          <a:prstGeom prst="rect">
            <a:avLst/>
          </a:prstGeom>
          <a:solidFill>
            <a:srgbClr val="30363D"/>
          </a:solidFill>
          <a:ln/>
        </p:spPr>
        <p:txBody>
          <a:bodyPr/>
          <a:lstStyle/>
          <a:p>
            <a:endParaRPr lang="en-GB"/>
          </a:p>
        </p:txBody>
      </p:sp>
      <p:sp>
        <p:nvSpPr>
          <p:cNvPr id="5" name="Text 3"/>
          <p:cNvSpPr/>
          <p:nvPr/>
        </p:nvSpPr>
        <p:spPr>
          <a:xfrm>
            <a:off x="10972800" y="6446520"/>
            <a:ext cx="731520" cy="274320"/>
          </a:xfrm>
          <a:prstGeom prst="rect">
            <a:avLst/>
          </a:prstGeom>
          <a:noFill/>
          <a:ln/>
        </p:spPr>
        <p:txBody>
          <a:bodyPr wrap="square" rtlCol="0" anchor="ctr"/>
          <a:lstStyle/>
          <a:p>
            <a:pPr marL="0" indent="0" algn="r">
              <a:buNone/>
            </a:pPr>
            <a:r>
              <a:rPr lang="en-US" sz="1000" dirty="0">
                <a:solidFill>
                  <a:srgbClr val="8B949E"/>
                </a:solidFill>
                <a:latin typeface="Consolas" pitchFamily="34" charset="0"/>
                <a:ea typeface="Consolas" pitchFamily="34" charset="-122"/>
                <a:cs typeface="Consolas" pitchFamily="34" charset="-120"/>
              </a:rPr>
              <a:t>13</a:t>
            </a:r>
            <a:endParaRPr lang="en-US" sz="1000" dirty="0"/>
          </a:p>
        </p:txBody>
      </p:sp>
      <p:sp>
        <p:nvSpPr>
          <p:cNvPr id="6" name="Shape 4"/>
          <p:cNvSpPr/>
          <p:nvPr/>
        </p:nvSpPr>
        <p:spPr>
          <a:xfrm>
            <a:off x="548640" y="1325880"/>
            <a:ext cx="11091672" cy="5074920"/>
          </a:xfrm>
          <a:prstGeom prst="roundRect">
            <a:avLst>
              <a:gd name="adj" fmla="val 2162"/>
            </a:avLst>
          </a:prstGeom>
          <a:solidFill>
            <a:srgbClr val="161B22"/>
          </a:solidFill>
          <a:ln w="9525">
            <a:solidFill>
              <a:srgbClr val="30363D"/>
            </a:solidFill>
            <a:prstDash val="solid"/>
          </a:ln>
        </p:spPr>
        <p:txBody>
          <a:bodyPr/>
          <a:lstStyle/>
          <a:p>
            <a:endParaRPr lang="en-GB"/>
          </a:p>
        </p:txBody>
      </p:sp>
      <p:sp>
        <p:nvSpPr>
          <p:cNvPr id="7" name="Text 5"/>
          <p:cNvSpPr/>
          <p:nvPr/>
        </p:nvSpPr>
        <p:spPr>
          <a:xfrm>
            <a:off x="914400" y="1554480"/>
            <a:ext cx="4814316" cy="365760"/>
          </a:xfrm>
          <a:prstGeom prst="rect">
            <a:avLst/>
          </a:prstGeom>
          <a:noFill/>
          <a:ln/>
        </p:spPr>
        <p:txBody>
          <a:bodyPr wrap="square" rtlCol="0" anchor="ctr"/>
          <a:lstStyle/>
          <a:p>
            <a:pPr marL="0" indent="0">
              <a:buNone/>
            </a:pPr>
            <a:r>
              <a:rPr lang="en-US" sz="1400" b="1" dirty="0">
                <a:solidFill>
                  <a:srgbClr val="3FB950"/>
                </a:solidFill>
                <a:latin typeface="Consolas" pitchFamily="34" charset="0"/>
                <a:ea typeface="Consolas" pitchFamily="34" charset="-122"/>
                <a:cs typeface="Consolas" pitchFamily="34" charset="-120"/>
              </a:rPr>
              <a:t>Product promise</a:t>
            </a:r>
            <a:endParaRPr lang="en-US" sz="1400" dirty="0"/>
          </a:p>
        </p:txBody>
      </p:sp>
      <p:sp>
        <p:nvSpPr>
          <p:cNvPr id="8" name="Text 6"/>
          <p:cNvSpPr/>
          <p:nvPr/>
        </p:nvSpPr>
        <p:spPr>
          <a:xfrm>
            <a:off x="914400" y="2011680"/>
            <a:ext cx="4814316" cy="3200400"/>
          </a:xfrm>
          <a:prstGeom prst="rect">
            <a:avLst/>
          </a:prstGeom>
          <a:noFill/>
          <a:ln/>
        </p:spPr>
        <p:txBody>
          <a:bodyPr wrap="square" rtlCol="0" anchor="t"/>
          <a:lstStyle/>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Current knowledge without retraining</a:t>
            </a:r>
            <a:endParaRPr lang="en-US" sz="1200" dirty="0"/>
          </a:p>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Answers can cite source material</a:t>
            </a:r>
            <a:endParaRPr lang="en-US" sz="1200" dirty="0"/>
          </a:p>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Documents updatable independently</a:t>
            </a:r>
            <a:endParaRPr lang="en-US" sz="1200" dirty="0"/>
          </a:p>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Different teams own different KBs</a:t>
            </a:r>
            <a:endParaRPr lang="en-US" sz="1200" dirty="0"/>
          </a:p>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Source ACLs can be preserved</a:t>
            </a:r>
            <a:endParaRPr lang="en-US" sz="1200" dirty="0"/>
          </a:p>
        </p:txBody>
      </p:sp>
      <p:sp>
        <p:nvSpPr>
          <p:cNvPr id="9" name="Text 7"/>
          <p:cNvSpPr/>
          <p:nvPr/>
        </p:nvSpPr>
        <p:spPr>
          <a:xfrm>
            <a:off x="6460236" y="1554480"/>
            <a:ext cx="4814316" cy="365760"/>
          </a:xfrm>
          <a:prstGeom prst="rect">
            <a:avLst/>
          </a:prstGeom>
          <a:noFill/>
          <a:ln/>
        </p:spPr>
        <p:txBody>
          <a:bodyPr wrap="square" rtlCol="0" anchor="ctr"/>
          <a:lstStyle/>
          <a:p>
            <a:pPr marL="0" indent="0">
              <a:buNone/>
            </a:pPr>
            <a:r>
              <a:rPr lang="en-US" sz="1400" b="1" dirty="0">
                <a:solidFill>
                  <a:srgbClr val="F85149"/>
                </a:solidFill>
                <a:latin typeface="Consolas" pitchFamily="34" charset="0"/>
                <a:ea typeface="Consolas" pitchFamily="34" charset="-122"/>
                <a:cs typeface="Consolas" pitchFamily="34" charset="-120"/>
              </a:rPr>
              <a:t>Security assumption to challenge</a:t>
            </a:r>
            <a:endParaRPr lang="en-US" sz="1400" dirty="0"/>
          </a:p>
        </p:txBody>
      </p:sp>
      <p:sp>
        <p:nvSpPr>
          <p:cNvPr id="10" name="Text 8"/>
          <p:cNvSpPr/>
          <p:nvPr/>
        </p:nvSpPr>
        <p:spPr>
          <a:xfrm>
            <a:off x="6460236" y="2011680"/>
            <a:ext cx="4814316" cy="3200400"/>
          </a:xfrm>
          <a:prstGeom prst="rect">
            <a:avLst/>
          </a:prstGeom>
          <a:noFill/>
          <a:ln/>
        </p:spPr>
        <p:txBody>
          <a:bodyPr wrap="square" rtlCol="0" anchor="t"/>
          <a:lstStyle/>
          <a:p>
            <a:pPr marL="342900" indent="-342900">
              <a:lnSpc>
                <a:spcPct val="135000"/>
              </a:lnSpc>
              <a:spcBef>
                <a:spcPts val="400"/>
              </a:spcBef>
              <a:buSzPct val="100000"/>
              <a:buChar char="•"/>
            </a:pPr>
            <a:r>
              <a:rPr lang="en-US" sz="1200" dirty="0">
                <a:solidFill>
                  <a:srgbClr val="F85149"/>
                </a:solidFill>
                <a:latin typeface="Segoe UI" pitchFamily="34" charset="0"/>
                <a:ea typeface="Segoe UI" pitchFamily="34" charset="-122"/>
                <a:cs typeface="Segoe UI" pitchFamily="34" charset="-120"/>
              </a:rPr>
              <a:t>Every retrieved chunk is authorized for this user</a:t>
            </a:r>
            <a:endParaRPr lang="en-US" sz="1200" dirty="0"/>
          </a:p>
          <a:p>
            <a:pPr marL="342900" indent="-342900">
              <a:lnSpc>
                <a:spcPct val="135000"/>
              </a:lnSpc>
              <a:spcBef>
                <a:spcPts val="400"/>
              </a:spcBef>
              <a:buSzPct val="100000"/>
              <a:buChar char="•"/>
            </a:pPr>
            <a:r>
              <a:rPr lang="en-US" sz="1200" dirty="0">
                <a:solidFill>
                  <a:srgbClr val="F85149"/>
                </a:solidFill>
                <a:latin typeface="Segoe UI" pitchFamily="34" charset="0"/>
                <a:ea typeface="Segoe UI" pitchFamily="34" charset="-122"/>
                <a:cs typeface="Segoe UI" pitchFamily="34" charset="-120"/>
              </a:rPr>
              <a:t>Tenant boundaries survive ingestion</a:t>
            </a:r>
            <a:endParaRPr lang="en-US" sz="1200" dirty="0"/>
          </a:p>
          <a:p>
            <a:pPr marL="342900" indent="-342900">
              <a:lnSpc>
                <a:spcPct val="135000"/>
              </a:lnSpc>
              <a:spcBef>
                <a:spcPts val="400"/>
              </a:spcBef>
              <a:buSzPct val="100000"/>
              <a:buChar char="•"/>
            </a:pPr>
            <a:r>
              <a:rPr lang="en-US" sz="1200" b="1" dirty="0">
                <a:solidFill>
                  <a:srgbClr val="F85149"/>
                </a:solidFill>
                <a:latin typeface="Segoe UI" pitchFamily="34" charset="0"/>
                <a:ea typeface="Segoe UI" pitchFamily="34" charset="-122"/>
                <a:cs typeface="Segoe UI" pitchFamily="34" charset="-120"/>
              </a:rPr>
              <a:t>Relevance ≠ authorization</a:t>
            </a:r>
            <a:endParaRPr lang="en-US" sz="1200" dirty="0"/>
          </a:p>
          <a:p>
            <a:pPr marL="342900" indent="-342900">
              <a:lnSpc>
                <a:spcPct val="135000"/>
              </a:lnSpc>
              <a:spcBef>
                <a:spcPts val="400"/>
              </a:spcBef>
              <a:buSzPct val="100000"/>
              <a:buChar char="•"/>
            </a:pPr>
            <a:r>
              <a:rPr lang="en-US" sz="1200" dirty="0">
                <a:solidFill>
                  <a:srgbClr val="F85149"/>
                </a:solidFill>
                <a:latin typeface="Segoe UI" pitchFamily="34" charset="0"/>
                <a:ea typeface="Segoe UI" pitchFamily="34" charset="-122"/>
                <a:cs typeface="Segoe UI" pitchFamily="34" charset="-120"/>
              </a:rPr>
              <a:t>Permission filters apply before prompt assembly</a:t>
            </a:r>
            <a:endParaRPr lang="en-US" sz="1200" dirty="0"/>
          </a:p>
          <a:p>
            <a:pPr marL="342900" indent="-342900">
              <a:lnSpc>
                <a:spcPct val="135000"/>
              </a:lnSpc>
              <a:spcBef>
                <a:spcPts val="400"/>
              </a:spcBef>
              <a:buSzPct val="100000"/>
              <a:buChar char="•"/>
            </a:pPr>
            <a:r>
              <a:rPr lang="en-US" sz="1200" dirty="0">
                <a:solidFill>
                  <a:srgbClr val="F85149"/>
                </a:solidFill>
                <a:latin typeface="Segoe UI" pitchFamily="34" charset="0"/>
                <a:ea typeface="Segoe UI" pitchFamily="34" charset="-122"/>
                <a:cs typeface="Segoe UI" pitchFamily="34" charset="-120"/>
              </a:rPr>
              <a:t>Logs don't become a second knowledge base</a:t>
            </a:r>
            <a:endParaRPr lang="en-US" sz="1200" dirty="0"/>
          </a:p>
        </p:txBody>
      </p:sp>
      <p:sp>
        <p:nvSpPr>
          <p:cNvPr id="11" name="Shape 9"/>
          <p:cNvSpPr/>
          <p:nvPr/>
        </p:nvSpPr>
        <p:spPr>
          <a:xfrm>
            <a:off x="731520" y="5669280"/>
            <a:ext cx="54864" cy="411480"/>
          </a:xfrm>
          <a:prstGeom prst="rect">
            <a:avLst/>
          </a:prstGeom>
          <a:solidFill>
            <a:srgbClr val="3FB950"/>
          </a:solidFill>
          <a:ln/>
        </p:spPr>
        <p:txBody>
          <a:bodyPr/>
          <a:lstStyle/>
          <a:p>
            <a:endParaRPr lang="en-GB"/>
          </a:p>
        </p:txBody>
      </p:sp>
      <p:sp>
        <p:nvSpPr>
          <p:cNvPr id="12" name="Text 10"/>
          <p:cNvSpPr/>
          <p:nvPr/>
        </p:nvSpPr>
        <p:spPr>
          <a:xfrm>
            <a:off x="960120" y="5669280"/>
            <a:ext cx="10497312" cy="411480"/>
          </a:xfrm>
          <a:prstGeom prst="rect">
            <a:avLst/>
          </a:prstGeom>
          <a:noFill/>
          <a:ln/>
        </p:spPr>
        <p:txBody>
          <a:bodyPr wrap="square" rtlCol="0" anchor="ctr"/>
          <a:lstStyle/>
          <a:p>
            <a:pPr marL="0" indent="0">
              <a:buNone/>
            </a:pPr>
            <a:r>
              <a:rPr lang="en-US" sz="1400" b="1" i="1" dirty="0">
                <a:solidFill>
                  <a:srgbClr val="3FB950"/>
                </a:solidFill>
                <a:latin typeface="Segoe UI" pitchFamily="34" charset="0"/>
                <a:ea typeface="Segoe UI" pitchFamily="34" charset="-122"/>
                <a:cs typeface="Segoe UI" pitchFamily="34" charset="-120"/>
              </a:rPr>
              <a:t>RAG can reduce memorization risk, but it does not automatically enforce least privilege.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274320"/>
          </a:xfrm>
          <a:prstGeom prst="rect">
            <a:avLst/>
          </a:prstGeom>
          <a:noFill/>
          <a:ln/>
        </p:spPr>
        <p:txBody>
          <a:bodyPr wrap="square" rtlCol="0" anchor="ctr"/>
          <a:lstStyle/>
          <a:p>
            <a:pPr marL="0" indent="0">
              <a:buNone/>
            </a:pPr>
            <a:r>
              <a:rPr lang="en-US" sz="1100" dirty="0">
                <a:solidFill>
                  <a:srgbClr val="8B949E"/>
                </a:solidFill>
                <a:latin typeface="Consolas" pitchFamily="34" charset="0"/>
                <a:ea typeface="Consolas" pitchFamily="34" charset="-122"/>
                <a:cs typeface="Consolas" pitchFamily="34" charset="-120"/>
              </a:rPr>
              <a:t>Stage 2 · Data Map</a:t>
            </a:r>
            <a:endParaRPr lang="en-US" sz="1100" dirty="0"/>
          </a:p>
        </p:txBody>
      </p:sp>
      <p:sp>
        <p:nvSpPr>
          <p:cNvPr id="3" name="Text 1"/>
          <p:cNvSpPr/>
          <p:nvPr/>
        </p:nvSpPr>
        <p:spPr>
          <a:xfrm>
            <a:off x="548640" y="594360"/>
            <a:ext cx="11091672" cy="502920"/>
          </a:xfrm>
          <a:prstGeom prst="rect">
            <a:avLst/>
          </a:prstGeom>
          <a:noFill/>
          <a:ln/>
        </p:spPr>
        <p:txBody>
          <a:bodyPr wrap="square" rtlCol="0" anchor="ctr"/>
          <a:lstStyle/>
          <a:p>
            <a:pPr marL="0" indent="0">
              <a:buNone/>
            </a:pPr>
            <a:r>
              <a:rPr lang="en-US" sz="2400" dirty="0">
                <a:solidFill>
                  <a:srgbClr val="8B949E"/>
                </a:solidFill>
                <a:latin typeface="Consolas" pitchFamily="34" charset="0"/>
                <a:ea typeface="Consolas" pitchFamily="34" charset="-122"/>
                <a:cs typeface="Consolas" pitchFamily="34" charset="-120"/>
              </a:rPr>
              <a:t>&gt; </a:t>
            </a:r>
            <a:r>
              <a:rPr lang="en-US" sz="2200" b="1" dirty="0">
                <a:solidFill>
                  <a:srgbClr val="58A6FF"/>
                </a:solidFill>
                <a:latin typeface="Consolas" pitchFamily="34" charset="0"/>
                <a:ea typeface="Consolas" pitchFamily="34" charset="-122"/>
                <a:cs typeface="Consolas" pitchFamily="34" charset="-120"/>
              </a:rPr>
              <a:t>Where sensitive data lives?</a:t>
            </a:r>
            <a:endParaRPr lang="en-US" sz="2400" dirty="0"/>
          </a:p>
        </p:txBody>
      </p:sp>
      <p:sp>
        <p:nvSpPr>
          <p:cNvPr id="4" name="Shape 2"/>
          <p:cNvSpPr/>
          <p:nvPr/>
        </p:nvSpPr>
        <p:spPr>
          <a:xfrm>
            <a:off x="548640" y="1143000"/>
            <a:ext cx="11091672" cy="13716"/>
          </a:xfrm>
          <a:prstGeom prst="rect">
            <a:avLst/>
          </a:prstGeom>
          <a:solidFill>
            <a:srgbClr val="30363D"/>
          </a:solidFill>
          <a:ln/>
        </p:spPr>
        <p:txBody>
          <a:bodyPr/>
          <a:lstStyle/>
          <a:p>
            <a:endParaRPr lang="en-GB"/>
          </a:p>
        </p:txBody>
      </p:sp>
      <p:sp>
        <p:nvSpPr>
          <p:cNvPr id="5" name="Text 3"/>
          <p:cNvSpPr/>
          <p:nvPr/>
        </p:nvSpPr>
        <p:spPr>
          <a:xfrm>
            <a:off x="10972800" y="6446520"/>
            <a:ext cx="731520" cy="274320"/>
          </a:xfrm>
          <a:prstGeom prst="rect">
            <a:avLst/>
          </a:prstGeom>
          <a:noFill/>
          <a:ln/>
        </p:spPr>
        <p:txBody>
          <a:bodyPr wrap="square" rtlCol="0" anchor="ctr"/>
          <a:lstStyle/>
          <a:p>
            <a:pPr marL="0" indent="0" algn="r">
              <a:buNone/>
            </a:pPr>
            <a:r>
              <a:rPr lang="en-US" sz="1000" dirty="0">
                <a:solidFill>
                  <a:srgbClr val="8B949E"/>
                </a:solidFill>
                <a:latin typeface="Consolas" pitchFamily="34" charset="0"/>
                <a:ea typeface="Consolas" pitchFamily="34" charset="-122"/>
                <a:cs typeface="Consolas" pitchFamily="34" charset="-120"/>
              </a:rPr>
              <a:t>14</a:t>
            </a:r>
            <a:endParaRPr lang="en-US" sz="1000" dirty="0"/>
          </a:p>
        </p:txBody>
      </p:sp>
      <p:sp>
        <p:nvSpPr>
          <p:cNvPr id="6" name="Shape 4"/>
          <p:cNvSpPr/>
          <p:nvPr/>
        </p:nvSpPr>
        <p:spPr>
          <a:xfrm>
            <a:off x="548640" y="1325880"/>
            <a:ext cx="11091672" cy="5074920"/>
          </a:xfrm>
          <a:prstGeom prst="roundRect">
            <a:avLst>
              <a:gd name="adj" fmla="val 2162"/>
            </a:avLst>
          </a:prstGeom>
          <a:solidFill>
            <a:srgbClr val="161B22"/>
          </a:solidFill>
          <a:ln w="9525">
            <a:solidFill>
              <a:srgbClr val="30363D"/>
            </a:solidFill>
            <a:prstDash val="solid"/>
          </a:ln>
        </p:spPr>
        <p:txBody>
          <a:bodyPr/>
          <a:lstStyle/>
          <a:p>
            <a:endParaRPr lang="en-GB"/>
          </a:p>
        </p:txBody>
      </p:sp>
      <p:sp>
        <p:nvSpPr>
          <p:cNvPr id="7" name="Shape 5"/>
          <p:cNvSpPr/>
          <p:nvPr/>
        </p:nvSpPr>
        <p:spPr>
          <a:xfrm>
            <a:off x="1051560" y="1645920"/>
            <a:ext cx="1828800" cy="2560320"/>
          </a:xfrm>
          <a:prstGeom prst="roundRect">
            <a:avLst>
              <a:gd name="adj" fmla="val 4000"/>
            </a:avLst>
          </a:prstGeom>
          <a:solidFill>
            <a:srgbClr val="161B22"/>
          </a:solidFill>
          <a:ln w="12700">
            <a:solidFill>
              <a:srgbClr val="58A6FF"/>
            </a:solidFill>
            <a:prstDash val="solid"/>
          </a:ln>
        </p:spPr>
        <p:txBody>
          <a:bodyPr/>
          <a:lstStyle/>
          <a:p>
            <a:endParaRPr lang="en-GB"/>
          </a:p>
        </p:txBody>
      </p:sp>
      <p:sp>
        <p:nvSpPr>
          <p:cNvPr id="8" name="Text 6"/>
          <p:cNvSpPr/>
          <p:nvPr/>
        </p:nvSpPr>
        <p:spPr>
          <a:xfrm>
            <a:off x="1051560" y="1783080"/>
            <a:ext cx="1828800" cy="457200"/>
          </a:xfrm>
          <a:prstGeom prst="rect">
            <a:avLst/>
          </a:prstGeom>
          <a:noFill/>
          <a:ln/>
        </p:spPr>
        <p:txBody>
          <a:bodyPr wrap="square" rtlCol="0" anchor="ctr"/>
          <a:lstStyle/>
          <a:p>
            <a:pPr marL="0" indent="0" algn="ctr">
              <a:buNone/>
            </a:pPr>
            <a:r>
              <a:rPr lang="en-US" sz="1200" b="1" dirty="0">
                <a:solidFill>
                  <a:srgbClr val="58A6FF"/>
                </a:solidFill>
                <a:latin typeface="Consolas" pitchFamily="34" charset="0"/>
                <a:ea typeface="Consolas" pitchFamily="34" charset="-122"/>
                <a:cs typeface="Consolas" pitchFamily="34" charset="-120"/>
              </a:rPr>
              <a:t>Source Systems</a:t>
            </a:r>
            <a:endParaRPr lang="en-US" sz="1200" dirty="0"/>
          </a:p>
        </p:txBody>
      </p:sp>
      <p:sp>
        <p:nvSpPr>
          <p:cNvPr id="9" name="Text 7"/>
          <p:cNvSpPr/>
          <p:nvPr/>
        </p:nvSpPr>
        <p:spPr>
          <a:xfrm>
            <a:off x="1161288" y="2331720"/>
            <a:ext cx="1609344" cy="1645920"/>
          </a:xfrm>
          <a:prstGeom prst="rect">
            <a:avLst/>
          </a:prstGeom>
          <a:noFill/>
          <a:ln/>
        </p:spPr>
        <p:txBody>
          <a:bodyPr wrap="square" rtlCol="0" anchor="t"/>
          <a:lstStyle/>
          <a:p>
            <a:pPr marL="0" indent="0" algn="ctr">
              <a:buNone/>
            </a:pPr>
            <a:r>
              <a:rPr lang="en-US" sz="1100" dirty="0">
                <a:solidFill>
                  <a:srgbClr val="8B949E"/>
                </a:solidFill>
                <a:latin typeface="Segoe UI" pitchFamily="34" charset="0"/>
                <a:ea typeface="Segoe UI" pitchFamily="34" charset="-122"/>
                <a:cs typeface="Segoe UI" pitchFamily="34" charset="-120"/>
              </a:rPr>
              <a:t>SharePoint, Confluence,</a:t>
            </a:r>
            <a:endParaRPr lang="en-US" sz="1100" dirty="0"/>
          </a:p>
          <a:p>
            <a:pPr marL="0" indent="0" algn="ctr">
              <a:buNone/>
            </a:pPr>
            <a:r>
              <a:rPr lang="en-US" sz="1100" dirty="0">
                <a:solidFill>
                  <a:srgbClr val="8B949E"/>
                </a:solidFill>
                <a:latin typeface="Segoe UI" pitchFamily="34" charset="0"/>
                <a:ea typeface="Segoe UI" pitchFamily="34" charset="-122"/>
                <a:cs typeface="Segoe UI" pitchFamily="34" charset="-120"/>
              </a:rPr>
              <a:t>tickets, CRM, policy repos</a:t>
            </a:r>
            <a:endParaRPr lang="en-US" sz="1100" dirty="0"/>
          </a:p>
        </p:txBody>
      </p:sp>
      <p:sp>
        <p:nvSpPr>
          <p:cNvPr id="10" name="Text 8"/>
          <p:cNvSpPr/>
          <p:nvPr/>
        </p:nvSpPr>
        <p:spPr>
          <a:xfrm>
            <a:off x="2880360" y="2560320"/>
            <a:ext cx="256032" cy="457200"/>
          </a:xfrm>
          <a:prstGeom prst="rect">
            <a:avLst/>
          </a:prstGeom>
          <a:noFill/>
          <a:ln/>
        </p:spPr>
        <p:txBody>
          <a:bodyPr wrap="square" rtlCol="0" anchor="ctr"/>
          <a:lstStyle/>
          <a:p>
            <a:pPr marL="0" indent="0" algn="ctr">
              <a:buNone/>
            </a:pPr>
            <a:r>
              <a:rPr lang="en-US" sz="1400" dirty="0">
                <a:solidFill>
                  <a:srgbClr val="8B949E"/>
                </a:solidFill>
                <a:latin typeface="Segoe UI" pitchFamily="34" charset="0"/>
                <a:ea typeface="Segoe UI" pitchFamily="34" charset="-122"/>
                <a:cs typeface="Segoe UI" pitchFamily="34" charset="-120"/>
              </a:rPr>
              <a:t>→</a:t>
            </a:r>
            <a:endParaRPr lang="en-US" sz="1400" dirty="0"/>
          </a:p>
        </p:txBody>
      </p:sp>
      <p:sp>
        <p:nvSpPr>
          <p:cNvPr id="11" name="Shape 9"/>
          <p:cNvSpPr/>
          <p:nvPr/>
        </p:nvSpPr>
        <p:spPr>
          <a:xfrm>
            <a:off x="3136392" y="1645920"/>
            <a:ext cx="1828800" cy="2560320"/>
          </a:xfrm>
          <a:prstGeom prst="roundRect">
            <a:avLst>
              <a:gd name="adj" fmla="val 4000"/>
            </a:avLst>
          </a:prstGeom>
          <a:solidFill>
            <a:srgbClr val="161B22"/>
          </a:solidFill>
          <a:ln w="12700">
            <a:solidFill>
              <a:srgbClr val="58A6FF"/>
            </a:solidFill>
            <a:prstDash val="solid"/>
          </a:ln>
        </p:spPr>
        <p:txBody>
          <a:bodyPr/>
          <a:lstStyle/>
          <a:p>
            <a:endParaRPr lang="en-GB"/>
          </a:p>
        </p:txBody>
      </p:sp>
      <p:sp>
        <p:nvSpPr>
          <p:cNvPr id="12" name="Text 10"/>
          <p:cNvSpPr/>
          <p:nvPr/>
        </p:nvSpPr>
        <p:spPr>
          <a:xfrm>
            <a:off x="3136392" y="1783080"/>
            <a:ext cx="1828800" cy="457200"/>
          </a:xfrm>
          <a:prstGeom prst="rect">
            <a:avLst/>
          </a:prstGeom>
          <a:noFill/>
          <a:ln/>
        </p:spPr>
        <p:txBody>
          <a:bodyPr wrap="square" rtlCol="0" anchor="ctr"/>
          <a:lstStyle/>
          <a:p>
            <a:pPr marL="0" indent="0" algn="ctr">
              <a:buNone/>
            </a:pPr>
            <a:r>
              <a:rPr lang="en-US" sz="1200" b="1" dirty="0">
                <a:solidFill>
                  <a:srgbClr val="58A6FF"/>
                </a:solidFill>
                <a:latin typeface="Consolas" pitchFamily="34" charset="0"/>
                <a:ea typeface="Consolas" pitchFamily="34" charset="-122"/>
                <a:cs typeface="Consolas" pitchFamily="34" charset="-120"/>
              </a:rPr>
              <a:t>Ingestion</a:t>
            </a:r>
            <a:endParaRPr lang="en-US" sz="1200" dirty="0"/>
          </a:p>
        </p:txBody>
      </p:sp>
      <p:sp>
        <p:nvSpPr>
          <p:cNvPr id="13" name="Text 11"/>
          <p:cNvSpPr/>
          <p:nvPr/>
        </p:nvSpPr>
        <p:spPr>
          <a:xfrm>
            <a:off x="3246120" y="2331720"/>
            <a:ext cx="1609344" cy="1645920"/>
          </a:xfrm>
          <a:prstGeom prst="rect">
            <a:avLst/>
          </a:prstGeom>
          <a:noFill/>
          <a:ln/>
        </p:spPr>
        <p:txBody>
          <a:bodyPr wrap="square" rtlCol="0" anchor="t"/>
          <a:lstStyle/>
          <a:p>
            <a:pPr marL="0" indent="0" algn="ctr">
              <a:buNone/>
            </a:pPr>
            <a:r>
              <a:rPr lang="en-US" sz="1100" dirty="0">
                <a:solidFill>
                  <a:srgbClr val="8B949E"/>
                </a:solidFill>
                <a:latin typeface="Segoe UI" pitchFamily="34" charset="0"/>
                <a:ea typeface="Segoe UI" pitchFamily="34" charset="-122"/>
                <a:cs typeface="Segoe UI" pitchFamily="34" charset="-120"/>
              </a:rPr>
              <a:t>Parsers, chunkers,</a:t>
            </a:r>
            <a:endParaRPr lang="en-US" sz="1100" dirty="0"/>
          </a:p>
          <a:p>
            <a:pPr marL="0" indent="0" algn="ctr">
              <a:buNone/>
            </a:pPr>
            <a:r>
              <a:rPr lang="en-US" sz="1100" dirty="0">
                <a:solidFill>
                  <a:srgbClr val="8B949E"/>
                </a:solidFill>
                <a:latin typeface="Segoe UI" pitchFamily="34" charset="0"/>
                <a:ea typeface="Segoe UI" pitchFamily="34" charset="-122"/>
                <a:cs typeface="Segoe UI" pitchFamily="34" charset="-120"/>
              </a:rPr>
              <a:t>metadata enrichment</a:t>
            </a:r>
            <a:endParaRPr lang="en-US" sz="1100" dirty="0"/>
          </a:p>
        </p:txBody>
      </p:sp>
      <p:sp>
        <p:nvSpPr>
          <p:cNvPr id="14" name="Text 12"/>
          <p:cNvSpPr/>
          <p:nvPr/>
        </p:nvSpPr>
        <p:spPr>
          <a:xfrm>
            <a:off x="4965192" y="2560320"/>
            <a:ext cx="256032" cy="457200"/>
          </a:xfrm>
          <a:prstGeom prst="rect">
            <a:avLst/>
          </a:prstGeom>
          <a:noFill/>
          <a:ln/>
        </p:spPr>
        <p:txBody>
          <a:bodyPr wrap="square" rtlCol="0" anchor="ctr"/>
          <a:lstStyle/>
          <a:p>
            <a:pPr marL="0" indent="0" algn="ctr">
              <a:buNone/>
            </a:pPr>
            <a:r>
              <a:rPr lang="en-US" sz="1400" dirty="0">
                <a:solidFill>
                  <a:srgbClr val="8B949E"/>
                </a:solidFill>
                <a:latin typeface="Segoe UI" pitchFamily="34" charset="0"/>
                <a:ea typeface="Segoe UI" pitchFamily="34" charset="-122"/>
                <a:cs typeface="Segoe UI" pitchFamily="34" charset="-120"/>
              </a:rPr>
              <a:t>→</a:t>
            </a:r>
            <a:endParaRPr lang="en-US" sz="1400" dirty="0"/>
          </a:p>
        </p:txBody>
      </p:sp>
      <p:sp>
        <p:nvSpPr>
          <p:cNvPr id="15" name="Shape 13"/>
          <p:cNvSpPr/>
          <p:nvPr/>
        </p:nvSpPr>
        <p:spPr>
          <a:xfrm>
            <a:off x="5221224" y="1645920"/>
            <a:ext cx="1828800" cy="2560320"/>
          </a:xfrm>
          <a:prstGeom prst="roundRect">
            <a:avLst>
              <a:gd name="adj" fmla="val 4000"/>
            </a:avLst>
          </a:prstGeom>
          <a:solidFill>
            <a:srgbClr val="161B22"/>
          </a:solidFill>
          <a:ln w="12700">
            <a:solidFill>
              <a:srgbClr val="D29922"/>
            </a:solidFill>
            <a:prstDash val="solid"/>
          </a:ln>
        </p:spPr>
        <p:txBody>
          <a:bodyPr/>
          <a:lstStyle/>
          <a:p>
            <a:endParaRPr lang="en-GB"/>
          </a:p>
        </p:txBody>
      </p:sp>
      <p:sp>
        <p:nvSpPr>
          <p:cNvPr id="16" name="Text 14"/>
          <p:cNvSpPr/>
          <p:nvPr/>
        </p:nvSpPr>
        <p:spPr>
          <a:xfrm>
            <a:off x="5221224" y="1783080"/>
            <a:ext cx="1828800" cy="457200"/>
          </a:xfrm>
          <a:prstGeom prst="rect">
            <a:avLst/>
          </a:prstGeom>
          <a:noFill/>
          <a:ln/>
        </p:spPr>
        <p:txBody>
          <a:bodyPr wrap="square" rtlCol="0" anchor="ctr"/>
          <a:lstStyle/>
          <a:p>
            <a:pPr marL="0" indent="0" algn="ctr">
              <a:buNone/>
            </a:pPr>
            <a:r>
              <a:rPr lang="en-US" sz="1200" b="1" dirty="0">
                <a:solidFill>
                  <a:srgbClr val="D29922"/>
                </a:solidFill>
                <a:latin typeface="Consolas" pitchFamily="34" charset="0"/>
                <a:ea typeface="Consolas" pitchFamily="34" charset="-122"/>
                <a:cs typeface="Consolas" pitchFamily="34" charset="-120"/>
              </a:rPr>
              <a:t>Vector Index</a:t>
            </a:r>
            <a:endParaRPr lang="en-US" sz="1200" dirty="0"/>
          </a:p>
        </p:txBody>
      </p:sp>
      <p:sp>
        <p:nvSpPr>
          <p:cNvPr id="17" name="Text 15"/>
          <p:cNvSpPr/>
          <p:nvPr/>
        </p:nvSpPr>
        <p:spPr>
          <a:xfrm>
            <a:off x="5330952" y="2331720"/>
            <a:ext cx="1609344" cy="1645920"/>
          </a:xfrm>
          <a:prstGeom prst="rect">
            <a:avLst/>
          </a:prstGeom>
          <a:noFill/>
          <a:ln/>
        </p:spPr>
        <p:txBody>
          <a:bodyPr wrap="square" rtlCol="0" anchor="t"/>
          <a:lstStyle/>
          <a:p>
            <a:pPr marL="0" indent="0" algn="ctr">
              <a:buNone/>
            </a:pPr>
            <a:r>
              <a:rPr lang="en-US" sz="1100" dirty="0">
                <a:solidFill>
                  <a:srgbClr val="8B949E"/>
                </a:solidFill>
                <a:latin typeface="Segoe UI" pitchFamily="34" charset="0"/>
                <a:ea typeface="Segoe UI" pitchFamily="34" charset="-122"/>
                <a:cs typeface="Segoe UI" pitchFamily="34" charset="-120"/>
              </a:rPr>
              <a:t>Vectors, chunks, ACLs,</a:t>
            </a:r>
            <a:endParaRPr lang="en-US" sz="1100" dirty="0"/>
          </a:p>
          <a:p>
            <a:pPr marL="0" indent="0" algn="ctr">
              <a:buNone/>
            </a:pPr>
            <a:r>
              <a:rPr lang="en-US" sz="1100" dirty="0">
                <a:solidFill>
                  <a:srgbClr val="8B949E"/>
                </a:solidFill>
                <a:latin typeface="Segoe UI" pitchFamily="34" charset="0"/>
                <a:ea typeface="Segoe UI" pitchFamily="34" charset="-122"/>
                <a:cs typeface="Segoe UI" pitchFamily="34" charset="-120"/>
              </a:rPr>
              <a:t>classification labels</a:t>
            </a:r>
            <a:endParaRPr lang="en-US" sz="1100" dirty="0"/>
          </a:p>
        </p:txBody>
      </p:sp>
      <p:sp>
        <p:nvSpPr>
          <p:cNvPr id="18" name="Text 16"/>
          <p:cNvSpPr/>
          <p:nvPr/>
        </p:nvSpPr>
        <p:spPr>
          <a:xfrm>
            <a:off x="7050024" y="2560320"/>
            <a:ext cx="256032" cy="457200"/>
          </a:xfrm>
          <a:prstGeom prst="rect">
            <a:avLst/>
          </a:prstGeom>
          <a:noFill/>
          <a:ln/>
        </p:spPr>
        <p:txBody>
          <a:bodyPr wrap="square" rtlCol="0" anchor="ctr"/>
          <a:lstStyle/>
          <a:p>
            <a:pPr marL="0" indent="0" algn="ctr">
              <a:buNone/>
            </a:pPr>
            <a:r>
              <a:rPr lang="en-US" sz="1400" dirty="0">
                <a:solidFill>
                  <a:srgbClr val="8B949E"/>
                </a:solidFill>
                <a:latin typeface="Segoe UI" pitchFamily="34" charset="0"/>
                <a:ea typeface="Segoe UI" pitchFamily="34" charset="-122"/>
                <a:cs typeface="Segoe UI" pitchFamily="34" charset="-120"/>
              </a:rPr>
              <a:t>→</a:t>
            </a:r>
            <a:endParaRPr lang="en-US" sz="1400" dirty="0"/>
          </a:p>
        </p:txBody>
      </p:sp>
      <p:sp>
        <p:nvSpPr>
          <p:cNvPr id="19" name="Shape 17"/>
          <p:cNvSpPr/>
          <p:nvPr/>
        </p:nvSpPr>
        <p:spPr>
          <a:xfrm>
            <a:off x="7306056" y="1645920"/>
            <a:ext cx="1828800" cy="2560320"/>
          </a:xfrm>
          <a:prstGeom prst="roundRect">
            <a:avLst>
              <a:gd name="adj" fmla="val 4000"/>
            </a:avLst>
          </a:prstGeom>
          <a:solidFill>
            <a:srgbClr val="161B22"/>
          </a:solidFill>
          <a:ln w="12700">
            <a:solidFill>
              <a:srgbClr val="D29922"/>
            </a:solidFill>
            <a:prstDash val="solid"/>
          </a:ln>
        </p:spPr>
        <p:txBody>
          <a:bodyPr/>
          <a:lstStyle/>
          <a:p>
            <a:endParaRPr lang="en-GB"/>
          </a:p>
        </p:txBody>
      </p:sp>
      <p:sp>
        <p:nvSpPr>
          <p:cNvPr id="20" name="Text 18"/>
          <p:cNvSpPr/>
          <p:nvPr/>
        </p:nvSpPr>
        <p:spPr>
          <a:xfrm>
            <a:off x="7306056" y="1783080"/>
            <a:ext cx="1828800" cy="457200"/>
          </a:xfrm>
          <a:prstGeom prst="rect">
            <a:avLst/>
          </a:prstGeom>
          <a:noFill/>
          <a:ln/>
        </p:spPr>
        <p:txBody>
          <a:bodyPr wrap="square" rtlCol="0" anchor="ctr"/>
          <a:lstStyle/>
          <a:p>
            <a:pPr marL="0" indent="0" algn="ctr">
              <a:buNone/>
            </a:pPr>
            <a:r>
              <a:rPr lang="en-US" sz="1200" b="1" dirty="0">
                <a:solidFill>
                  <a:srgbClr val="D29922"/>
                </a:solidFill>
                <a:latin typeface="Consolas" pitchFamily="34" charset="0"/>
                <a:ea typeface="Consolas" pitchFamily="34" charset="-122"/>
                <a:cs typeface="Consolas" pitchFamily="34" charset="-120"/>
              </a:rPr>
              <a:t>Prompt Context</a:t>
            </a:r>
            <a:endParaRPr lang="en-US" sz="1200" dirty="0"/>
          </a:p>
        </p:txBody>
      </p:sp>
      <p:sp>
        <p:nvSpPr>
          <p:cNvPr id="21" name="Text 19"/>
          <p:cNvSpPr/>
          <p:nvPr/>
        </p:nvSpPr>
        <p:spPr>
          <a:xfrm>
            <a:off x="7415784" y="2331720"/>
            <a:ext cx="1609344" cy="1645920"/>
          </a:xfrm>
          <a:prstGeom prst="rect">
            <a:avLst/>
          </a:prstGeom>
          <a:noFill/>
          <a:ln/>
        </p:spPr>
        <p:txBody>
          <a:bodyPr wrap="square" rtlCol="0" anchor="t"/>
          <a:lstStyle/>
          <a:p>
            <a:pPr marL="0" indent="0" algn="ctr">
              <a:buNone/>
            </a:pPr>
            <a:r>
              <a:rPr lang="en-US" sz="1100" dirty="0">
                <a:solidFill>
                  <a:srgbClr val="8B949E"/>
                </a:solidFill>
                <a:latin typeface="Segoe UI" pitchFamily="34" charset="0"/>
                <a:ea typeface="Segoe UI" pitchFamily="34" charset="-122"/>
                <a:cs typeface="Segoe UI" pitchFamily="34" charset="-120"/>
              </a:rPr>
              <a:t>Retrieved passages,</a:t>
            </a:r>
            <a:endParaRPr lang="en-US" sz="1100" dirty="0"/>
          </a:p>
          <a:p>
            <a:pPr marL="0" indent="0" algn="ctr">
              <a:buNone/>
            </a:pPr>
            <a:r>
              <a:rPr lang="en-US" sz="1100" dirty="0">
                <a:solidFill>
                  <a:srgbClr val="8B949E"/>
                </a:solidFill>
                <a:latin typeface="Segoe UI" pitchFamily="34" charset="0"/>
                <a:ea typeface="Segoe UI" pitchFamily="34" charset="-122"/>
                <a:cs typeface="Segoe UI" pitchFamily="34" charset="-120"/>
              </a:rPr>
              <a:t>model responses, history</a:t>
            </a:r>
            <a:endParaRPr lang="en-US" sz="1100" dirty="0"/>
          </a:p>
        </p:txBody>
      </p:sp>
      <p:sp>
        <p:nvSpPr>
          <p:cNvPr id="22" name="Text 20"/>
          <p:cNvSpPr/>
          <p:nvPr/>
        </p:nvSpPr>
        <p:spPr>
          <a:xfrm>
            <a:off x="9134856" y="2560320"/>
            <a:ext cx="256032" cy="457200"/>
          </a:xfrm>
          <a:prstGeom prst="rect">
            <a:avLst/>
          </a:prstGeom>
          <a:noFill/>
          <a:ln/>
        </p:spPr>
        <p:txBody>
          <a:bodyPr wrap="square" rtlCol="0" anchor="ctr"/>
          <a:lstStyle/>
          <a:p>
            <a:pPr marL="0" indent="0" algn="ctr">
              <a:buNone/>
            </a:pPr>
            <a:r>
              <a:rPr lang="en-US" sz="1400" dirty="0">
                <a:solidFill>
                  <a:srgbClr val="8B949E"/>
                </a:solidFill>
                <a:latin typeface="Segoe UI" pitchFamily="34" charset="0"/>
                <a:ea typeface="Segoe UI" pitchFamily="34" charset="-122"/>
                <a:cs typeface="Segoe UI" pitchFamily="34" charset="-120"/>
              </a:rPr>
              <a:t>→</a:t>
            </a:r>
            <a:endParaRPr lang="en-US" sz="1400" dirty="0"/>
          </a:p>
        </p:txBody>
      </p:sp>
      <p:sp>
        <p:nvSpPr>
          <p:cNvPr id="23" name="Shape 21"/>
          <p:cNvSpPr/>
          <p:nvPr/>
        </p:nvSpPr>
        <p:spPr>
          <a:xfrm>
            <a:off x="9390888" y="1645920"/>
            <a:ext cx="1828800" cy="2560320"/>
          </a:xfrm>
          <a:prstGeom prst="roundRect">
            <a:avLst>
              <a:gd name="adj" fmla="val 4000"/>
            </a:avLst>
          </a:prstGeom>
          <a:solidFill>
            <a:srgbClr val="161B22"/>
          </a:solidFill>
          <a:ln w="12700">
            <a:solidFill>
              <a:srgbClr val="F85149"/>
            </a:solidFill>
            <a:prstDash val="solid"/>
          </a:ln>
        </p:spPr>
        <p:txBody>
          <a:bodyPr/>
          <a:lstStyle/>
          <a:p>
            <a:endParaRPr lang="en-GB"/>
          </a:p>
        </p:txBody>
      </p:sp>
      <p:sp>
        <p:nvSpPr>
          <p:cNvPr id="24" name="Text 22"/>
          <p:cNvSpPr/>
          <p:nvPr/>
        </p:nvSpPr>
        <p:spPr>
          <a:xfrm>
            <a:off x="9390888" y="1783080"/>
            <a:ext cx="1828800" cy="457200"/>
          </a:xfrm>
          <a:prstGeom prst="rect">
            <a:avLst/>
          </a:prstGeom>
          <a:noFill/>
          <a:ln/>
        </p:spPr>
        <p:txBody>
          <a:bodyPr wrap="square" rtlCol="0" anchor="ctr"/>
          <a:lstStyle/>
          <a:p>
            <a:pPr marL="0" indent="0" algn="ctr">
              <a:buNone/>
            </a:pPr>
            <a:r>
              <a:rPr lang="en-US" sz="1200" b="1" dirty="0">
                <a:solidFill>
                  <a:srgbClr val="F85149"/>
                </a:solidFill>
                <a:latin typeface="Consolas" pitchFamily="34" charset="0"/>
                <a:ea typeface="Consolas" pitchFamily="34" charset="-122"/>
                <a:cs typeface="Consolas" pitchFamily="34" charset="-120"/>
              </a:rPr>
              <a:t>Telemetry</a:t>
            </a:r>
            <a:endParaRPr lang="en-US" sz="1200" dirty="0"/>
          </a:p>
        </p:txBody>
      </p:sp>
      <p:sp>
        <p:nvSpPr>
          <p:cNvPr id="25" name="Text 23"/>
          <p:cNvSpPr/>
          <p:nvPr/>
        </p:nvSpPr>
        <p:spPr>
          <a:xfrm>
            <a:off x="9500616" y="2331720"/>
            <a:ext cx="1609344" cy="1645920"/>
          </a:xfrm>
          <a:prstGeom prst="rect">
            <a:avLst/>
          </a:prstGeom>
          <a:noFill/>
          <a:ln/>
        </p:spPr>
        <p:txBody>
          <a:bodyPr wrap="square" rtlCol="0" anchor="t"/>
          <a:lstStyle/>
          <a:p>
            <a:pPr marL="0" indent="0" algn="ctr">
              <a:buNone/>
            </a:pPr>
            <a:r>
              <a:rPr lang="en-US" sz="1100" dirty="0">
                <a:solidFill>
                  <a:srgbClr val="8B949E"/>
                </a:solidFill>
                <a:latin typeface="Segoe UI" pitchFamily="34" charset="0"/>
                <a:ea typeface="Segoe UI" pitchFamily="34" charset="-122"/>
                <a:cs typeface="Segoe UI" pitchFamily="34" charset="-120"/>
              </a:rPr>
              <a:t>Logs, traces, policy</a:t>
            </a:r>
            <a:endParaRPr lang="en-US" sz="1100" dirty="0"/>
          </a:p>
          <a:p>
            <a:pPr marL="0" indent="0" algn="ctr">
              <a:buNone/>
            </a:pPr>
            <a:r>
              <a:rPr lang="en-US" sz="1100" dirty="0">
                <a:solidFill>
                  <a:srgbClr val="8B949E"/>
                </a:solidFill>
                <a:latin typeface="Segoe UI" pitchFamily="34" charset="0"/>
                <a:ea typeface="Segoe UI" pitchFamily="34" charset="-122"/>
                <a:cs typeface="Segoe UI" pitchFamily="34" charset="-120"/>
              </a:rPr>
              <a:t>decisions, eval data</a:t>
            </a:r>
            <a:endParaRPr lang="en-US" sz="1100" dirty="0"/>
          </a:p>
        </p:txBody>
      </p:sp>
      <p:sp>
        <p:nvSpPr>
          <p:cNvPr id="26" name="Shape 24"/>
          <p:cNvSpPr/>
          <p:nvPr/>
        </p:nvSpPr>
        <p:spPr>
          <a:xfrm>
            <a:off x="731520" y="4754880"/>
            <a:ext cx="54864" cy="411480"/>
          </a:xfrm>
          <a:prstGeom prst="rect">
            <a:avLst/>
          </a:prstGeom>
          <a:solidFill>
            <a:srgbClr val="3FB950"/>
          </a:solidFill>
          <a:ln/>
        </p:spPr>
        <p:txBody>
          <a:bodyPr/>
          <a:lstStyle/>
          <a:p>
            <a:endParaRPr lang="en-GB"/>
          </a:p>
        </p:txBody>
      </p:sp>
      <p:sp>
        <p:nvSpPr>
          <p:cNvPr id="27" name="Text 25"/>
          <p:cNvSpPr/>
          <p:nvPr/>
        </p:nvSpPr>
        <p:spPr>
          <a:xfrm>
            <a:off x="960120" y="4754880"/>
            <a:ext cx="10497312" cy="411480"/>
          </a:xfrm>
          <a:prstGeom prst="rect">
            <a:avLst/>
          </a:prstGeom>
          <a:noFill/>
          <a:ln/>
        </p:spPr>
        <p:txBody>
          <a:bodyPr wrap="square" rtlCol="0" anchor="ctr"/>
          <a:lstStyle/>
          <a:p>
            <a:pPr marL="0" indent="0">
              <a:buNone/>
            </a:pPr>
            <a:r>
              <a:rPr lang="en-US" sz="1400" b="1" i="1" dirty="0">
                <a:solidFill>
                  <a:srgbClr val="3FB950"/>
                </a:solidFill>
                <a:latin typeface="Segoe UI" pitchFamily="34" charset="0"/>
                <a:ea typeface="Segoe UI" pitchFamily="34" charset="-122"/>
                <a:cs typeface="Segoe UI" pitchFamily="34" charset="-120"/>
              </a:rPr>
              <a:t>Stage 2 creates governable storage — and derived assets needing classification, ACL, retention, and isolation.</a:t>
            </a:r>
            <a:endParaRPr lang="en-US" sz="1400" dirty="0"/>
          </a:p>
        </p:txBody>
      </p:sp>
      <p:sp>
        <p:nvSpPr>
          <p:cNvPr id="28" name="Text 26"/>
          <p:cNvSpPr/>
          <p:nvPr/>
        </p:nvSpPr>
        <p:spPr>
          <a:xfrm>
            <a:off x="8686800" y="6263640"/>
            <a:ext cx="2926080" cy="228600"/>
          </a:xfrm>
          <a:prstGeom prst="rect">
            <a:avLst/>
          </a:prstGeom>
          <a:noFill/>
          <a:ln/>
        </p:spPr>
        <p:txBody>
          <a:bodyPr wrap="square"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OWASP LLM08:2025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274320"/>
          </a:xfrm>
          <a:prstGeom prst="rect">
            <a:avLst/>
          </a:prstGeom>
          <a:noFill/>
          <a:ln/>
        </p:spPr>
        <p:txBody>
          <a:bodyPr wrap="square" rtlCol="0" anchor="ctr"/>
          <a:lstStyle/>
          <a:p>
            <a:pPr marL="0" indent="0">
              <a:buNone/>
            </a:pPr>
            <a:r>
              <a:rPr lang="en-US" sz="1100" dirty="0">
                <a:solidFill>
                  <a:srgbClr val="8B949E"/>
                </a:solidFill>
                <a:latin typeface="Consolas" pitchFamily="34" charset="0"/>
                <a:ea typeface="Consolas" pitchFamily="34" charset="-122"/>
                <a:cs typeface="Consolas" pitchFamily="34" charset="-120"/>
              </a:rPr>
              <a:t>Stage 2 · Failure Mode</a:t>
            </a:r>
            <a:endParaRPr lang="en-US" sz="1100" dirty="0"/>
          </a:p>
        </p:txBody>
      </p:sp>
      <p:sp>
        <p:nvSpPr>
          <p:cNvPr id="3" name="Text 1"/>
          <p:cNvSpPr/>
          <p:nvPr/>
        </p:nvSpPr>
        <p:spPr>
          <a:xfrm>
            <a:off x="548640" y="594360"/>
            <a:ext cx="11091672" cy="502920"/>
          </a:xfrm>
          <a:prstGeom prst="rect">
            <a:avLst/>
          </a:prstGeom>
          <a:noFill/>
          <a:ln/>
        </p:spPr>
        <p:txBody>
          <a:bodyPr wrap="square" rtlCol="0" anchor="ctr"/>
          <a:lstStyle/>
          <a:p>
            <a:pPr marL="0" indent="0">
              <a:buNone/>
            </a:pPr>
            <a:r>
              <a:rPr lang="en-US" sz="2400" dirty="0">
                <a:solidFill>
                  <a:srgbClr val="8B949E"/>
                </a:solidFill>
                <a:latin typeface="Consolas" pitchFamily="34" charset="0"/>
                <a:ea typeface="Consolas" pitchFamily="34" charset="-122"/>
                <a:cs typeface="Consolas" pitchFamily="34" charset="-120"/>
              </a:rPr>
              <a:t>&gt; </a:t>
            </a:r>
            <a:r>
              <a:rPr lang="en-US" sz="2200" b="1" dirty="0">
                <a:solidFill>
                  <a:srgbClr val="58A6FF"/>
                </a:solidFill>
                <a:latin typeface="Consolas" pitchFamily="34" charset="0"/>
                <a:ea typeface="Consolas" pitchFamily="34" charset="-122"/>
                <a:cs typeface="Consolas" pitchFamily="34" charset="-120"/>
              </a:rPr>
              <a:t>How RAG fails?</a:t>
            </a:r>
            <a:endParaRPr lang="en-US" sz="2400" dirty="0"/>
          </a:p>
        </p:txBody>
      </p:sp>
      <p:sp>
        <p:nvSpPr>
          <p:cNvPr id="4" name="Shape 2"/>
          <p:cNvSpPr/>
          <p:nvPr/>
        </p:nvSpPr>
        <p:spPr>
          <a:xfrm>
            <a:off x="548640" y="1143000"/>
            <a:ext cx="11091672" cy="13716"/>
          </a:xfrm>
          <a:prstGeom prst="rect">
            <a:avLst/>
          </a:prstGeom>
          <a:solidFill>
            <a:srgbClr val="30363D"/>
          </a:solidFill>
          <a:ln/>
        </p:spPr>
        <p:txBody>
          <a:bodyPr/>
          <a:lstStyle/>
          <a:p>
            <a:endParaRPr lang="en-GB"/>
          </a:p>
        </p:txBody>
      </p:sp>
      <p:sp>
        <p:nvSpPr>
          <p:cNvPr id="5" name="Text 3"/>
          <p:cNvSpPr/>
          <p:nvPr/>
        </p:nvSpPr>
        <p:spPr>
          <a:xfrm>
            <a:off x="10972800" y="6446520"/>
            <a:ext cx="731520" cy="274320"/>
          </a:xfrm>
          <a:prstGeom prst="rect">
            <a:avLst/>
          </a:prstGeom>
          <a:noFill/>
          <a:ln/>
        </p:spPr>
        <p:txBody>
          <a:bodyPr wrap="square" rtlCol="0" anchor="ctr"/>
          <a:lstStyle/>
          <a:p>
            <a:pPr marL="0" indent="0" algn="r">
              <a:buNone/>
            </a:pPr>
            <a:r>
              <a:rPr lang="en-US" sz="1000" dirty="0">
                <a:solidFill>
                  <a:srgbClr val="8B949E"/>
                </a:solidFill>
                <a:latin typeface="Consolas" pitchFamily="34" charset="0"/>
                <a:ea typeface="Consolas" pitchFamily="34" charset="-122"/>
                <a:cs typeface="Consolas" pitchFamily="34" charset="-120"/>
              </a:rPr>
              <a:t>15</a:t>
            </a:r>
            <a:endParaRPr lang="en-US" sz="1000" dirty="0"/>
          </a:p>
        </p:txBody>
      </p:sp>
      <p:sp>
        <p:nvSpPr>
          <p:cNvPr id="6" name="Shape 4"/>
          <p:cNvSpPr/>
          <p:nvPr/>
        </p:nvSpPr>
        <p:spPr>
          <a:xfrm>
            <a:off x="548640" y="1325880"/>
            <a:ext cx="11091672" cy="5074920"/>
          </a:xfrm>
          <a:prstGeom prst="roundRect">
            <a:avLst>
              <a:gd name="adj" fmla="val 2162"/>
            </a:avLst>
          </a:prstGeom>
          <a:solidFill>
            <a:srgbClr val="161B22"/>
          </a:solidFill>
          <a:ln w="9525">
            <a:solidFill>
              <a:srgbClr val="30363D"/>
            </a:solidFill>
            <a:prstDash val="solid"/>
          </a:ln>
        </p:spPr>
        <p:txBody>
          <a:bodyPr/>
          <a:lstStyle/>
          <a:p>
            <a:endParaRPr lang="en-GB"/>
          </a:p>
        </p:txBody>
      </p:sp>
      <p:sp>
        <p:nvSpPr>
          <p:cNvPr id="7" name="Shape 5"/>
          <p:cNvSpPr/>
          <p:nvPr/>
        </p:nvSpPr>
        <p:spPr>
          <a:xfrm>
            <a:off x="914400" y="1645920"/>
            <a:ext cx="1852574"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8" name="Text 6"/>
          <p:cNvSpPr/>
          <p:nvPr/>
        </p:nvSpPr>
        <p:spPr>
          <a:xfrm>
            <a:off x="914400" y="1645920"/>
            <a:ext cx="1852574" cy="502920"/>
          </a:xfrm>
          <a:prstGeom prst="rect">
            <a:avLst/>
          </a:prstGeom>
          <a:noFill/>
          <a:ln/>
        </p:spPr>
        <p:txBody>
          <a:bodyPr wrap="square" rtlCol="0" anchor="ctr"/>
          <a:lstStyle/>
          <a:p>
            <a:pPr marL="0" indent="0" algn="ctr">
              <a:buNone/>
            </a:pPr>
            <a:r>
              <a:rPr lang="en-US" sz="1100" b="1" dirty="0">
                <a:solidFill>
                  <a:srgbClr val="E6EDF3"/>
                </a:solidFill>
                <a:latin typeface="Segoe UI" pitchFamily="34" charset="0"/>
                <a:ea typeface="Segoe UI" pitchFamily="34" charset="-122"/>
                <a:cs typeface="Segoe UI" pitchFamily="34" charset="-120"/>
              </a:rPr>
              <a:t>User Query</a:t>
            </a:r>
            <a:endParaRPr lang="en-US" sz="1100" dirty="0"/>
          </a:p>
        </p:txBody>
      </p:sp>
      <p:sp>
        <p:nvSpPr>
          <p:cNvPr id="9" name="Text 7"/>
          <p:cNvSpPr/>
          <p:nvPr/>
        </p:nvSpPr>
        <p:spPr>
          <a:xfrm>
            <a:off x="2766974" y="1645920"/>
            <a:ext cx="274320" cy="502920"/>
          </a:xfrm>
          <a:prstGeom prst="rect">
            <a:avLst/>
          </a:prstGeom>
          <a:noFill/>
          <a:ln/>
        </p:spPr>
        <p:txBody>
          <a:bodyPr wrap="square" rtlCol="0" anchor="ctr"/>
          <a:lstStyle/>
          <a:p>
            <a:pPr marL="0" indent="0" algn="ctr">
              <a:buNone/>
            </a:pPr>
            <a:r>
              <a:rPr lang="en-US" sz="1600" dirty="0">
                <a:solidFill>
                  <a:srgbClr val="8B949E"/>
                </a:solidFill>
                <a:latin typeface="Segoe UI" pitchFamily="34" charset="0"/>
                <a:ea typeface="Segoe UI" pitchFamily="34" charset="-122"/>
                <a:cs typeface="Segoe UI" pitchFamily="34" charset="-120"/>
              </a:rPr>
              <a:t>→</a:t>
            </a:r>
            <a:endParaRPr lang="en-US" sz="1600" dirty="0"/>
          </a:p>
        </p:txBody>
      </p:sp>
      <p:sp>
        <p:nvSpPr>
          <p:cNvPr id="10" name="Shape 8"/>
          <p:cNvSpPr/>
          <p:nvPr/>
        </p:nvSpPr>
        <p:spPr>
          <a:xfrm>
            <a:off x="3041294" y="1645920"/>
            <a:ext cx="1852574"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1" name="Text 9"/>
          <p:cNvSpPr/>
          <p:nvPr/>
        </p:nvSpPr>
        <p:spPr>
          <a:xfrm>
            <a:off x="3041294" y="1645920"/>
            <a:ext cx="1852574" cy="502920"/>
          </a:xfrm>
          <a:prstGeom prst="rect">
            <a:avLst/>
          </a:prstGeom>
          <a:noFill/>
          <a:ln/>
        </p:spPr>
        <p:txBody>
          <a:bodyPr wrap="square" rtlCol="0" anchor="ctr"/>
          <a:lstStyle/>
          <a:p>
            <a:pPr marL="0" indent="0" algn="ctr">
              <a:buNone/>
            </a:pPr>
            <a:r>
              <a:rPr lang="en-US" sz="1100" b="1" dirty="0">
                <a:solidFill>
                  <a:srgbClr val="E6EDF3"/>
                </a:solidFill>
                <a:latin typeface="Segoe UI" pitchFamily="34" charset="0"/>
                <a:ea typeface="Segoe UI" pitchFamily="34" charset="-122"/>
                <a:cs typeface="Segoe UI" pitchFamily="34" charset="-120"/>
              </a:rPr>
              <a:t>Vector Search</a:t>
            </a:r>
            <a:endParaRPr lang="en-US" sz="1100" dirty="0"/>
          </a:p>
        </p:txBody>
      </p:sp>
      <p:sp>
        <p:nvSpPr>
          <p:cNvPr id="12" name="Text 10"/>
          <p:cNvSpPr/>
          <p:nvPr/>
        </p:nvSpPr>
        <p:spPr>
          <a:xfrm>
            <a:off x="4893869" y="1645920"/>
            <a:ext cx="274320" cy="502920"/>
          </a:xfrm>
          <a:prstGeom prst="rect">
            <a:avLst/>
          </a:prstGeom>
          <a:noFill/>
          <a:ln/>
        </p:spPr>
        <p:txBody>
          <a:bodyPr wrap="square" rtlCol="0" anchor="ctr"/>
          <a:lstStyle/>
          <a:p>
            <a:pPr marL="0" indent="0" algn="ctr">
              <a:buNone/>
            </a:pPr>
            <a:r>
              <a:rPr lang="en-US" sz="1600" dirty="0">
                <a:solidFill>
                  <a:srgbClr val="8B949E"/>
                </a:solidFill>
                <a:latin typeface="Segoe UI" pitchFamily="34" charset="0"/>
                <a:ea typeface="Segoe UI" pitchFamily="34" charset="-122"/>
                <a:cs typeface="Segoe UI" pitchFamily="34" charset="-120"/>
              </a:rPr>
              <a:t>→</a:t>
            </a:r>
            <a:endParaRPr lang="en-US" sz="1600" dirty="0"/>
          </a:p>
        </p:txBody>
      </p:sp>
      <p:sp>
        <p:nvSpPr>
          <p:cNvPr id="13" name="Shape 11"/>
          <p:cNvSpPr/>
          <p:nvPr/>
        </p:nvSpPr>
        <p:spPr>
          <a:xfrm>
            <a:off x="5168189" y="1645920"/>
            <a:ext cx="1852574"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4" name="Text 12"/>
          <p:cNvSpPr/>
          <p:nvPr/>
        </p:nvSpPr>
        <p:spPr>
          <a:xfrm>
            <a:off x="5168189" y="1645920"/>
            <a:ext cx="1852574" cy="502920"/>
          </a:xfrm>
          <a:prstGeom prst="rect">
            <a:avLst/>
          </a:prstGeom>
          <a:noFill/>
          <a:ln/>
        </p:spPr>
        <p:txBody>
          <a:bodyPr wrap="square" rtlCol="0" anchor="ctr"/>
          <a:lstStyle/>
          <a:p>
            <a:pPr marL="0" indent="0" algn="ctr">
              <a:buNone/>
            </a:pPr>
            <a:r>
              <a:rPr lang="en-US" sz="1100" b="1" dirty="0">
                <a:solidFill>
                  <a:srgbClr val="E6EDF3"/>
                </a:solidFill>
                <a:latin typeface="Segoe UI" pitchFamily="34" charset="0"/>
                <a:ea typeface="Segoe UI" pitchFamily="34" charset="-122"/>
                <a:cs typeface="Segoe UI" pitchFamily="34" charset="-120"/>
              </a:rPr>
              <a:t>Candidates</a:t>
            </a:r>
            <a:endParaRPr lang="en-US" sz="1100" dirty="0"/>
          </a:p>
        </p:txBody>
      </p:sp>
      <p:sp>
        <p:nvSpPr>
          <p:cNvPr id="15" name="Text 13"/>
          <p:cNvSpPr/>
          <p:nvPr/>
        </p:nvSpPr>
        <p:spPr>
          <a:xfrm>
            <a:off x="7020763" y="1645920"/>
            <a:ext cx="274320" cy="502920"/>
          </a:xfrm>
          <a:prstGeom prst="rect">
            <a:avLst/>
          </a:prstGeom>
          <a:noFill/>
          <a:ln/>
        </p:spPr>
        <p:txBody>
          <a:bodyPr wrap="square" rtlCol="0" anchor="ctr"/>
          <a:lstStyle/>
          <a:p>
            <a:pPr marL="0" indent="0" algn="ctr">
              <a:buNone/>
            </a:pPr>
            <a:r>
              <a:rPr lang="en-US" sz="1600" dirty="0">
                <a:solidFill>
                  <a:srgbClr val="8B949E"/>
                </a:solidFill>
                <a:latin typeface="Segoe UI" pitchFamily="34" charset="0"/>
                <a:ea typeface="Segoe UI" pitchFamily="34" charset="-122"/>
                <a:cs typeface="Segoe UI" pitchFamily="34" charset="-120"/>
              </a:rPr>
              <a:t>→</a:t>
            </a:r>
            <a:endParaRPr lang="en-US" sz="1600" dirty="0"/>
          </a:p>
        </p:txBody>
      </p:sp>
      <p:sp>
        <p:nvSpPr>
          <p:cNvPr id="16" name="Shape 14"/>
          <p:cNvSpPr/>
          <p:nvPr/>
        </p:nvSpPr>
        <p:spPr>
          <a:xfrm>
            <a:off x="7295083" y="1645920"/>
            <a:ext cx="1852574"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7" name="Text 15"/>
          <p:cNvSpPr/>
          <p:nvPr/>
        </p:nvSpPr>
        <p:spPr>
          <a:xfrm>
            <a:off x="7295083" y="1645920"/>
            <a:ext cx="1852574" cy="502920"/>
          </a:xfrm>
          <a:prstGeom prst="rect">
            <a:avLst/>
          </a:prstGeom>
          <a:noFill/>
          <a:ln/>
        </p:spPr>
        <p:txBody>
          <a:bodyPr wrap="square" rtlCol="0" anchor="ctr"/>
          <a:lstStyle/>
          <a:p>
            <a:pPr marL="0" indent="0" algn="ctr">
              <a:buNone/>
            </a:pPr>
            <a:r>
              <a:rPr lang="en-US" sz="1100" b="1" dirty="0">
                <a:solidFill>
                  <a:srgbClr val="E6EDF3"/>
                </a:solidFill>
                <a:latin typeface="Segoe UI" pitchFamily="34" charset="0"/>
                <a:ea typeface="Segoe UI" pitchFamily="34" charset="-122"/>
                <a:cs typeface="Segoe UI" pitchFamily="34" charset="-120"/>
              </a:rPr>
              <a:t>Prompt Context</a:t>
            </a:r>
            <a:endParaRPr lang="en-US" sz="1100" dirty="0"/>
          </a:p>
        </p:txBody>
      </p:sp>
      <p:sp>
        <p:nvSpPr>
          <p:cNvPr id="18" name="Text 16"/>
          <p:cNvSpPr/>
          <p:nvPr/>
        </p:nvSpPr>
        <p:spPr>
          <a:xfrm>
            <a:off x="9147658" y="1645920"/>
            <a:ext cx="274320" cy="502920"/>
          </a:xfrm>
          <a:prstGeom prst="rect">
            <a:avLst/>
          </a:prstGeom>
          <a:noFill/>
          <a:ln/>
        </p:spPr>
        <p:txBody>
          <a:bodyPr wrap="square" rtlCol="0" anchor="ctr"/>
          <a:lstStyle/>
          <a:p>
            <a:pPr marL="0" indent="0" algn="ctr">
              <a:buNone/>
            </a:pPr>
            <a:r>
              <a:rPr lang="en-US" sz="1600" dirty="0">
                <a:solidFill>
                  <a:srgbClr val="8B949E"/>
                </a:solidFill>
                <a:latin typeface="Segoe UI" pitchFamily="34" charset="0"/>
                <a:ea typeface="Segoe UI" pitchFamily="34" charset="-122"/>
                <a:cs typeface="Segoe UI" pitchFamily="34" charset="-120"/>
              </a:rPr>
              <a:t>→</a:t>
            </a:r>
            <a:endParaRPr lang="en-US" sz="1600" dirty="0"/>
          </a:p>
        </p:txBody>
      </p:sp>
      <p:sp>
        <p:nvSpPr>
          <p:cNvPr id="19" name="Shape 17"/>
          <p:cNvSpPr/>
          <p:nvPr/>
        </p:nvSpPr>
        <p:spPr>
          <a:xfrm>
            <a:off x="9421978" y="1645920"/>
            <a:ext cx="1852574"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20" name="Text 18"/>
          <p:cNvSpPr/>
          <p:nvPr/>
        </p:nvSpPr>
        <p:spPr>
          <a:xfrm>
            <a:off x="9421978" y="1645920"/>
            <a:ext cx="1852574" cy="502920"/>
          </a:xfrm>
          <a:prstGeom prst="rect">
            <a:avLst/>
          </a:prstGeom>
          <a:noFill/>
          <a:ln/>
        </p:spPr>
        <p:txBody>
          <a:bodyPr wrap="square" rtlCol="0" anchor="ctr"/>
          <a:lstStyle/>
          <a:p>
            <a:pPr marL="0" indent="0" algn="ctr">
              <a:buNone/>
            </a:pPr>
            <a:r>
              <a:rPr lang="en-US" sz="1100" b="1" dirty="0">
                <a:solidFill>
                  <a:srgbClr val="E6EDF3"/>
                </a:solidFill>
                <a:latin typeface="Segoe UI" pitchFamily="34" charset="0"/>
                <a:ea typeface="Segoe UI" pitchFamily="34" charset="-122"/>
                <a:cs typeface="Segoe UI" pitchFamily="34" charset="-120"/>
              </a:rPr>
              <a:t>Answer</a:t>
            </a:r>
            <a:endParaRPr lang="en-US" sz="1100" dirty="0"/>
          </a:p>
        </p:txBody>
      </p:sp>
      <p:sp>
        <p:nvSpPr>
          <p:cNvPr id="21" name="Text 19"/>
          <p:cNvSpPr/>
          <p:nvPr/>
        </p:nvSpPr>
        <p:spPr>
          <a:xfrm>
            <a:off x="4572000" y="2377440"/>
            <a:ext cx="3200400" cy="320040"/>
          </a:xfrm>
          <a:prstGeom prst="rect">
            <a:avLst/>
          </a:prstGeom>
          <a:noFill/>
          <a:ln/>
        </p:spPr>
        <p:txBody>
          <a:bodyPr wrap="square" rtlCol="0" anchor="ctr"/>
          <a:lstStyle/>
          <a:p>
            <a:pPr marL="0" indent="0">
              <a:buNone/>
            </a:pPr>
            <a:r>
              <a:rPr lang="en-US" sz="1000" dirty="0">
                <a:solidFill>
                  <a:srgbClr val="F85149"/>
                </a:solidFill>
                <a:latin typeface="Consolas" pitchFamily="34" charset="0"/>
                <a:ea typeface="Consolas" pitchFamily="34" charset="-122"/>
                <a:cs typeface="Consolas" pitchFamily="34" charset="-120"/>
              </a:rPr>
              <a:t>⚠ public + restricted chunks</a:t>
            </a:r>
            <a:endParaRPr lang="en-US" sz="1000" dirty="0"/>
          </a:p>
        </p:txBody>
      </p:sp>
      <p:sp>
        <p:nvSpPr>
          <p:cNvPr id="22" name="Shape 20"/>
          <p:cNvSpPr/>
          <p:nvPr/>
        </p:nvSpPr>
        <p:spPr>
          <a:xfrm>
            <a:off x="2400300" y="2945130"/>
            <a:ext cx="2011680" cy="365760"/>
          </a:xfrm>
          <a:prstGeom prst="roundRect">
            <a:avLst>
              <a:gd name="adj" fmla="val 10000"/>
            </a:avLst>
          </a:prstGeom>
          <a:solidFill>
            <a:srgbClr val="0B1A0B"/>
          </a:solidFill>
          <a:ln w="9525">
            <a:solidFill>
              <a:srgbClr val="3FB950"/>
            </a:solidFill>
            <a:prstDash val="solid"/>
          </a:ln>
        </p:spPr>
        <p:txBody>
          <a:bodyPr/>
          <a:lstStyle/>
          <a:p>
            <a:endParaRPr lang="en-GB"/>
          </a:p>
        </p:txBody>
      </p:sp>
      <p:sp>
        <p:nvSpPr>
          <p:cNvPr id="23" name="Text 21"/>
          <p:cNvSpPr/>
          <p:nvPr/>
        </p:nvSpPr>
        <p:spPr>
          <a:xfrm>
            <a:off x="2400300" y="2945130"/>
            <a:ext cx="2011680" cy="365760"/>
          </a:xfrm>
          <a:prstGeom prst="rect">
            <a:avLst/>
          </a:prstGeom>
          <a:noFill/>
          <a:ln/>
        </p:spPr>
        <p:txBody>
          <a:bodyPr wrap="square" rtlCol="0" anchor="ctr"/>
          <a:lstStyle/>
          <a:p>
            <a:pPr marL="0" indent="0" algn="ctr">
              <a:buNone/>
            </a:pPr>
            <a:r>
              <a:rPr lang="en-US" sz="1000" dirty="0">
                <a:solidFill>
                  <a:srgbClr val="3FB950"/>
                </a:solidFill>
                <a:latin typeface="Consolas" pitchFamily="34" charset="0"/>
                <a:ea typeface="Consolas" pitchFamily="34" charset="-122"/>
                <a:cs typeface="Consolas" pitchFamily="34" charset="-120"/>
              </a:rPr>
              <a:t>Candidate filtering</a:t>
            </a:r>
            <a:endParaRPr lang="en-US" sz="1000" dirty="0"/>
          </a:p>
        </p:txBody>
      </p:sp>
      <p:sp>
        <p:nvSpPr>
          <p:cNvPr id="24" name="Shape 22"/>
          <p:cNvSpPr/>
          <p:nvPr/>
        </p:nvSpPr>
        <p:spPr>
          <a:xfrm>
            <a:off x="4739640" y="2945130"/>
            <a:ext cx="2011680" cy="365760"/>
          </a:xfrm>
          <a:prstGeom prst="roundRect">
            <a:avLst>
              <a:gd name="adj" fmla="val 10000"/>
            </a:avLst>
          </a:prstGeom>
          <a:solidFill>
            <a:srgbClr val="0B1A0B"/>
          </a:solidFill>
          <a:ln w="9525">
            <a:solidFill>
              <a:srgbClr val="3FB950"/>
            </a:solidFill>
            <a:prstDash val="solid"/>
          </a:ln>
        </p:spPr>
        <p:txBody>
          <a:bodyPr/>
          <a:lstStyle/>
          <a:p>
            <a:endParaRPr lang="en-GB"/>
          </a:p>
        </p:txBody>
      </p:sp>
      <p:sp>
        <p:nvSpPr>
          <p:cNvPr id="25" name="Text 23"/>
          <p:cNvSpPr/>
          <p:nvPr/>
        </p:nvSpPr>
        <p:spPr>
          <a:xfrm>
            <a:off x="4739640" y="2945130"/>
            <a:ext cx="2011680" cy="365760"/>
          </a:xfrm>
          <a:prstGeom prst="rect">
            <a:avLst/>
          </a:prstGeom>
          <a:noFill/>
          <a:ln/>
        </p:spPr>
        <p:txBody>
          <a:bodyPr wrap="square" rtlCol="0" anchor="ctr"/>
          <a:lstStyle/>
          <a:p>
            <a:pPr marL="0" indent="0" algn="ctr">
              <a:buNone/>
            </a:pPr>
            <a:r>
              <a:rPr lang="en-US" sz="1000" dirty="0">
                <a:solidFill>
                  <a:srgbClr val="3FB950"/>
                </a:solidFill>
                <a:latin typeface="Consolas" pitchFamily="34" charset="0"/>
                <a:ea typeface="Consolas" pitchFamily="34" charset="-122"/>
                <a:cs typeface="Consolas" pitchFamily="34" charset="-120"/>
              </a:rPr>
              <a:t>Reranker-safe metadata</a:t>
            </a:r>
            <a:endParaRPr lang="en-US" sz="1000" dirty="0"/>
          </a:p>
        </p:txBody>
      </p:sp>
      <p:sp>
        <p:nvSpPr>
          <p:cNvPr id="26" name="Shape 24"/>
          <p:cNvSpPr/>
          <p:nvPr/>
        </p:nvSpPr>
        <p:spPr>
          <a:xfrm>
            <a:off x="6998970" y="2932938"/>
            <a:ext cx="2011680" cy="365760"/>
          </a:xfrm>
          <a:prstGeom prst="roundRect">
            <a:avLst>
              <a:gd name="adj" fmla="val 10000"/>
            </a:avLst>
          </a:prstGeom>
          <a:solidFill>
            <a:srgbClr val="0B1A0B"/>
          </a:solidFill>
          <a:ln w="9525">
            <a:solidFill>
              <a:srgbClr val="3FB950"/>
            </a:solidFill>
            <a:prstDash val="solid"/>
          </a:ln>
        </p:spPr>
        <p:txBody>
          <a:bodyPr/>
          <a:lstStyle/>
          <a:p>
            <a:endParaRPr lang="en-GB"/>
          </a:p>
        </p:txBody>
      </p:sp>
      <p:sp>
        <p:nvSpPr>
          <p:cNvPr id="27" name="Text 25"/>
          <p:cNvSpPr/>
          <p:nvPr/>
        </p:nvSpPr>
        <p:spPr>
          <a:xfrm>
            <a:off x="6998970" y="2932938"/>
            <a:ext cx="2011680" cy="365760"/>
          </a:xfrm>
          <a:prstGeom prst="rect">
            <a:avLst/>
          </a:prstGeom>
          <a:noFill/>
          <a:ln/>
        </p:spPr>
        <p:txBody>
          <a:bodyPr wrap="square" rtlCol="0" anchor="ctr"/>
          <a:lstStyle/>
          <a:p>
            <a:pPr marL="0" indent="0" algn="ctr">
              <a:buNone/>
            </a:pPr>
            <a:r>
              <a:rPr lang="en-US" sz="1000" dirty="0">
                <a:solidFill>
                  <a:srgbClr val="3FB950"/>
                </a:solidFill>
                <a:latin typeface="Consolas" pitchFamily="34" charset="0"/>
                <a:ea typeface="Consolas" pitchFamily="34" charset="-122"/>
                <a:cs typeface="Consolas" pitchFamily="34" charset="-120"/>
              </a:rPr>
              <a:t>Context authorization</a:t>
            </a:r>
            <a:endParaRPr lang="en-US" sz="1000" dirty="0"/>
          </a:p>
        </p:txBody>
      </p:sp>
      <p:sp>
        <p:nvSpPr>
          <p:cNvPr id="28" name="Shape 26"/>
          <p:cNvSpPr/>
          <p:nvPr/>
        </p:nvSpPr>
        <p:spPr>
          <a:xfrm>
            <a:off x="9258300" y="2926080"/>
            <a:ext cx="2011680" cy="365760"/>
          </a:xfrm>
          <a:prstGeom prst="roundRect">
            <a:avLst>
              <a:gd name="adj" fmla="val 10000"/>
            </a:avLst>
          </a:prstGeom>
          <a:solidFill>
            <a:srgbClr val="0B1A0B"/>
          </a:solidFill>
          <a:ln w="9525">
            <a:solidFill>
              <a:srgbClr val="3FB950"/>
            </a:solidFill>
            <a:prstDash val="solid"/>
          </a:ln>
        </p:spPr>
        <p:txBody>
          <a:bodyPr/>
          <a:lstStyle/>
          <a:p>
            <a:endParaRPr lang="en-GB"/>
          </a:p>
        </p:txBody>
      </p:sp>
      <p:sp>
        <p:nvSpPr>
          <p:cNvPr id="29" name="Text 27"/>
          <p:cNvSpPr/>
          <p:nvPr/>
        </p:nvSpPr>
        <p:spPr>
          <a:xfrm>
            <a:off x="9258300" y="2926080"/>
            <a:ext cx="2011680" cy="365760"/>
          </a:xfrm>
          <a:prstGeom prst="rect">
            <a:avLst/>
          </a:prstGeom>
          <a:noFill/>
          <a:ln/>
        </p:spPr>
        <p:txBody>
          <a:bodyPr wrap="square" rtlCol="0" anchor="ctr"/>
          <a:lstStyle/>
          <a:p>
            <a:pPr marL="0" indent="0" algn="ctr">
              <a:buNone/>
            </a:pPr>
            <a:r>
              <a:rPr lang="en-US" sz="1000" dirty="0">
                <a:solidFill>
                  <a:srgbClr val="3FB950"/>
                </a:solidFill>
                <a:latin typeface="Consolas" pitchFamily="34" charset="0"/>
                <a:ea typeface="Consolas" pitchFamily="34" charset="-122"/>
                <a:cs typeface="Consolas" pitchFamily="34" charset="-120"/>
              </a:rPr>
              <a:t>Trace minimization</a:t>
            </a:r>
            <a:endParaRPr lang="en-US" sz="1000" dirty="0"/>
          </a:p>
        </p:txBody>
      </p:sp>
      <p:sp>
        <p:nvSpPr>
          <p:cNvPr id="30" name="Text 28"/>
          <p:cNvSpPr/>
          <p:nvPr/>
        </p:nvSpPr>
        <p:spPr>
          <a:xfrm>
            <a:off x="914400" y="3566160"/>
            <a:ext cx="10360152" cy="1828800"/>
          </a:xfrm>
          <a:prstGeom prst="rect">
            <a:avLst/>
          </a:prstGeom>
          <a:noFill/>
          <a:ln/>
        </p:spPr>
        <p:txBody>
          <a:bodyPr wrap="square" rtlCol="0" anchor="t"/>
          <a:lstStyle/>
          <a:p>
            <a:pPr marL="342900" indent="-342900">
              <a:lnSpc>
                <a:spcPct val="135000"/>
              </a:lnSpc>
              <a:spcBef>
                <a:spcPts val="400"/>
              </a:spcBef>
              <a:buSzPct val="100000"/>
              <a:buChar char="•"/>
            </a:pPr>
            <a:r>
              <a:rPr lang="en-US" sz="1300" dirty="0">
                <a:solidFill>
                  <a:srgbClr val="E6EDF3"/>
                </a:solidFill>
                <a:latin typeface="Segoe UI" pitchFamily="34" charset="0"/>
                <a:ea typeface="Segoe UI" pitchFamily="34" charset="-122"/>
                <a:cs typeface="Segoe UI" pitchFamily="34" charset="-120"/>
              </a:rPr>
              <a:t>Common RAG leak: authorization failure, not model failure</a:t>
            </a:r>
            <a:endParaRPr lang="en-US" sz="1300" dirty="0"/>
          </a:p>
          <a:p>
            <a:pPr marL="342900" indent="-342900">
              <a:lnSpc>
                <a:spcPct val="135000"/>
              </a:lnSpc>
              <a:spcBef>
                <a:spcPts val="400"/>
              </a:spcBef>
              <a:buSzPct val="100000"/>
              <a:buChar char="•"/>
            </a:pPr>
            <a:r>
              <a:rPr lang="en-US" sz="1300" dirty="0">
                <a:solidFill>
                  <a:srgbClr val="E6EDF3"/>
                </a:solidFill>
                <a:latin typeface="Segoe UI" pitchFamily="34" charset="0"/>
                <a:ea typeface="Segoe UI" pitchFamily="34" charset="-122"/>
                <a:cs typeface="Segoe UI" pitchFamily="34" charset="-120"/>
              </a:rPr>
              <a:t>Semantic similarity doesn't understand roles, tenants, or workflow state</a:t>
            </a:r>
            <a:endParaRPr lang="en-US" sz="1300" dirty="0"/>
          </a:p>
          <a:p>
            <a:pPr marL="342900" indent="-342900">
              <a:lnSpc>
                <a:spcPct val="135000"/>
              </a:lnSpc>
              <a:spcBef>
                <a:spcPts val="400"/>
              </a:spcBef>
              <a:buSzPct val="100000"/>
              <a:buChar char="•"/>
            </a:pPr>
            <a:r>
              <a:rPr lang="en-US" sz="1300" dirty="0">
                <a:solidFill>
                  <a:srgbClr val="E6EDF3"/>
                </a:solidFill>
                <a:latin typeface="Segoe UI" pitchFamily="34" charset="0"/>
                <a:ea typeface="Segoe UI" pitchFamily="34" charset="-122"/>
                <a:cs typeface="Segoe UI" pitchFamily="34" charset="-120"/>
              </a:rPr>
              <a:t>If the internal playbook reaches the prompt, the model will summarize it</a:t>
            </a:r>
            <a:endParaRPr lang="en-US" sz="1300" dirty="0"/>
          </a:p>
          <a:p>
            <a:pPr marL="342900" indent="-342900">
              <a:lnSpc>
                <a:spcPct val="135000"/>
              </a:lnSpc>
              <a:spcBef>
                <a:spcPts val="400"/>
              </a:spcBef>
              <a:buSzPct val="100000"/>
              <a:buChar char="•"/>
            </a:pPr>
            <a:r>
              <a:rPr lang="en-US" sz="1300" b="1" dirty="0">
                <a:solidFill>
                  <a:srgbClr val="D29922"/>
                </a:solidFill>
                <a:latin typeface="Segoe UI" pitchFamily="34" charset="0"/>
                <a:ea typeface="Segoe UI" pitchFamily="34" charset="-122"/>
                <a:cs typeface="Segoe UI" pitchFamily="34" charset="-120"/>
              </a:rPr>
              <a:t>This is broken object-level authorization — the object is a retrieved chunk</a:t>
            </a:r>
            <a:endParaRPr lang="en-US" sz="1300" dirty="0"/>
          </a:p>
        </p:txBody>
      </p:sp>
      <p:sp>
        <p:nvSpPr>
          <p:cNvPr id="31" name="Shape 29"/>
          <p:cNvSpPr/>
          <p:nvPr/>
        </p:nvSpPr>
        <p:spPr>
          <a:xfrm>
            <a:off x="731520" y="5669280"/>
            <a:ext cx="54864" cy="411480"/>
          </a:xfrm>
          <a:prstGeom prst="rect">
            <a:avLst/>
          </a:prstGeom>
          <a:solidFill>
            <a:srgbClr val="3FB950"/>
          </a:solidFill>
          <a:ln/>
        </p:spPr>
        <p:txBody>
          <a:bodyPr/>
          <a:lstStyle/>
          <a:p>
            <a:endParaRPr lang="en-GB"/>
          </a:p>
        </p:txBody>
      </p:sp>
      <p:sp>
        <p:nvSpPr>
          <p:cNvPr id="32" name="Text 30"/>
          <p:cNvSpPr/>
          <p:nvPr/>
        </p:nvSpPr>
        <p:spPr>
          <a:xfrm>
            <a:off x="960120" y="5669280"/>
            <a:ext cx="10497312" cy="411480"/>
          </a:xfrm>
          <a:prstGeom prst="rect">
            <a:avLst/>
          </a:prstGeom>
          <a:noFill/>
          <a:ln/>
        </p:spPr>
        <p:txBody>
          <a:bodyPr wrap="square" rtlCol="0" anchor="ctr"/>
          <a:lstStyle/>
          <a:p>
            <a:pPr marL="0" indent="0">
              <a:buNone/>
            </a:pPr>
            <a:r>
              <a:rPr lang="en-US" sz="1400" b="1" i="1" dirty="0">
                <a:solidFill>
                  <a:srgbClr val="3FB950"/>
                </a:solidFill>
                <a:latin typeface="Segoe UI" pitchFamily="34" charset="0"/>
                <a:ea typeface="Segoe UI" pitchFamily="34" charset="-122"/>
                <a:cs typeface="Segoe UI" pitchFamily="34" charset="-120"/>
              </a:rPr>
              <a:t>Authorization must shape candidate retrieval, reranking, context assembly, and generation.</a:t>
            </a:r>
            <a:endParaRPr lang="en-US" sz="1400" dirty="0"/>
          </a:p>
        </p:txBody>
      </p:sp>
      <p:sp>
        <p:nvSpPr>
          <p:cNvPr id="33" name="Text 31"/>
          <p:cNvSpPr/>
          <p:nvPr/>
        </p:nvSpPr>
        <p:spPr>
          <a:xfrm>
            <a:off x="8686800" y="6263640"/>
            <a:ext cx="2926080" cy="228600"/>
          </a:xfrm>
          <a:prstGeom prst="rect">
            <a:avLst/>
          </a:prstGeom>
          <a:noFill/>
          <a:ln/>
        </p:spPr>
        <p:txBody>
          <a:bodyPr wrap="square"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OWASP LLM08:2025</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274320"/>
          </a:xfrm>
          <a:prstGeom prst="rect">
            <a:avLst/>
          </a:prstGeom>
          <a:noFill/>
          <a:ln/>
        </p:spPr>
        <p:txBody>
          <a:bodyPr wrap="square" rtlCol="0" anchor="ctr"/>
          <a:lstStyle/>
          <a:p>
            <a:pPr marL="0" indent="0">
              <a:buNone/>
            </a:pPr>
            <a:r>
              <a:rPr lang="en-US" sz="1100" dirty="0">
                <a:solidFill>
                  <a:srgbClr val="8B949E"/>
                </a:solidFill>
                <a:latin typeface="Consolas" pitchFamily="34" charset="0"/>
                <a:ea typeface="Consolas" pitchFamily="34" charset="-122"/>
                <a:cs typeface="Consolas" pitchFamily="34" charset="-120"/>
              </a:rPr>
              <a:t>Stage 2 · Injection</a:t>
            </a:r>
            <a:endParaRPr lang="en-US" sz="1100" dirty="0"/>
          </a:p>
        </p:txBody>
      </p:sp>
      <p:sp>
        <p:nvSpPr>
          <p:cNvPr id="3" name="Text 1"/>
          <p:cNvSpPr/>
          <p:nvPr/>
        </p:nvSpPr>
        <p:spPr>
          <a:xfrm>
            <a:off x="548640" y="594360"/>
            <a:ext cx="11091672" cy="502920"/>
          </a:xfrm>
          <a:prstGeom prst="rect">
            <a:avLst/>
          </a:prstGeom>
          <a:noFill/>
          <a:ln/>
        </p:spPr>
        <p:txBody>
          <a:bodyPr wrap="square" rtlCol="0" anchor="ctr"/>
          <a:lstStyle/>
          <a:p>
            <a:pPr marL="0" indent="0">
              <a:buNone/>
            </a:pPr>
            <a:r>
              <a:rPr lang="en-US" sz="2400" dirty="0">
                <a:solidFill>
                  <a:srgbClr val="8B949E"/>
                </a:solidFill>
                <a:latin typeface="Consolas" pitchFamily="34" charset="0"/>
                <a:ea typeface="Consolas" pitchFamily="34" charset="-122"/>
                <a:cs typeface="Consolas" pitchFamily="34" charset="-120"/>
              </a:rPr>
              <a:t>&gt; </a:t>
            </a:r>
            <a:r>
              <a:rPr lang="en-US" sz="2200" b="1" dirty="0">
                <a:solidFill>
                  <a:srgbClr val="58A6FF"/>
                </a:solidFill>
                <a:latin typeface="Consolas" pitchFamily="34" charset="0"/>
                <a:ea typeface="Consolas" pitchFamily="34" charset="-122"/>
                <a:cs typeface="Consolas" pitchFamily="34" charset="-120"/>
              </a:rPr>
              <a:t>Is this a content or instructions?</a:t>
            </a:r>
            <a:endParaRPr lang="en-US" sz="2400" dirty="0"/>
          </a:p>
        </p:txBody>
      </p:sp>
      <p:sp>
        <p:nvSpPr>
          <p:cNvPr id="4" name="Shape 2"/>
          <p:cNvSpPr/>
          <p:nvPr/>
        </p:nvSpPr>
        <p:spPr>
          <a:xfrm>
            <a:off x="548640" y="1143000"/>
            <a:ext cx="11091672" cy="13716"/>
          </a:xfrm>
          <a:prstGeom prst="rect">
            <a:avLst/>
          </a:prstGeom>
          <a:solidFill>
            <a:srgbClr val="30363D"/>
          </a:solidFill>
          <a:ln/>
        </p:spPr>
        <p:txBody>
          <a:bodyPr/>
          <a:lstStyle/>
          <a:p>
            <a:endParaRPr lang="en-GB"/>
          </a:p>
        </p:txBody>
      </p:sp>
      <p:sp>
        <p:nvSpPr>
          <p:cNvPr id="5" name="Text 3"/>
          <p:cNvSpPr/>
          <p:nvPr/>
        </p:nvSpPr>
        <p:spPr>
          <a:xfrm>
            <a:off x="10972800" y="6446520"/>
            <a:ext cx="731520" cy="274320"/>
          </a:xfrm>
          <a:prstGeom prst="rect">
            <a:avLst/>
          </a:prstGeom>
          <a:noFill/>
          <a:ln/>
        </p:spPr>
        <p:txBody>
          <a:bodyPr wrap="square" rtlCol="0" anchor="ctr"/>
          <a:lstStyle/>
          <a:p>
            <a:pPr marL="0" indent="0" algn="r">
              <a:buNone/>
            </a:pPr>
            <a:r>
              <a:rPr lang="en-US" sz="1000" dirty="0">
                <a:solidFill>
                  <a:srgbClr val="8B949E"/>
                </a:solidFill>
                <a:latin typeface="Consolas" pitchFamily="34" charset="0"/>
                <a:ea typeface="Consolas" pitchFamily="34" charset="-122"/>
                <a:cs typeface="Consolas" pitchFamily="34" charset="-120"/>
              </a:rPr>
              <a:t>16</a:t>
            </a:r>
            <a:endParaRPr lang="en-US" sz="1000" dirty="0"/>
          </a:p>
        </p:txBody>
      </p:sp>
      <p:sp>
        <p:nvSpPr>
          <p:cNvPr id="6" name="Shape 4"/>
          <p:cNvSpPr/>
          <p:nvPr/>
        </p:nvSpPr>
        <p:spPr>
          <a:xfrm>
            <a:off x="548640" y="1325880"/>
            <a:ext cx="11091672" cy="5074920"/>
          </a:xfrm>
          <a:prstGeom prst="roundRect">
            <a:avLst>
              <a:gd name="adj" fmla="val 2162"/>
            </a:avLst>
          </a:prstGeom>
          <a:solidFill>
            <a:srgbClr val="161B22"/>
          </a:solidFill>
          <a:ln w="9525">
            <a:solidFill>
              <a:srgbClr val="30363D"/>
            </a:solidFill>
            <a:prstDash val="solid"/>
          </a:ln>
        </p:spPr>
        <p:txBody>
          <a:bodyPr/>
          <a:lstStyle/>
          <a:p>
            <a:endParaRPr lang="en-GB"/>
          </a:p>
        </p:txBody>
      </p:sp>
      <p:sp>
        <p:nvSpPr>
          <p:cNvPr id="7" name="Shape 5"/>
          <p:cNvSpPr/>
          <p:nvPr/>
        </p:nvSpPr>
        <p:spPr>
          <a:xfrm>
            <a:off x="914400" y="1645920"/>
            <a:ext cx="1498092"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8" name="Text 6"/>
          <p:cNvSpPr/>
          <p:nvPr/>
        </p:nvSpPr>
        <p:spPr>
          <a:xfrm>
            <a:off x="914400" y="1645920"/>
            <a:ext cx="1498092" cy="502920"/>
          </a:xfrm>
          <a:prstGeom prst="rect">
            <a:avLst/>
          </a:prstGeom>
          <a:noFill/>
          <a:ln/>
        </p:spPr>
        <p:txBody>
          <a:bodyPr wrap="square" rtlCol="0" anchor="ctr"/>
          <a:lstStyle/>
          <a:p>
            <a:pPr marL="0" indent="0" algn="ctr">
              <a:buNone/>
            </a:pPr>
            <a:r>
              <a:rPr lang="en-US" sz="1100" b="1" dirty="0">
                <a:solidFill>
                  <a:srgbClr val="E6EDF3"/>
                </a:solidFill>
                <a:latin typeface="Segoe UI" pitchFamily="34" charset="0"/>
                <a:ea typeface="Segoe UI" pitchFamily="34" charset="-122"/>
                <a:cs typeface="Segoe UI" pitchFamily="34" charset="-120"/>
              </a:rPr>
              <a:t>Attacker Doc</a:t>
            </a:r>
            <a:endParaRPr lang="en-US" sz="1100" dirty="0"/>
          </a:p>
        </p:txBody>
      </p:sp>
      <p:sp>
        <p:nvSpPr>
          <p:cNvPr id="9" name="Text 7"/>
          <p:cNvSpPr/>
          <p:nvPr/>
        </p:nvSpPr>
        <p:spPr>
          <a:xfrm>
            <a:off x="2412492" y="1645920"/>
            <a:ext cx="274320" cy="502920"/>
          </a:xfrm>
          <a:prstGeom prst="rect">
            <a:avLst/>
          </a:prstGeom>
          <a:noFill/>
          <a:ln/>
        </p:spPr>
        <p:txBody>
          <a:bodyPr wrap="square" rtlCol="0" anchor="ctr"/>
          <a:lstStyle/>
          <a:p>
            <a:pPr marL="0" indent="0" algn="ctr">
              <a:buNone/>
            </a:pPr>
            <a:r>
              <a:rPr lang="en-US" sz="1600" dirty="0">
                <a:solidFill>
                  <a:srgbClr val="F85149"/>
                </a:solidFill>
                <a:latin typeface="Segoe UI" pitchFamily="34" charset="0"/>
                <a:ea typeface="Segoe UI" pitchFamily="34" charset="-122"/>
                <a:cs typeface="Segoe UI" pitchFamily="34" charset="-120"/>
              </a:rPr>
              <a:t>→</a:t>
            </a:r>
            <a:endParaRPr lang="en-US" sz="1600" dirty="0"/>
          </a:p>
        </p:txBody>
      </p:sp>
      <p:sp>
        <p:nvSpPr>
          <p:cNvPr id="10" name="Shape 8"/>
          <p:cNvSpPr/>
          <p:nvPr/>
        </p:nvSpPr>
        <p:spPr>
          <a:xfrm>
            <a:off x="2686812" y="1645920"/>
            <a:ext cx="1498092"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1" name="Text 9"/>
          <p:cNvSpPr/>
          <p:nvPr/>
        </p:nvSpPr>
        <p:spPr>
          <a:xfrm>
            <a:off x="2686812" y="1645920"/>
            <a:ext cx="1498092" cy="502920"/>
          </a:xfrm>
          <a:prstGeom prst="rect">
            <a:avLst/>
          </a:prstGeom>
          <a:noFill/>
          <a:ln/>
        </p:spPr>
        <p:txBody>
          <a:bodyPr wrap="square" rtlCol="0" anchor="ctr"/>
          <a:lstStyle/>
          <a:p>
            <a:pPr marL="0" indent="0" algn="ctr">
              <a:buNone/>
            </a:pPr>
            <a:r>
              <a:rPr lang="en-US" sz="1100" b="1" dirty="0">
                <a:solidFill>
                  <a:srgbClr val="E6EDF3"/>
                </a:solidFill>
                <a:latin typeface="Segoe UI" pitchFamily="34" charset="0"/>
                <a:ea typeface="Segoe UI" pitchFamily="34" charset="-122"/>
                <a:cs typeface="Segoe UI" pitchFamily="34" charset="-120"/>
              </a:rPr>
              <a:t>Ingestion</a:t>
            </a:r>
            <a:endParaRPr lang="en-US" sz="1100" dirty="0"/>
          </a:p>
        </p:txBody>
      </p:sp>
      <p:sp>
        <p:nvSpPr>
          <p:cNvPr id="12" name="Text 10"/>
          <p:cNvSpPr/>
          <p:nvPr/>
        </p:nvSpPr>
        <p:spPr>
          <a:xfrm>
            <a:off x="4184904" y="1645920"/>
            <a:ext cx="274320" cy="502920"/>
          </a:xfrm>
          <a:prstGeom prst="rect">
            <a:avLst/>
          </a:prstGeom>
          <a:noFill/>
          <a:ln/>
        </p:spPr>
        <p:txBody>
          <a:bodyPr wrap="square" rtlCol="0" anchor="ctr"/>
          <a:lstStyle/>
          <a:p>
            <a:pPr marL="0" indent="0" algn="ctr">
              <a:buNone/>
            </a:pPr>
            <a:r>
              <a:rPr lang="en-US" sz="1600" dirty="0">
                <a:solidFill>
                  <a:srgbClr val="F85149"/>
                </a:solidFill>
                <a:latin typeface="Segoe UI" pitchFamily="34" charset="0"/>
                <a:ea typeface="Segoe UI" pitchFamily="34" charset="-122"/>
                <a:cs typeface="Segoe UI" pitchFamily="34" charset="-120"/>
              </a:rPr>
              <a:t>→</a:t>
            </a:r>
            <a:endParaRPr lang="en-US" sz="1600" dirty="0"/>
          </a:p>
        </p:txBody>
      </p:sp>
      <p:sp>
        <p:nvSpPr>
          <p:cNvPr id="13" name="Shape 11"/>
          <p:cNvSpPr/>
          <p:nvPr/>
        </p:nvSpPr>
        <p:spPr>
          <a:xfrm>
            <a:off x="4459224" y="1645920"/>
            <a:ext cx="1498092"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4" name="Text 12"/>
          <p:cNvSpPr/>
          <p:nvPr/>
        </p:nvSpPr>
        <p:spPr>
          <a:xfrm>
            <a:off x="4459224" y="1645920"/>
            <a:ext cx="1498092" cy="502920"/>
          </a:xfrm>
          <a:prstGeom prst="rect">
            <a:avLst/>
          </a:prstGeom>
          <a:noFill/>
          <a:ln/>
        </p:spPr>
        <p:txBody>
          <a:bodyPr wrap="square" rtlCol="0" anchor="ctr"/>
          <a:lstStyle/>
          <a:p>
            <a:pPr marL="0" indent="0" algn="ctr">
              <a:buNone/>
            </a:pPr>
            <a:r>
              <a:rPr lang="en-US" sz="1100" b="1" dirty="0">
                <a:solidFill>
                  <a:srgbClr val="E6EDF3"/>
                </a:solidFill>
                <a:latin typeface="Segoe UI" pitchFamily="34" charset="0"/>
                <a:ea typeface="Segoe UI" pitchFamily="34" charset="-122"/>
                <a:cs typeface="Segoe UI" pitchFamily="34" charset="-120"/>
              </a:rPr>
              <a:t>Index</a:t>
            </a:r>
            <a:endParaRPr lang="en-US" sz="1100" dirty="0"/>
          </a:p>
        </p:txBody>
      </p:sp>
      <p:sp>
        <p:nvSpPr>
          <p:cNvPr id="15" name="Text 13"/>
          <p:cNvSpPr/>
          <p:nvPr/>
        </p:nvSpPr>
        <p:spPr>
          <a:xfrm>
            <a:off x="5957316" y="1645920"/>
            <a:ext cx="274320" cy="502920"/>
          </a:xfrm>
          <a:prstGeom prst="rect">
            <a:avLst/>
          </a:prstGeom>
          <a:noFill/>
          <a:ln/>
        </p:spPr>
        <p:txBody>
          <a:bodyPr wrap="square" rtlCol="0" anchor="ctr"/>
          <a:lstStyle/>
          <a:p>
            <a:pPr marL="0" indent="0" algn="ctr">
              <a:buNone/>
            </a:pPr>
            <a:r>
              <a:rPr lang="en-US" sz="1600" dirty="0">
                <a:solidFill>
                  <a:srgbClr val="F85149"/>
                </a:solidFill>
                <a:latin typeface="Segoe UI" pitchFamily="34" charset="0"/>
                <a:ea typeface="Segoe UI" pitchFamily="34" charset="-122"/>
                <a:cs typeface="Segoe UI" pitchFamily="34" charset="-120"/>
              </a:rPr>
              <a:t>→</a:t>
            </a:r>
            <a:endParaRPr lang="en-US" sz="1600" dirty="0"/>
          </a:p>
        </p:txBody>
      </p:sp>
      <p:sp>
        <p:nvSpPr>
          <p:cNvPr id="16" name="Shape 14"/>
          <p:cNvSpPr/>
          <p:nvPr/>
        </p:nvSpPr>
        <p:spPr>
          <a:xfrm>
            <a:off x="6231636" y="1645920"/>
            <a:ext cx="1498092"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7" name="Text 15"/>
          <p:cNvSpPr/>
          <p:nvPr/>
        </p:nvSpPr>
        <p:spPr>
          <a:xfrm>
            <a:off x="6231636" y="1645920"/>
            <a:ext cx="1498092" cy="502920"/>
          </a:xfrm>
          <a:prstGeom prst="rect">
            <a:avLst/>
          </a:prstGeom>
          <a:noFill/>
          <a:ln/>
        </p:spPr>
        <p:txBody>
          <a:bodyPr wrap="square" rtlCol="0" anchor="ctr"/>
          <a:lstStyle/>
          <a:p>
            <a:pPr marL="0" indent="0" algn="ctr">
              <a:buNone/>
            </a:pPr>
            <a:r>
              <a:rPr lang="en-US" sz="1100" b="1" dirty="0">
                <a:solidFill>
                  <a:srgbClr val="E6EDF3"/>
                </a:solidFill>
                <a:latin typeface="Segoe UI" pitchFamily="34" charset="0"/>
                <a:ea typeface="Segoe UI" pitchFamily="34" charset="-122"/>
                <a:cs typeface="Segoe UI" pitchFamily="34" charset="-120"/>
              </a:rPr>
              <a:t>Retrieval</a:t>
            </a:r>
            <a:endParaRPr lang="en-US" sz="1100" dirty="0"/>
          </a:p>
        </p:txBody>
      </p:sp>
      <p:sp>
        <p:nvSpPr>
          <p:cNvPr id="18" name="Text 16"/>
          <p:cNvSpPr/>
          <p:nvPr/>
        </p:nvSpPr>
        <p:spPr>
          <a:xfrm>
            <a:off x="7729728" y="1645920"/>
            <a:ext cx="274320" cy="502920"/>
          </a:xfrm>
          <a:prstGeom prst="rect">
            <a:avLst/>
          </a:prstGeom>
          <a:noFill/>
          <a:ln/>
        </p:spPr>
        <p:txBody>
          <a:bodyPr wrap="square" rtlCol="0" anchor="ctr"/>
          <a:lstStyle/>
          <a:p>
            <a:pPr marL="0" indent="0" algn="ctr">
              <a:buNone/>
            </a:pPr>
            <a:r>
              <a:rPr lang="en-US" sz="1600" dirty="0">
                <a:solidFill>
                  <a:srgbClr val="F85149"/>
                </a:solidFill>
                <a:latin typeface="Segoe UI" pitchFamily="34" charset="0"/>
                <a:ea typeface="Segoe UI" pitchFamily="34" charset="-122"/>
                <a:cs typeface="Segoe UI" pitchFamily="34" charset="-120"/>
              </a:rPr>
              <a:t>→</a:t>
            </a:r>
            <a:endParaRPr lang="en-US" sz="1600" dirty="0"/>
          </a:p>
        </p:txBody>
      </p:sp>
      <p:sp>
        <p:nvSpPr>
          <p:cNvPr id="19" name="Shape 17"/>
          <p:cNvSpPr/>
          <p:nvPr/>
        </p:nvSpPr>
        <p:spPr>
          <a:xfrm>
            <a:off x="8004048" y="1645920"/>
            <a:ext cx="1498092"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20" name="Text 18"/>
          <p:cNvSpPr/>
          <p:nvPr/>
        </p:nvSpPr>
        <p:spPr>
          <a:xfrm>
            <a:off x="8004048" y="1645920"/>
            <a:ext cx="1498092" cy="502920"/>
          </a:xfrm>
          <a:prstGeom prst="rect">
            <a:avLst/>
          </a:prstGeom>
          <a:noFill/>
          <a:ln/>
        </p:spPr>
        <p:txBody>
          <a:bodyPr wrap="square" rtlCol="0" anchor="ctr"/>
          <a:lstStyle/>
          <a:p>
            <a:pPr marL="0" indent="0" algn="ctr">
              <a:buNone/>
            </a:pPr>
            <a:r>
              <a:rPr lang="en-US" sz="1100" b="1" dirty="0">
                <a:solidFill>
                  <a:srgbClr val="E6EDF3"/>
                </a:solidFill>
                <a:latin typeface="Segoe UI" pitchFamily="34" charset="0"/>
                <a:ea typeface="Segoe UI" pitchFamily="34" charset="-122"/>
                <a:cs typeface="Segoe UI" pitchFamily="34" charset="-120"/>
              </a:rPr>
              <a:t>Prompt Context</a:t>
            </a:r>
            <a:endParaRPr lang="en-US" sz="1100" dirty="0"/>
          </a:p>
        </p:txBody>
      </p:sp>
      <p:sp>
        <p:nvSpPr>
          <p:cNvPr id="21" name="Text 19"/>
          <p:cNvSpPr/>
          <p:nvPr/>
        </p:nvSpPr>
        <p:spPr>
          <a:xfrm>
            <a:off x="9502140" y="1645920"/>
            <a:ext cx="274320" cy="502920"/>
          </a:xfrm>
          <a:prstGeom prst="rect">
            <a:avLst/>
          </a:prstGeom>
          <a:noFill/>
          <a:ln/>
        </p:spPr>
        <p:txBody>
          <a:bodyPr wrap="square" rtlCol="0" anchor="ctr"/>
          <a:lstStyle/>
          <a:p>
            <a:pPr marL="0" indent="0" algn="ctr">
              <a:buNone/>
            </a:pPr>
            <a:r>
              <a:rPr lang="en-US" sz="1600" dirty="0">
                <a:solidFill>
                  <a:srgbClr val="F85149"/>
                </a:solidFill>
                <a:latin typeface="Segoe UI" pitchFamily="34" charset="0"/>
                <a:ea typeface="Segoe UI" pitchFamily="34" charset="-122"/>
                <a:cs typeface="Segoe UI" pitchFamily="34" charset="-120"/>
              </a:rPr>
              <a:t>→</a:t>
            </a:r>
            <a:endParaRPr lang="en-US" sz="1600" dirty="0"/>
          </a:p>
        </p:txBody>
      </p:sp>
      <p:sp>
        <p:nvSpPr>
          <p:cNvPr id="22" name="Shape 20"/>
          <p:cNvSpPr/>
          <p:nvPr/>
        </p:nvSpPr>
        <p:spPr>
          <a:xfrm>
            <a:off x="9776460" y="1645920"/>
            <a:ext cx="1498092"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23" name="Text 21"/>
          <p:cNvSpPr/>
          <p:nvPr/>
        </p:nvSpPr>
        <p:spPr>
          <a:xfrm>
            <a:off x="9776460" y="1645920"/>
            <a:ext cx="1498092" cy="502920"/>
          </a:xfrm>
          <a:prstGeom prst="rect">
            <a:avLst/>
          </a:prstGeom>
          <a:noFill/>
          <a:ln/>
        </p:spPr>
        <p:txBody>
          <a:bodyPr wrap="square" rtlCol="0" anchor="ctr"/>
          <a:lstStyle/>
          <a:p>
            <a:pPr marL="0" indent="0" algn="ctr">
              <a:buNone/>
            </a:pPr>
            <a:r>
              <a:rPr lang="en-US" sz="1100" b="1" dirty="0">
                <a:solidFill>
                  <a:srgbClr val="E6EDF3"/>
                </a:solidFill>
                <a:latin typeface="Segoe UI" pitchFamily="34" charset="0"/>
                <a:ea typeface="Segoe UI" pitchFamily="34" charset="-122"/>
                <a:cs typeface="Segoe UI" pitchFamily="34" charset="-120"/>
              </a:rPr>
              <a:t>Model Behavior</a:t>
            </a:r>
            <a:endParaRPr lang="en-US" sz="1100" dirty="0"/>
          </a:p>
        </p:txBody>
      </p:sp>
      <p:sp>
        <p:nvSpPr>
          <p:cNvPr id="24" name="Shape 22"/>
          <p:cNvSpPr/>
          <p:nvPr/>
        </p:nvSpPr>
        <p:spPr>
          <a:xfrm>
            <a:off x="4114800" y="2423160"/>
            <a:ext cx="4114800" cy="365760"/>
          </a:xfrm>
          <a:prstGeom prst="roundRect">
            <a:avLst>
              <a:gd name="adj" fmla="val 10000"/>
            </a:avLst>
          </a:prstGeom>
          <a:solidFill>
            <a:srgbClr val="161B22"/>
          </a:solidFill>
          <a:ln w="12700">
            <a:solidFill>
              <a:srgbClr val="F85149"/>
            </a:solidFill>
            <a:prstDash val="dash"/>
          </a:ln>
        </p:spPr>
        <p:txBody>
          <a:bodyPr/>
          <a:lstStyle/>
          <a:p>
            <a:endParaRPr lang="en-GB"/>
          </a:p>
        </p:txBody>
      </p:sp>
      <p:sp>
        <p:nvSpPr>
          <p:cNvPr id="25" name="Text 23"/>
          <p:cNvSpPr/>
          <p:nvPr/>
        </p:nvSpPr>
        <p:spPr>
          <a:xfrm>
            <a:off x="4114800" y="2423160"/>
            <a:ext cx="4114800" cy="365760"/>
          </a:xfrm>
          <a:prstGeom prst="rect">
            <a:avLst/>
          </a:prstGeom>
          <a:noFill/>
          <a:ln/>
        </p:spPr>
        <p:txBody>
          <a:bodyPr wrap="square" rtlCol="0" anchor="ctr"/>
          <a:lstStyle/>
          <a:p>
            <a:pPr marL="0" indent="0" algn="ctr">
              <a:buNone/>
            </a:pPr>
            <a:r>
              <a:rPr lang="en-US" sz="1200" b="1" dirty="0">
                <a:solidFill>
                  <a:srgbClr val="F85149"/>
                </a:solidFill>
                <a:latin typeface="Consolas" pitchFamily="34" charset="0"/>
                <a:ea typeface="Consolas" pitchFamily="34" charset="-122"/>
                <a:cs typeface="Consolas" pitchFamily="34" charset="-120"/>
              </a:rPr>
              <a:t>Retrieved text is data, not instruction</a:t>
            </a:r>
            <a:endParaRPr lang="en-US" sz="1200" dirty="0"/>
          </a:p>
        </p:txBody>
      </p:sp>
      <p:sp>
        <p:nvSpPr>
          <p:cNvPr id="26" name="Text 24"/>
          <p:cNvSpPr/>
          <p:nvPr/>
        </p:nvSpPr>
        <p:spPr>
          <a:xfrm>
            <a:off x="914400" y="3017520"/>
            <a:ext cx="10360152" cy="2377440"/>
          </a:xfrm>
          <a:prstGeom prst="rect">
            <a:avLst/>
          </a:prstGeom>
          <a:noFill/>
          <a:ln/>
        </p:spPr>
        <p:txBody>
          <a:bodyPr wrap="square" rtlCol="0" anchor="t"/>
          <a:lstStyle/>
          <a:p>
            <a:pPr marL="342900" indent="-342900">
              <a:lnSpc>
                <a:spcPct val="135000"/>
              </a:lnSpc>
              <a:spcBef>
                <a:spcPts val="400"/>
              </a:spcBef>
              <a:buSzPct val="100000"/>
              <a:buChar char="•"/>
            </a:pPr>
            <a:r>
              <a:rPr lang="en-US" sz="1300" dirty="0">
                <a:solidFill>
                  <a:srgbClr val="E6EDF3"/>
                </a:solidFill>
                <a:latin typeface="Segoe UI" pitchFamily="34" charset="0"/>
                <a:ea typeface="Segoe UI" pitchFamily="34" charset="-122"/>
                <a:cs typeface="Segoe UI" pitchFamily="34" charset="-120"/>
              </a:rPr>
              <a:t>In Stage 1, the instruction source was the user prompt</a:t>
            </a:r>
            <a:endParaRPr lang="en-US" sz="1300" dirty="0"/>
          </a:p>
          <a:p>
            <a:pPr marL="342900" indent="-342900">
              <a:lnSpc>
                <a:spcPct val="135000"/>
              </a:lnSpc>
              <a:spcBef>
                <a:spcPts val="400"/>
              </a:spcBef>
              <a:buSzPct val="100000"/>
              <a:buChar char="•"/>
            </a:pPr>
            <a:r>
              <a:rPr lang="en-US" sz="1300" dirty="0">
                <a:solidFill>
                  <a:srgbClr val="E6EDF3"/>
                </a:solidFill>
                <a:latin typeface="Segoe UI" pitchFamily="34" charset="0"/>
                <a:ea typeface="Segoe UI" pitchFamily="34" charset="-122"/>
                <a:cs typeface="Segoe UI" pitchFamily="34" charset="-120"/>
              </a:rPr>
              <a:t>In Stage 2, any retrieved content can influence model context</a:t>
            </a:r>
            <a:endParaRPr lang="en-US" sz="1300" dirty="0"/>
          </a:p>
          <a:p>
            <a:pPr marL="342900" indent="-342900">
              <a:lnSpc>
                <a:spcPct val="135000"/>
              </a:lnSpc>
              <a:spcBef>
                <a:spcPts val="400"/>
              </a:spcBef>
              <a:buSzPct val="100000"/>
              <a:buChar char="•"/>
            </a:pPr>
            <a:r>
              <a:rPr lang="en-US" sz="1300" dirty="0">
                <a:solidFill>
                  <a:srgbClr val="E6EDF3"/>
                </a:solidFill>
                <a:latin typeface="Segoe UI" pitchFamily="34" charset="0"/>
                <a:ea typeface="Segoe UI" pitchFamily="34" charset="-122"/>
                <a:cs typeface="Segoe UI" pitchFamily="34" charset="-120"/>
              </a:rPr>
              <a:t>Malicious documents can embed instructions: "ignore previous rules"</a:t>
            </a:r>
            <a:endParaRPr lang="en-US" sz="1300" dirty="0"/>
          </a:p>
          <a:p>
            <a:pPr marL="342900" indent="-342900">
              <a:lnSpc>
                <a:spcPct val="135000"/>
              </a:lnSpc>
              <a:spcBef>
                <a:spcPts val="400"/>
              </a:spcBef>
              <a:buSzPct val="100000"/>
              <a:buChar char="•"/>
            </a:pPr>
            <a:r>
              <a:rPr lang="en-US" sz="1300" dirty="0">
                <a:solidFill>
                  <a:srgbClr val="E6EDF3"/>
                </a:solidFill>
                <a:latin typeface="Segoe UI" pitchFamily="34" charset="0"/>
                <a:ea typeface="Segoe UI" pitchFamily="34" charset="-122"/>
                <a:cs typeface="Segoe UI" pitchFamily="34" charset="-120"/>
              </a:rPr>
              <a:t>Attackers don't need to attack the chat — they attack documents the bot retrieves</a:t>
            </a:r>
            <a:endParaRPr lang="en-US" sz="1300" dirty="0"/>
          </a:p>
          <a:p>
            <a:pPr marL="342900" indent="-342900">
              <a:lnSpc>
                <a:spcPct val="135000"/>
              </a:lnSpc>
              <a:spcBef>
                <a:spcPts val="400"/>
              </a:spcBef>
              <a:buSzPct val="100000"/>
              <a:buChar char="•"/>
            </a:pPr>
            <a:r>
              <a:rPr lang="en-US" sz="1300" b="1" dirty="0">
                <a:solidFill>
                  <a:srgbClr val="3FB950"/>
                </a:solidFill>
                <a:latin typeface="Segoe UI" pitchFamily="34" charset="0"/>
                <a:ea typeface="Segoe UI" pitchFamily="34" charset="-122"/>
                <a:cs typeface="Segoe UI" pitchFamily="34" charset="-120"/>
              </a:rPr>
              <a:t>Defense: treat retrieved content as untrusted evidence, not policy</a:t>
            </a:r>
            <a:endParaRPr lang="en-US" sz="1300" dirty="0"/>
          </a:p>
        </p:txBody>
      </p:sp>
      <p:sp>
        <p:nvSpPr>
          <p:cNvPr id="27" name="Shape 25"/>
          <p:cNvSpPr/>
          <p:nvPr/>
        </p:nvSpPr>
        <p:spPr>
          <a:xfrm>
            <a:off x="731520" y="5669280"/>
            <a:ext cx="54864" cy="411480"/>
          </a:xfrm>
          <a:prstGeom prst="rect">
            <a:avLst/>
          </a:prstGeom>
          <a:solidFill>
            <a:srgbClr val="3FB950"/>
          </a:solidFill>
          <a:ln/>
        </p:spPr>
        <p:txBody>
          <a:bodyPr/>
          <a:lstStyle/>
          <a:p>
            <a:endParaRPr lang="en-GB"/>
          </a:p>
        </p:txBody>
      </p:sp>
      <p:sp>
        <p:nvSpPr>
          <p:cNvPr id="28" name="Text 26"/>
          <p:cNvSpPr/>
          <p:nvPr/>
        </p:nvSpPr>
        <p:spPr>
          <a:xfrm>
            <a:off x="960120" y="5669280"/>
            <a:ext cx="10497312" cy="411480"/>
          </a:xfrm>
          <a:prstGeom prst="rect">
            <a:avLst/>
          </a:prstGeom>
          <a:noFill/>
          <a:ln/>
        </p:spPr>
        <p:txBody>
          <a:bodyPr wrap="square" rtlCol="0" anchor="ctr"/>
          <a:lstStyle/>
          <a:p>
            <a:pPr marL="0" indent="0">
              <a:buNone/>
            </a:pPr>
            <a:r>
              <a:rPr lang="en-US" sz="1400" b="1" i="1" dirty="0">
                <a:solidFill>
                  <a:srgbClr val="3FB950"/>
                </a:solidFill>
                <a:latin typeface="Segoe UI" pitchFamily="34" charset="0"/>
                <a:ea typeface="Segoe UI" pitchFamily="34" charset="-122"/>
                <a:cs typeface="Segoe UI" pitchFamily="34" charset="-120"/>
              </a:rPr>
              <a:t>In RAG, attackers can influence model behavior indirectly through retrieved content.</a:t>
            </a:r>
            <a:endParaRPr lang="en-US" sz="1400" dirty="0"/>
          </a:p>
        </p:txBody>
      </p:sp>
      <p:sp>
        <p:nvSpPr>
          <p:cNvPr id="29" name="Text 27"/>
          <p:cNvSpPr/>
          <p:nvPr/>
        </p:nvSpPr>
        <p:spPr>
          <a:xfrm>
            <a:off x="8686800" y="6263640"/>
            <a:ext cx="2926080" cy="228600"/>
          </a:xfrm>
          <a:prstGeom prst="rect">
            <a:avLst/>
          </a:prstGeom>
          <a:noFill/>
          <a:ln/>
        </p:spPr>
        <p:txBody>
          <a:bodyPr wrap="square"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OWASP LLM01:2025</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0B1A0B"/>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274320"/>
          </a:xfrm>
          <a:prstGeom prst="rect">
            <a:avLst/>
          </a:prstGeom>
          <a:noFill/>
          <a:ln/>
        </p:spPr>
        <p:txBody>
          <a:bodyPr wrap="square" rtlCol="0" anchor="ctr"/>
          <a:lstStyle/>
          <a:p>
            <a:pPr marL="0" indent="0">
              <a:buNone/>
            </a:pPr>
            <a:r>
              <a:rPr lang="en-US" sz="1100" dirty="0">
                <a:solidFill>
                  <a:srgbClr val="8B949E"/>
                </a:solidFill>
                <a:latin typeface="Consolas" pitchFamily="34" charset="0"/>
                <a:ea typeface="Consolas" pitchFamily="34" charset="-122"/>
                <a:cs typeface="Consolas" pitchFamily="34" charset="-120"/>
              </a:rPr>
              <a:t>Stage 2 · Controls</a:t>
            </a:r>
            <a:endParaRPr lang="en-US" sz="1100" dirty="0"/>
          </a:p>
        </p:txBody>
      </p:sp>
      <p:sp>
        <p:nvSpPr>
          <p:cNvPr id="3" name="Text 1"/>
          <p:cNvSpPr/>
          <p:nvPr/>
        </p:nvSpPr>
        <p:spPr>
          <a:xfrm>
            <a:off x="548640" y="594360"/>
            <a:ext cx="11091672" cy="502920"/>
          </a:xfrm>
          <a:prstGeom prst="rect">
            <a:avLst/>
          </a:prstGeom>
          <a:noFill/>
          <a:ln/>
        </p:spPr>
        <p:txBody>
          <a:bodyPr wrap="square" rtlCol="0" anchor="ctr"/>
          <a:lstStyle/>
          <a:p>
            <a:pPr marL="0" indent="0">
              <a:buNone/>
            </a:pPr>
            <a:r>
              <a:rPr lang="en-US" sz="2400" dirty="0">
                <a:solidFill>
                  <a:srgbClr val="8B949E"/>
                </a:solidFill>
                <a:latin typeface="Consolas" pitchFamily="34" charset="0"/>
                <a:ea typeface="Consolas" pitchFamily="34" charset="-122"/>
                <a:cs typeface="Consolas" pitchFamily="34" charset="-120"/>
              </a:rPr>
              <a:t>&gt; </a:t>
            </a:r>
            <a:r>
              <a:rPr lang="en-US" sz="2200" b="1" dirty="0">
                <a:solidFill>
                  <a:srgbClr val="3FB950"/>
                </a:solidFill>
                <a:latin typeface="Consolas" pitchFamily="34" charset="0"/>
                <a:ea typeface="Consolas" pitchFamily="34" charset="-122"/>
                <a:cs typeface="Consolas" pitchFamily="34" charset="-120"/>
              </a:rPr>
              <a:t>How do we protect?</a:t>
            </a:r>
            <a:endParaRPr lang="en-US" sz="2400" dirty="0"/>
          </a:p>
        </p:txBody>
      </p:sp>
      <p:sp>
        <p:nvSpPr>
          <p:cNvPr id="4" name="Shape 2"/>
          <p:cNvSpPr/>
          <p:nvPr/>
        </p:nvSpPr>
        <p:spPr>
          <a:xfrm>
            <a:off x="548640" y="1143000"/>
            <a:ext cx="11091672" cy="13716"/>
          </a:xfrm>
          <a:prstGeom prst="rect">
            <a:avLst/>
          </a:prstGeom>
          <a:solidFill>
            <a:srgbClr val="30363D"/>
          </a:solidFill>
          <a:ln/>
        </p:spPr>
        <p:txBody>
          <a:bodyPr/>
          <a:lstStyle/>
          <a:p>
            <a:endParaRPr lang="en-GB"/>
          </a:p>
        </p:txBody>
      </p:sp>
      <p:sp>
        <p:nvSpPr>
          <p:cNvPr id="5" name="Text 3"/>
          <p:cNvSpPr/>
          <p:nvPr/>
        </p:nvSpPr>
        <p:spPr>
          <a:xfrm>
            <a:off x="10972800" y="6446520"/>
            <a:ext cx="731520" cy="274320"/>
          </a:xfrm>
          <a:prstGeom prst="rect">
            <a:avLst/>
          </a:prstGeom>
          <a:noFill/>
          <a:ln/>
        </p:spPr>
        <p:txBody>
          <a:bodyPr wrap="square" rtlCol="0" anchor="ctr"/>
          <a:lstStyle/>
          <a:p>
            <a:pPr marL="0" indent="0" algn="r">
              <a:buNone/>
            </a:pPr>
            <a:r>
              <a:rPr lang="en-US" sz="1000" dirty="0">
                <a:solidFill>
                  <a:srgbClr val="8B949E"/>
                </a:solidFill>
                <a:latin typeface="Consolas" pitchFamily="34" charset="0"/>
                <a:ea typeface="Consolas" pitchFamily="34" charset="-122"/>
                <a:cs typeface="Consolas" pitchFamily="34" charset="-120"/>
              </a:rPr>
              <a:t>17</a:t>
            </a:r>
            <a:endParaRPr lang="en-US" sz="1000" dirty="0"/>
          </a:p>
        </p:txBody>
      </p:sp>
      <p:sp>
        <p:nvSpPr>
          <p:cNvPr id="6" name="Shape 4"/>
          <p:cNvSpPr/>
          <p:nvPr/>
        </p:nvSpPr>
        <p:spPr>
          <a:xfrm>
            <a:off x="548640" y="1325880"/>
            <a:ext cx="11091672" cy="2011680"/>
          </a:xfrm>
          <a:prstGeom prst="roundRect">
            <a:avLst>
              <a:gd name="adj" fmla="val 5455"/>
            </a:avLst>
          </a:prstGeom>
          <a:solidFill>
            <a:srgbClr val="161B22"/>
          </a:solidFill>
          <a:ln w="9525">
            <a:solidFill>
              <a:srgbClr val="30363D"/>
            </a:solidFill>
            <a:prstDash val="solid"/>
          </a:ln>
        </p:spPr>
        <p:txBody>
          <a:bodyPr/>
          <a:lstStyle/>
          <a:p>
            <a:endParaRPr lang="en-GB"/>
          </a:p>
        </p:txBody>
      </p:sp>
      <p:sp>
        <p:nvSpPr>
          <p:cNvPr id="7" name="Shape 5"/>
          <p:cNvSpPr/>
          <p:nvPr/>
        </p:nvSpPr>
        <p:spPr>
          <a:xfrm>
            <a:off x="914400" y="1554480"/>
            <a:ext cx="1498092"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8" name="Text 6"/>
          <p:cNvSpPr/>
          <p:nvPr/>
        </p:nvSpPr>
        <p:spPr>
          <a:xfrm>
            <a:off x="914400" y="1554480"/>
            <a:ext cx="1498092"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Source Classification</a:t>
            </a:r>
            <a:endParaRPr lang="en-US" sz="900" dirty="0"/>
          </a:p>
        </p:txBody>
      </p:sp>
      <p:sp>
        <p:nvSpPr>
          <p:cNvPr id="9" name="Text 7"/>
          <p:cNvSpPr/>
          <p:nvPr/>
        </p:nvSpPr>
        <p:spPr>
          <a:xfrm>
            <a:off x="2412492" y="1554480"/>
            <a:ext cx="274320" cy="502920"/>
          </a:xfrm>
          <a:prstGeom prst="rect">
            <a:avLst/>
          </a:prstGeom>
          <a:noFill/>
          <a:ln/>
        </p:spPr>
        <p:txBody>
          <a:bodyPr wrap="square" rtlCol="0" anchor="ctr"/>
          <a:lstStyle/>
          <a:p>
            <a:pPr marL="0" indent="0" algn="ctr">
              <a:buNone/>
            </a:pPr>
            <a:r>
              <a:rPr lang="en-US" sz="1600" dirty="0">
                <a:solidFill>
                  <a:srgbClr val="3FB950"/>
                </a:solidFill>
                <a:latin typeface="Segoe UI" pitchFamily="34" charset="0"/>
                <a:ea typeface="Segoe UI" pitchFamily="34" charset="-122"/>
                <a:cs typeface="Segoe UI" pitchFamily="34" charset="-120"/>
              </a:rPr>
              <a:t>→</a:t>
            </a:r>
            <a:endParaRPr lang="en-US" sz="1600" dirty="0"/>
          </a:p>
        </p:txBody>
      </p:sp>
      <p:sp>
        <p:nvSpPr>
          <p:cNvPr id="10" name="Shape 8"/>
          <p:cNvSpPr/>
          <p:nvPr/>
        </p:nvSpPr>
        <p:spPr>
          <a:xfrm>
            <a:off x="2686812" y="1554480"/>
            <a:ext cx="1498092"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1" name="Text 9"/>
          <p:cNvSpPr/>
          <p:nvPr/>
        </p:nvSpPr>
        <p:spPr>
          <a:xfrm>
            <a:off x="2686812" y="1554480"/>
            <a:ext cx="1498092"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ACL Ingestion</a:t>
            </a:r>
            <a:endParaRPr lang="en-US" sz="900" dirty="0"/>
          </a:p>
        </p:txBody>
      </p:sp>
      <p:sp>
        <p:nvSpPr>
          <p:cNvPr id="12" name="Text 10"/>
          <p:cNvSpPr/>
          <p:nvPr/>
        </p:nvSpPr>
        <p:spPr>
          <a:xfrm>
            <a:off x="4184904" y="1554480"/>
            <a:ext cx="274320" cy="502920"/>
          </a:xfrm>
          <a:prstGeom prst="rect">
            <a:avLst/>
          </a:prstGeom>
          <a:noFill/>
          <a:ln/>
        </p:spPr>
        <p:txBody>
          <a:bodyPr wrap="square" rtlCol="0" anchor="ctr"/>
          <a:lstStyle/>
          <a:p>
            <a:pPr marL="0" indent="0" algn="ctr">
              <a:buNone/>
            </a:pPr>
            <a:r>
              <a:rPr lang="en-US" sz="1600" dirty="0">
                <a:solidFill>
                  <a:srgbClr val="3FB950"/>
                </a:solidFill>
                <a:latin typeface="Segoe UI" pitchFamily="34" charset="0"/>
                <a:ea typeface="Segoe UI" pitchFamily="34" charset="-122"/>
                <a:cs typeface="Segoe UI" pitchFamily="34" charset="-120"/>
              </a:rPr>
              <a:t>→</a:t>
            </a:r>
            <a:endParaRPr lang="en-US" sz="1600" dirty="0"/>
          </a:p>
        </p:txBody>
      </p:sp>
      <p:sp>
        <p:nvSpPr>
          <p:cNvPr id="13" name="Shape 11"/>
          <p:cNvSpPr/>
          <p:nvPr/>
        </p:nvSpPr>
        <p:spPr>
          <a:xfrm>
            <a:off x="4459224" y="1554480"/>
            <a:ext cx="1498092"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4" name="Text 12"/>
          <p:cNvSpPr/>
          <p:nvPr/>
        </p:nvSpPr>
        <p:spPr>
          <a:xfrm>
            <a:off x="4459224" y="1554480"/>
            <a:ext cx="1498092"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Policy Retrieval</a:t>
            </a:r>
            <a:endParaRPr lang="en-US" sz="900" dirty="0"/>
          </a:p>
        </p:txBody>
      </p:sp>
      <p:sp>
        <p:nvSpPr>
          <p:cNvPr id="15" name="Text 13"/>
          <p:cNvSpPr/>
          <p:nvPr/>
        </p:nvSpPr>
        <p:spPr>
          <a:xfrm>
            <a:off x="5957316" y="1554480"/>
            <a:ext cx="274320" cy="502920"/>
          </a:xfrm>
          <a:prstGeom prst="rect">
            <a:avLst/>
          </a:prstGeom>
          <a:noFill/>
          <a:ln/>
        </p:spPr>
        <p:txBody>
          <a:bodyPr wrap="square" rtlCol="0" anchor="ctr"/>
          <a:lstStyle/>
          <a:p>
            <a:pPr marL="0" indent="0" algn="ctr">
              <a:buNone/>
            </a:pPr>
            <a:r>
              <a:rPr lang="en-US" sz="1600" dirty="0">
                <a:solidFill>
                  <a:srgbClr val="3FB950"/>
                </a:solidFill>
                <a:latin typeface="Segoe UI" pitchFamily="34" charset="0"/>
                <a:ea typeface="Segoe UI" pitchFamily="34" charset="-122"/>
                <a:cs typeface="Segoe UI" pitchFamily="34" charset="-120"/>
              </a:rPr>
              <a:t>→</a:t>
            </a:r>
            <a:endParaRPr lang="en-US" sz="1600" dirty="0"/>
          </a:p>
        </p:txBody>
      </p:sp>
      <p:sp>
        <p:nvSpPr>
          <p:cNvPr id="16" name="Shape 14"/>
          <p:cNvSpPr/>
          <p:nvPr/>
        </p:nvSpPr>
        <p:spPr>
          <a:xfrm>
            <a:off x="6231636" y="1554480"/>
            <a:ext cx="1498092"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7" name="Text 15"/>
          <p:cNvSpPr/>
          <p:nvPr/>
        </p:nvSpPr>
        <p:spPr>
          <a:xfrm>
            <a:off x="6231636" y="1554480"/>
            <a:ext cx="1498092"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Bounded Context</a:t>
            </a:r>
            <a:endParaRPr lang="en-US" sz="900" dirty="0"/>
          </a:p>
        </p:txBody>
      </p:sp>
      <p:sp>
        <p:nvSpPr>
          <p:cNvPr id="18" name="Text 16"/>
          <p:cNvSpPr/>
          <p:nvPr/>
        </p:nvSpPr>
        <p:spPr>
          <a:xfrm>
            <a:off x="7729728" y="1554480"/>
            <a:ext cx="274320" cy="502920"/>
          </a:xfrm>
          <a:prstGeom prst="rect">
            <a:avLst/>
          </a:prstGeom>
          <a:noFill/>
          <a:ln/>
        </p:spPr>
        <p:txBody>
          <a:bodyPr wrap="square" rtlCol="0" anchor="ctr"/>
          <a:lstStyle/>
          <a:p>
            <a:pPr marL="0" indent="0" algn="ctr">
              <a:buNone/>
            </a:pPr>
            <a:r>
              <a:rPr lang="en-US" sz="1600" dirty="0">
                <a:solidFill>
                  <a:srgbClr val="3FB950"/>
                </a:solidFill>
                <a:latin typeface="Segoe UI" pitchFamily="34" charset="0"/>
                <a:ea typeface="Segoe UI" pitchFamily="34" charset="-122"/>
                <a:cs typeface="Segoe UI" pitchFamily="34" charset="-120"/>
              </a:rPr>
              <a:t>→</a:t>
            </a:r>
            <a:endParaRPr lang="en-US" sz="1600" dirty="0"/>
          </a:p>
        </p:txBody>
      </p:sp>
      <p:sp>
        <p:nvSpPr>
          <p:cNvPr id="19" name="Shape 17"/>
          <p:cNvSpPr/>
          <p:nvPr/>
        </p:nvSpPr>
        <p:spPr>
          <a:xfrm>
            <a:off x="8004048" y="1554480"/>
            <a:ext cx="1498092"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20" name="Text 18"/>
          <p:cNvSpPr/>
          <p:nvPr/>
        </p:nvSpPr>
        <p:spPr>
          <a:xfrm>
            <a:off x="8004048" y="1554480"/>
            <a:ext cx="1498092"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Output Checks</a:t>
            </a:r>
            <a:endParaRPr lang="en-US" sz="900" dirty="0"/>
          </a:p>
        </p:txBody>
      </p:sp>
      <p:sp>
        <p:nvSpPr>
          <p:cNvPr id="21" name="Text 19"/>
          <p:cNvSpPr/>
          <p:nvPr/>
        </p:nvSpPr>
        <p:spPr>
          <a:xfrm>
            <a:off x="9502140" y="1554480"/>
            <a:ext cx="274320" cy="502920"/>
          </a:xfrm>
          <a:prstGeom prst="rect">
            <a:avLst/>
          </a:prstGeom>
          <a:noFill/>
          <a:ln/>
        </p:spPr>
        <p:txBody>
          <a:bodyPr wrap="square" rtlCol="0" anchor="ctr"/>
          <a:lstStyle/>
          <a:p>
            <a:pPr marL="0" indent="0" algn="ctr">
              <a:buNone/>
            </a:pPr>
            <a:r>
              <a:rPr lang="en-US" sz="1600" dirty="0">
                <a:solidFill>
                  <a:srgbClr val="3FB950"/>
                </a:solidFill>
                <a:latin typeface="Segoe UI" pitchFamily="34" charset="0"/>
                <a:ea typeface="Segoe UI" pitchFamily="34" charset="-122"/>
                <a:cs typeface="Segoe UI" pitchFamily="34" charset="-120"/>
              </a:rPr>
              <a:t>→</a:t>
            </a:r>
            <a:endParaRPr lang="en-US" sz="1600" dirty="0"/>
          </a:p>
        </p:txBody>
      </p:sp>
      <p:sp>
        <p:nvSpPr>
          <p:cNvPr id="22" name="Shape 20"/>
          <p:cNvSpPr/>
          <p:nvPr/>
        </p:nvSpPr>
        <p:spPr>
          <a:xfrm>
            <a:off x="9776460" y="1554480"/>
            <a:ext cx="1498092"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23" name="Text 21"/>
          <p:cNvSpPr/>
          <p:nvPr/>
        </p:nvSpPr>
        <p:spPr>
          <a:xfrm>
            <a:off x="9776460" y="1554480"/>
            <a:ext cx="1498092"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Monitoring</a:t>
            </a:r>
            <a:endParaRPr lang="en-US" sz="900" dirty="0"/>
          </a:p>
        </p:txBody>
      </p:sp>
      <p:sp>
        <p:nvSpPr>
          <p:cNvPr id="24" name="Shape 22"/>
          <p:cNvSpPr/>
          <p:nvPr/>
        </p:nvSpPr>
        <p:spPr>
          <a:xfrm>
            <a:off x="914400" y="3520440"/>
            <a:ext cx="10360152" cy="2240280"/>
          </a:xfrm>
          <a:prstGeom prst="roundRect">
            <a:avLst>
              <a:gd name="adj" fmla="val 3265"/>
            </a:avLst>
          </a:prstGeom>
          <a:solidFill>
            <a:srgbClr val="010409"/>
          </a:solidFill>
          <a:ln w="9525">
            <a:solidFill>
              <a:srgbClr val="30363D"/>
            </a:solidFill>
            <a:prstDash val="solid"/>
          </a:ln>
        </p:spPr>
        <p:txBody>
          <a:bodyPr/>
          <a:lstStyle/>
          <a:p>
            <a:endParaRPr lang="en-GB"/>
          </a:p>
        </p:txBody>
      </p:sp>
      <p:sp>
        <p:nvSpPr>
          <p:cNvPr id="25" name="Shape 23"/>
          <p:cNvSpPr/>
          <p:nvPr/>
        </p:nvSpPr>
        <p:spPr>
          <a:xfrm>
            <a:off x="1097280" y="3630168"/>
            <a:ext cx="73152" cy="73152"/>
          </a:xfrm>
          <a:prstGeom prst="ellipse">
            <a:avLst/>
          </a:prstGeom>
          <a:solidFill>
            <a:srgbClr val="F85149"/>
          </a:solidFill>
          <a:ln/>
        </p:spPr>
        <p:txBody>
          <a:bodyPr/>
          <a:lstStyle/>
          <a:p>
            <a:endParaRPr lang="en-GB"/>
          </a:p>
        </p:txBody>
      </p:sp>
      <p:sp>
        <p:nvSpPr>
          <p:cNvPr id="26" name="Shape 24"/>
          <p:cNvSpPr/>
          <p:nvPr/>
        </p:nvSpPr>
        <p:spPr>
          <a:xfrm>
            <a:off x="1261872" y="3630168"/>
            <a:ext cx="73152" cy="73152"/>
          </a:xfrm>
          <a:prstGeom prst="ellipse">
            <a:avLst/>
          </a:prstGeom>
          <a:solidFill>
            <a:srgbClr val="D29922"/>
          </a:solidFill>
          <a:ln/>
        </p:spPr>
        <p:txBody>
          <a:bodyPr/>
          <a:lstStyle/>
          <a:p>
            <a:endParaRPr lang="en-GB"/>
          </a:p>
        </p:txBody>
      </p:sp>
      <p:sp>
        <p:nvSpPr>
          <p:cNvPr id="27" name="Shape 25"/>
          <p:cNvSpPr/>
          <p:nvPr/>
        </p:nvSpPr>
        <p:spPr>
          <a:xfrm>
            <a:off x="1426464" y="3630168"/>
            <a:ext cx="73152" cy="73152"/>
          </a:xfrm>
          <a:prstGeom prst="ellipse">
            <a:avLst/>
          </a:prstGeom>
          <a:solidFill>
            <a:srgbClr val="3FB950"/>
          </a:solidFill>
          <a:ln/>
        </p:spPr>
        <p:txBody>
          <a:bodyPr/>
          <a:lstStyle/>
          <a:p>
            <a:endParaRPr lang="en-GB"/>
          </a:p>
        </p:txBody>
      </p:sp>
      <p:sp>
        <p:nvSpPr>
          <p:cNvPr id="28" name="Text 26"/>
          <p:cNvSpPr/>
          <p:nvPr/>
        </p:nvSpPr>
        <p:spPr>
          <a:xfrm>
            <a:off x="1143000" y="3840480"/>
            <a:ext cx="9902952" cy="1783080"/>
          </a:xfrm>
          <a:prstGeom prst="rect">
            <a:avLst/>
          </a:prstGeom>
          <a:noFill/>
          <a:ln/>
        </p:spPr>
        <p:txBody>
          <a:bodyPr wrap="square" rtlCol="0" anchor="t"/>
          <a:lstStyle/>
          <a:p>
            <a:pPr marL="0" indent="0">
              <a:lnSpc>
                <a:spcPct val="150000"/>
              </a:lnSpc>
              <a:buNone/>
            </a:pPr>
            <a:r>
              <a:rPr lang="en-US" sz="1200" dirty="0">
                <a:solidFill>
                  <a:srgbClr val="3FB950"/>
                </a:solidFill>
                <a:latin typeface="Consolas" pitchFamily="34" charset="0"/>
                <a:ea typeface="Consolas" pitchFamily="34" charset="-122"/>
                <a:cs typeface="Consolas" pitchFamily="34" charset="-120"/>
              </a:rPr>
              <a:t>$ python demos/stage2_rag_boundary.py --user support-a --query "refund exception policy" --policy off</a:t>
            </a:r>
            <a:r>
              <a:rPr lang="en-US" sz="1200" dirty="0">
                <a:solidFill>
                  <a:srgbClr val="D29922"/>
                </a:solidFill>
                <a:latin typeface="Consolas" pitchFamily="34" charset="0"/>
                <a:ea typeface="Consolas" pitchFamily="34" charset="-122"/>
                <a:cs typeface="Consolas" pitchFamily="34" charset="-120"/>
              </a:rPr>
              <a:t>policy=off  retrieved=public_policy, employee_playbook, tenant_b_record</a:t>
            </a:r>
            <a:r>
              <a:rPr lang="en-US" sz="1200" dirty="0">
                <a:solidFill>
                  <a:srgbClr val="3FB950"/>
                </a:solidFill>
                <a:latin typeface="Consolas" pitchFamily="34" charset="0"/>
                <a:ea typeface="Consolas" pitchFamily="34" charset="-122"/>
                <a:cs typeface="Consolas" pitchFamily="34" charset="-120"/>
              </a:rPr>
              <a:t>$ python demos/stage2_rag_boundary.py --user support-a --query "refund exception policy" --policy onpolicy=on   retrieved=public_policy  denied=employee_playbook,tenant_b_record  prompt_chunks=1</a:t>
            </a:r>
            <a:endParaRPr lang="en-US" sz="1200" dirty="0"/>
          </a:p>
        </p:txBody>
      </p:sp>
      <p:sp>
        <p:nvSpPr>
          <p:cNvPr id="29" name="Shape 27"/>
          <p:cNvSpPr/>
          <p:nvPr/>
        </p:nvSpPr>
        <p:spPr>
          <a:xfrm>
            <a:off x="731520" y="5943600"/>
            <a:ext cx="54864" cy="411480"/>
          </a:xfrm>
          <a:prstGeom prst="rect">
            <a:avLst/>
          </a:prstGeom>
          <a:solidFill>
            <a:srgbClr val="3FB950"/>
          </a:solidFill>
          <a:ln/>
        </p:spPr>
        <p:txBody>
          <a:bodyPr/>
          <a:lstStyle/>
          <a:p>
            <a:endParaRPr lang="en-GB"/>
          </a:p>
        </p:txBody>
      </p:sp>
      <p:sp>
        <p:nvSpPr>
          <p:cNvPr id="30" name="Text 28"/>
          <p:cNvSpPr/>
          <p:nvPr/>
        </p:nvSpPr>
        <p:spPr>
          <a:xfrm>
            <a:off x="960120" y="5943600"/>
            <a:ext cx="10497312" cy="411480"/>
          </a:xfrm>
          <a:prstGeom prst="rect">
            <a:avLst/>
          </a:prstGeom>
          <a:noFill/>
          <a:ln/>
        </p:spPr>
        <p:txBody>
          <a:bodyPr wrap="square" rtlCol="0" anchor="ctr"/>
          <a:lstStyle/>
          <a:p>
            <a:pPr marL="0" indent="0">
              <a:buNone/>
            </a:pPr>
            <a:r>
              <a:rPr lang="en-US" sz="1400" b="1" i="1" dirty="0">
                <a:solidFill>
                  <a:srgbClr val="3FB950"/>
                </a:solidFill>
                <a:latin typeface="Segoe UI" pitchFamily="34" charset="0"/>
                <a:ea typeface="Segoe UI" pitchFamily="34" charset="-122"/>
                <a:cs typeface="Segoe UI" pitchFamily="34" charset="-120"/>
              </a:rPr>
              <a:t>Defense: source governance, permission-aware retrieval, context minimization, and traceability.</a:t>
            </a:r>
            <a:endParaRPr lang="en-US" sz="1400" dirty="0"/>
          </a:p>
        </p:txBody>
      </p:sp>
      <p:sp>
        <p:nvSpPr>
          <p:cNvPr id="31" name="Text 29"/>
          <p:cNvSpPr/>
          <p:nvPr/>
        </p:nvSpPr>
        <p:spPr>
          <a:xfrm>
            <a:off x="8686800" y="6263640"/>
            <a:ext cx="2926080" cy="228600"/>
          </a:xfrm>
          <a:prstGeom prst="rect">
            <a:avLst/>
          </a:prstGeom>
          <a:noFill/>
          <a:ln/>
        </p:spPr>
        <p:txBody>
          <a:bodyPr wrap="square"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OWASP LLM08 + LLM01:2025</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274320"/>
          </a:xfrm>
          <a:prstGeom prst="rect">
            <a:avLst/>
          </a:prstGeom>
          <a:noFill/>
          <a:ln/>
        </p:spPr>
        <p:txBody>
          <a:bodyPr wrap="square" rtlCol="0" anchor="ctr"/>
          <a:lstStyle/>
          <a:p>
            <a:pPr marL="0" indent="0">
              <a:buNone/>
            </a:pPr>
            <a:r>
              <a:rPr lang="en-US" sz="1100" dirty="0">
                <a:solidFill>
                  <a:srgbClr val="8B949E"/>
                </a:solidFill>
                <a:latin typeface="Consolas" pitchFamily="34" charset="0"/>
                <a:ea typeface="Consolas" pitchFamily="34" charset="-122"/>
                <a:cs typeface="Consolas" pitchFamily="34" charset="-120"/>
              </a:rPr>
              <a:t>Stage 3 · Agents</a:t>
            </a:r>
            <a:endParaRPr lang="en-US" sz="1100" dirty="0"/>
          </a:p>
        </p:txBody>
      </p:sp>
      <p:sp>
        <p:nvSpPr>
          <p:cNvPr id="3" name="Text 1"/>
          <p:cNvSpPr/>
          <p:nvPr/>
        </p:nvSpPr>
        <p:spPr>
          <a:xfrm>
            <a:off x="548640" y="594360"/>
            <a:ext cx="11091672" cy="502920"/>
          </a:xfrm>
          <a:prstGeom prst="rect">
            <a:avLst/>
          </a:prstGeom>
          <a:noFill/>
          <a:ln/>
        </p:spPr>
        <p:txBody>
          <a:bodyPr wrap="square" rtlCol="0" anchor="ctr"/>
          <a:lstStyle/>
          <a:p>
            <a:pPr marL="0" indent="0">
              <a:buNone/>
            </a:pPr>
            <a:r>
              <a:rPr lang="en-US" sz="2400" dirty="0">
                <a:solidFill>
                  <a:srgbClr val="8B949E"/>
                </a:solidFill>
                <a:latin typeface="Consolas" pitchFamily="34" charset="0"/>
                <a:ea typeface="Consolas" pitchFamily="34" charset="-122"/>
                <a:cs typeface="Consolas" pitchFamily="34" charset="-120"/>
              </a:rPr>
              <a:t>&gt; </a:t>
            </a:r>
            <a:r>
              <a:rPr lang="en-US" sz="2200" b="1" dirty="0">
                <a:solidFill>
                  <a:srgbClr val="58A6FF"/>
                </a:solidFill>
                <a:latin typeface="Consolas" pitchFamily="34" charset="0"/>
                <a:ea typeface="Consolas" pitchFamily="34" charset="-122"/>
                <a:cs typeface="Consolas" pitchFamily="34" charset="-120"/>
              </a:rPr>
              <a:t>What is agentic AI?</a:t>
            </a:r>
            <a:endParaRPr lang="en-US" sz="2400" dirty="0"/>
          </a:p>
        </p:txBody>
      </p:sp>
      <p:sp>
        <p:nvSpPr>
          <p:cNvPr id="4" name="Shape 2"/>
          <p:cNvSpPr/>
          <p:nvPr/>
        </p:nvSpPr>
        <p:spPr>
          <a:xfrm>
            <a:off x="548640" y="1143000"/>
            <a:ext cx="11091672" cy="13716"/>
          </a:xfrm>
          <a:prstGeom prst="rect">
            <a:avLst/>
          </a:prstGeom>
          <a:solidFill>
            <a:srgbClr val="30363D"/>
          </a:solidFill>
          <a:ln/>
        </p:spPr>
        <p:txBody>
          <a:bodyPr/>
          <a:lstStyle/>
          <a:p>
            <a:endParaRPr lang="en-GB"/>
          </a:p>
        </p:txBody>
      </p:sp>
      <p:sp>
        <p:nvSpPr>
          <p:cNvPr id="5" name="Text 3"/>
          <p:cNvSpPr/>
          <p:nvPr/>
        </p:nvSpPr>
        <p:spPr>
          <a:xfrm>
            <a:off x="10972800" y="6446520"/>
            <a:ext cx="731520" cy="274320"/>
          </a:xfrm>
          <a:prstGeom prst="rect">
            <a:avLst/>
          </a:prstGeom>
          <a:noFill/>
          <a:ln/>
        </p:spPr>
        <p:txBody>
          <a:bodyPr wrap="square" rtlCol="0" anchor="ctr"/>
          <a:lstStyle/>
          <a:p>
            <a:pPr marL="0" indent="0" algn="r">
              <a:buNone/>
            </a:pPr>
            <a:r>
              <a:rPr lang="en-US" sz="1000" dirty="0">
                <a:solidFill>
                  <a:srgbClr val="8B949E"/>
                </a:solidFill>
                <a:latin typeface="Consolas" pitchFamily="34" charset="0"/>
                <a:ea typeface="Consolas" pitchFamily="34" charset="-122"/>
                <a:cs typeface="Consolas" pitchFamily="34" charset="-120"/>
              </a:rPr>
              <a:t>18</a:t>
            </a:r>
            <a:endParaRPr lang="en-US" sz="1000" dirty="0"/>
          </a:p>
        </p:txBody>
      </p:sp>
      <p:sp>
        <p:nvSpPr>
          <p:cNvPr id="6" name="Shape 4"/>
          <p:cNvSpPr/>
          <p:nvPr/>
        </p:nvSpPr>
        <p:spPr>
          <a:xfrm>
            <a:off x="548640" y="1325880"/>
            <a:ext cx="11091672" cy="5074920"/>
          </a:xfrm>
          <a:prstGeom prst="roundRect">
            <a:avLst>
              <a:gd name="adj" fmla="val 2162"/>
            </a:avLst>
          </a:prstGeom>
          <a:solidFill>
            <a:srgbClr val="161B22"/>
          </a:solidFill>
          <a:ln w="9525">
            <a:solidFill>
              <a:srgbClr val="30363D"/>
            </a:solidFill>
            <a:prstDash val="solid"/>
          </a:ln>
        </p:spPr>
        <p:txBody>
          <a:bodyPr/>
          <a:lstStyle/>
          <a:p>
            <a:endParaRPr lang="en-GB"/>
          </a:p>
        </p:txBody>
      </p:sp>
      <p:sp>
        <p:nvSpPr>
          <p:cNvPr id="7" name="Shape 5"/>
          <p:cNvSpPr/>
          <p:nvPr/>
        </p:nvSpPr>
        <p:spPr>
          <a:xfrm>
            <a:off x="914400" y="1645920"/>
            <a:ext cx="1244890"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8" name="Text 6"/>
          <p:cNvSpPr/>
          <p:nvPr/>
        </p:nvSpPr>
        <p:spPr>
          <a:xfrm>
            <a:off x="914400" y="1645920"/>
            <a:ext cx="1244890"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User</a:t>
            </a:r>
            <a:endParaRPr lang="en-US" sz="900" dirty="0"/>
          </a:p>
        </p:txBody>
      </p:sp>
      <p:sp>
        <p:nvSpPr>
          <p:cNvPr id="9" name="Text 7"/>
          <p:cNvSpPr/>
          <p:nvPr/>
        </p:nvSpPr>
        <p:spPr>
          <a:xfrm>
            <a:off x="2159290" y="1645920"/>
            <a:ext cx="274320" cy="502920"/>
          </a:xfrm>
          <a:prstGeom prst="rect">
            <a:avLst/>
          </a:prstGeom>
          <a:noFill/>
          <a:ln/>
        </p:spPr>
        <p:txBody>
          <a:bodyPr wrap="square" rtlCol="0" anchor="ctr"/>
          <a:lstStyle/>
          <a:p>
            <a:pPr marL="0" indent="0" algn="ctr">
              <a:buNone/>
            </a:pPr>
            <a:r>
              <a:rPr lang="en-US" sz="1600" dirty="0">
                <a:solidFill>
                  <a:srgbClr val="8B949E"/>
                </a:solidFill>
                <a:latin typeface="Segoe UI" pitchFamily="34" charset="0"/>
                <a:ea typeface="Segoe UI" pitchFamily="34" charset="-122"/>
                <a:cs typeface="Segoe UI" pitchFamily="34" charset="-120"/>
              </a:rPr>
              <a:t>→</a:t>
            </a:r>
            <a:endParaRPr lang="en-US" sz="1600" dirty="0"/>
          </a:p>
        </p:txBody>
      </p:sp>
      <p:sp>
        <p:nvSpPr>
          <p:cNvPr id="10" name="Shape 8"/>
          <p:cNvSpPr/>
          <p:nvPr/>
        </p:nvSpPr>
        <p:spPr>
          <a:xfrm>
            <a:off x="2433610" y="1645920"/>
            <a:ext cx="1244890"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1" name="Text 9"/>
          <p:cNvSpPr/>
          <p:nvPr/>
        </p:nvSpPr>
        <p:spPr>
          <a:xfrm>
            <a:off x="2433610" y="1645920"/>
            <a:ext cx="1244890"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Chatbot App</a:t>
            </a:r>
            <a:endParaRPr lang="en-US" sz="900" dirty="0"/>
          </a:p>
        </p:txBody>
      </p:sp>
      <p:sp>
        <p:nvSpPr>
          <p:cNvPr id="12" name="Text 10"/>
          <p:cNvSpPr/>
          <p:nvPr/>
        </p:nvSpPr>
        <p:spPr>
          <a:xfrm>
            <a:off x="3678501" y="1645920"/>
            <a:ext cx="274320" cy="502920"/>
          </a:xfrm>
          <a:prstGeom prst="rect">
            <a:avLst/>
          </a:prstGeom>
          <a:noFill/>
          <a:ln/>
        </p:spPr>
        <p:txBody>
          <a:bodyPr wrap="square" rtlCol="0" anchor="ctr"/>
          <a:lstStyle/>
          <a:p>
            <a:pPr marL="0" indent="0" algn="ctr">
              <a:buNone/>
            </a:pPr>
            <a:r>
              <a:rPr lang="en-US" sz="1600" dirty="0">
                <a:solidFill>
                  <a:srgbClr val="8B949E"/>
                </a:solidFill>
                <a:latin typeface="Segoe UI" pitchFamily="34" charset="0"/>
                <a:ea typeface="Segoe UI" pitchFamily="34" charset="-122"/>
                <a:cs typeface="Segoe UI" pitchFamily="34" charset="-120"/>
              </a:rPr>
              <a:t>→</a:t>
            </a:r>
            <a:endParaRPr lang="en-US" sz="1600" dirty="0"/>
          </a:p>
        </p:txBody>
      </p:sp>
      <p:sp>
        <p:nvSpPr>
          <p:cNvPr id="13" name="Shape 11"/>
          <p:cNvSpPr/>
          <p:nvPr/>
        </p:nvSpPr>
        <p:spPr>
          <a:xfrm>
            <a:off x="3952821" y="1645920"/>
            <a:ext cx="1244890"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4" name="Text 12"/>
          <p:cNvSpPr/>
          <p:nvPr/>
        </p:nvSpPr>
        <p:spPr>
          <a:xfrm>
            <a:off x="3952821" y="1645920"/>
            <a:ext cx="1244890"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Agent Orchestrator</a:t>
            </a:r>
            <a:endParaRPr lang="en-US" sz="900" dirty="0"/>
          </a:p>
        </p:txBody>
      </p:sp>
      <p:sp>
        <p:nvSpPr>
          <p:cNvPr id="15" name="Text 13"/>
          <p:cNvSpPr/>
          <p:nvPr/>
        </p:nvSpPr>
        <p:spPr>
          <a:xfrm>
            <a:off x="5197711" y="1645920"/>
            <a:ext cx="274320" cy="502920"/>
          </a:xfrm>
          <a:prstGeom prst="rect">
            <a:avLst/>
          </a:prstGeom>
          <a:noFill/>
          <a:ln/>
        </p:spPr>
        <p:txBody>
          <a:bodyPr wrap="square" rtlCol="0" anchor="ctr"/>
          <a:lstStyle/>
          <a:p>
            <a:pPr marL="0" indent="0" algn="ctr">
              <a:buNone/>
            </a:pPr>
            <a:r>
              <a:rPr lang="en-US" sz="1600" dirty="0">
                <a:solidFill>
                  <a:srgbClr val="8B949E"/>
                </a:solidFill>
                <a:latin typeface="Segoe UI" pitchFamily="34" charset="0"/>
                <a:ea typeface="Segoe UI" pitchFamily="34" charset="-122"/>
                <a:cs typeface="Segoe UI" pitchFamily="34" charset="-120"/>
              </a:rPr>
              <a:t>→</a:t>
            </a:r>
            <a:endParaRPr lang="en-US" sz="1600" dirty="0"/>
          </a:p>
        </p:txBody>
      </p:sp>
      <p:sp>
        <p:nvSpPr>
          <p:cNvPr id="16" name="Shape 14"/>
          <p:cNvSpPr/>
          <p:nvPr/>
        </p:nvSpPr>
        <p:spPr>
          <a:xfrm>
            <a:off x="5472031" y="1645920"/>
            <a:ext cx="1244890"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7" name="Text 15"/>
          <p:cNvSpPr/>
          <p:nvPr/>
        </p:nvSpPr>
        <p:spPr>
          <a:xfrm>
            <a:off x="5472031" y="1645920"/>
            <a:ext cx="1244890"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Planner / Model</a:t>
            </a:r>
            <a:endParaRPr lang="en-US" sz="900" dirty="0"/>
          </a:p>
        </p:txBody>
      </p:sp>
      <p:sp>
        <p:nvSpPr>
          <p:cNvPr id="18" name="Text 16"/>
          <p:cNvSpPr/>
          <p:nvPr/>
        </p:nvSpPr>
        <p:spPr>
          <a:xfrm>
            <a:off x="6716921" y="1645920"/>
            <a:ext cx="274320" cy="502920"/>
          </a:xfrm>
          <a:prstGeom prst="rect">
            <a:avLst/>
          </a:prstGeom>
          <a:noFill/>
          <a:ln/>
        </p:spPr>
        <p:txBody>
          <a:bodyPr wrap="square" rtlCol="0" anchor="ctr"/>
          <a:lstStyle/>
          <a:p>
            <a:pPr marL="0" indent="0" algn="ctr">
              <a:buNone/>
            </a:pPr>
            <a:r>
              <a:rPr lang="en-US" sz="1600" dirty="0">
                <a:solidFill>
                  <a:srgbClr val="8B949E"/>
                </a:solidFill>
                <a:latin typeface="Segoe UI" pitchFamily="34" charset="0"/>
                <a:ea typeface="Segoe UI" pitchFamily="34" charset="-122"/>
                <a:cs typeface="Segoe UI" pitchFamily="34" charset="-120"/>
              </a:rPr>
              <a:t>→</a:t>
            </a:r>
            <a:endParaRPr lang="en-US" sz="1600" dirty="0"/>
          </a:p>
        </p:txBody>
      </p:sp>
      <p:sp>
        <p:nvSpPr>
          <p:cNvPr id="19" name="Shape 17"/>
          <p:cNvSpPr/>
          <p:nvPr/>
        </p:nvSpPr>
        <p:spPr>
          <a:xfrm>
            <a:off x="6991241" y="1645920"/>
            <a:ext cx="1244890"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20" name="Text 18"/>
          <p:cNvSpPr/>
          <p:nvPr/>
        </p:nvSpPr>
        <p:spPr>
          <a:xfrm>
            <a:off x="6991241" y="1645920"/>
            <a:ext cx="1244890"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Policy Gate</a:t>
            </a:r>
            <a:endParaRPr lang="en-US" sz="900" dirty="0"/>
          </a:p>
        </p:txBody>
      </p:sp>
      <p:sp>
        <p:nvSpPr>
          <p:cNvPr id="21" name="Text 19"/>
          <p:cNvSpPr/>
          <p:nvPr/>
        </p:nvSpPr>
        <p:spPr>
          <a:xfrm>
            <a:off x="8236131" y="1645920"/>
            <a:ext cx="274320" cy="502920"/>
          </a:xfrm>
          <a:prstGeom prst="rect">
            <a:avLst/>
          </a:prstGeom>
          <a:noFill/>
          <a:ln/>
        </p:spPr>
        <p:txBody>
          <a:bodyPr wrap="square" rtlCol="0" anchor="ctr"/>
          <a:lstStyle/>
          <a:p>
            <a:pPr marL="0" indent="0" algn="ctr">
              <a:buNone/>
            </a:pPr>
            <a:r>
              <a:rPr lang="en-US" sz="1600" dirty="0">
                <a:solidFill>
                  <a:srgbClr val="8B949E"/>
                </a:solidFill>
                <a:latin typeface="Segoe UI" pitchFamily="34" charset="0"/>
                <a:ea typeface="Segoe UI" pitchFamily="34" charset="-122"/>
                <a:cs typeface="Segoe UI" pitchFamily="34" charset="-120"/>
              </a:rPr>
              <a:t>→</a:t>
            </a:r>
            <a:endParaRPr lang="en-US" sz="1600" dirty="0"/>
          </a:p>
        </p:txBody>
      </p:sp>
      <p:sp>
        <p:nvSpPr>
          <p:cNvPr id="22" name="Shape 20"/>
          <p:cNvSpPr/>
          <p:nvPr/>
        </p:nvSpPr>
        <p:spPr>
          <a:xfrm>
            <a:off x="8510451" y="1645920"/>
            <a:ext cx="1244890"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23" name="Text 21"/>
          <p:cNvSpPr/>
          <p:nvPr/>
        </p:nvSpPr>
        <p:spPr>
          <a:xfrm>
            <a:off x="8510451" y="1645920"/>
            <a:ext cx="1244890"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Tools / APIs</a:t>
            </a:r>
            <a:endParaRPr lang="en-US" sz="900" dirty="0"/>
          </a:p>
        </p:txBody>
      </p:sp>
      <p:sp>
        <p:nvSpPr>
          <p:cNvPr id="24" name="Text 22"/>
          <p:cNvSpPr/>
          <p:nvPr/>
        </p:nvSpPr>
        <p:spPr>
          <a:xfrm>
            <a:off x="9755342" y="1645920"/>
            <a:ext cx="274320" cy="502920"/>
          </a:xfrm>
          <a:prstGeom prst="rect">
            <a:avLst/>
          </a:prstGeom>
          <a:noFill/>
          <a:ln/>
        </p:spPr>
        <p:txBody>
          <a:bodyPr wrap="square" rtlCol="0" anchor="ctr"/>
          <a:lstStyle/>
          <a:p>
            <a:pPr marL="0" indent="0" algn="ctr">
              <a:buNone/>
            </a:pPr>
            <a:r>
              <a:rPr lang="en-US" sz="1600" dirty="0">
                <a:solidFill>
                  <a:srgbClr val="8B949E"/>
                </a:solidFill>
                <a:latin typeface="Segoe UI" pitchFamily="34" charset="0"/>
                <a:ea typeface="Segoe UI" pitchFamily="34" charset="-122"/>
                <a:cs typeface="Segoe UI" pitchFamily="34" charset="-120"/>
              </a:rPr>
              <a:t>→</a:t>
            </a:r>
            <a:endParaRPr lang="en-US" sz="1600" dirty="0"/>
          </a:p>
        </p:txBody>
      </p:sp>
      <p:sp>
        <p:nvSpPr>
          <p:cNvPr id="25" name="Shape 23"/>
          <p:cNvSpPr/>
          <p:nvPr/>
        </p:nvSpPr>
        <p:spPr>
          <a:xfrm>
            <a:off x="10029662" y="1645920"/>
            <a:ext cx="1244890"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26" name="Text 24"/>
          <p:cNvSpPr/>
          <p:nvPr/>
        </p:nvSpPr>
        <p:spPr>
          <a:xfrm>
            <a:off x="10029662" y="1645920"/>
            <a:ext cx="1244890"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Business Systems</a:t>
            </a:r>
            <a:endParaRPr lang="en-US" sz="900" dirty="0"/>
          </a:p>
        </p:txBody>
      </p:sp>
      <p:sp>
        <p:nvSpPr>
          <p:cNvPr id="27" name="Text 25"/>
          <p:cNvSpPr/>
          <p:nvPr/>
        </p:nvSpPr>
        <p:spPr>
          <a:xfrm>
            <a:off x="1828800" y="2423160"/>
            <a:ext cx="2743200" cy="320040"/>
          </a:xfrm>
          <a:prstGeom prst="rect">
            <a:avLst/>
          </a:prstGeom>
          <a:noFill/>
          <a:ln/>
        </p:spPr>
        <p:txBody>
          <a:bodyPr wrap="square" rtlCol="0" anchor="ctr"/>
          <a:lstStyle/>
          <a:p>
            <a:pPr marL="0" indent="0" algn="ctr">
              <a:buNone/>
            </a:pPr>
            <a:r>
              <a:rPr lang="en-US" sz="1000" dirty="0">
                <a:solidFill>
                  <a:srgbClr val="D29922"/>
                </a:solidFill>
                <a:latin typeface="Consolas" pitchFamily="34" charset="0"/>
                <a:ea typeface="Consolas" pitchFamily="34" charset="-122"/>
                <a:cs typeface="Consolas" pitchFamily="34" charset="-120"/>
              </a:rPr>
              <a:t>⚠ Which identity is used?</a:t>
            </a:r>
            <a:endParaRPr lang="en-US" sz="1000" dirty="0"/>
          </a:p>
        </p:txBody>
      </p:sp>
      <p:sp>
        <p:nvSpPr>
          <p:cNvPr id="28" name="Text 26"/>
          <p:cNvSpPr/>
          <p:nvPr/>
        </p:nvSpPr>
        <p:spPr>
          <a:xfrm>
            <a:off x="5303520" y="2423160"/>
            <a:ext cx="2743200" cy="320040"/>
          </a:xfrm>
          <a:prstGeom prst="rect">
            <a:avLst/>
          </a:prstGeom>
          <a:noFill/>
          <a:ln/>
        </p:spPr>
        <p:txBody>
          <a:bodyPr wrap="square" rtlCol="0" anchor="ctr"/>
          <a:lstStyle/>
          <a:p>
            <a:pPr marL="0" indent="0" algn="ctr">
              <a:buNone/>
            </a:pPr>
            <a:r>
              <a:rPr lang="en-US" sz="1000" dirty="0">
                <a:solidFill>
                  <a:srgbClr val="D29922"/>
                </a:solidFill>
                <a:latin typeface="Consolas" pitchFamily="34" charset="0"/>
                <a:ea typeface="Consolas" pitchFamily="34" charset="-122"/>
                <a:cs typeface="Consolas" pitchFamily="34" charset="-120"/>
              </a:rPr>
              <a:t>⚠ Which actions are allowed?</a:t>
            </a:r>
            <a:endParaRPr lang="en-US" sz="1000" dirty="0"/>
          </a:p>
        </p:txBody>
      </p:sp>
      <p:sp>
        <p:nvSpPr>
          <p:cNvPr id="29" name="Text 27"/>
          <p:cNvSpPr/>
          <p:nvPr/>
        </p:nvSpPr>
        <p:spPr>
          <a:xfrm>
            <a:off x="8686800" y="2423160"/>
            <a:ext cx="2743200" cy="320040"/>
          </a:xfrm>
          <a:prstGeom prst="rect">
            <a:avLst/>
          </a:prstGeom>
          <a:noFill/>
          <a:ln/>
        </p:spPr>
        <p:txBody>
          <a:bodyPr wrap="square" rtlCol="0" anchor="ctr"/>
          <a:lstStyle/>
          <a:p>
            <a:pPr marL="0" indent="0" algn="ctr">
              <a:buNone/>
            </a:pPr>
            <a:r>
              <a:rPr lang="en-US" sz="1000" dirty="0">
                <a:solidFill>
                  <a:srgbClr val="D29922"/>
                </a:solidFill>
                <a:latin typeface="Consolas" pitchFamily="34" charset="0"/>
                <a:ea typeface="Consolas" pitchFamily="34" charset="-122"/>
                <a:cs typeface="Consolas" pitchFamily="34" charset="-120"/>
              </a:rPr>
              <a:t>⚠ Who approves high-risk steps?</a:t>
            </a:r>
            <a:endParaRPr lang="en-US" sz="1000" dirty="0"/>
          </a:p>
        </p:txBody>
      </p:sp>
      <p:sp>
        <p:nvSpPr>
          <p:cNvPr id="30" name="Text 28"/>
          <p:cNvSpPr/>
          <p:nvPr/>
        </p:nvSpPr>
        <p:spPr>
          <a:xfrm>
            <a:off x="914400" y="3017520"/>
            <a:ext cx="10360152" cy="2286000"/>
          </a:xfrm>
          <a:prstGeom prst="rect">
            <a:avLst/>
          </a:prstGeom>
          <a:noFill/>
          <a:ln/>
        </p:spPr>
        <p:txBody>
          <a:bodyPr wrap="square" rtlCol="0" anchor="t"/>
          <a:lstStyle/>
          <a:p>
            <a:pPr marL="342900" indent="-342900">
              <a:lnSpc>
                <a:spcPct val="135000"/>
              </a:lnSpc>
              <a:spcBef>
                <a:spcPts val="400"/>
              </a:spcBef>
              <a:buSzPct val="100000"/>
              <a:buChar char="•"/>
            </a:pPr>
            <a:r>
              <a:rPr lang="en-US" sz="1300" dirty="0">
                <a:solidFill>
                  <a:srgbClr val="E6EDF3"/>
                </a:solidFill>
                <a:latin typeface="Segoe UI" pitchFamily="34" charset="0"/>
                <a:ea typeface="Segoe UI" pitchFamily="34" charset="-122"/>
                <a:cs typeface="Segoe UI" pitchFamily="34" charset="-120"/>
              </a:rPr>
              <a:t>The chatbot can now plan, call tools, read/write records, persist state, chain LLM calls</a:t>
            </a:r>
            <a:endParaRPr lang="en-US" sz="1300" dirty="0"/>
          </a:p>
          <a:p>
            <a:pPr marL="342900" indent="-342900">
              <a:lnSpc>
                <a:spcPct val="135000"/>
              </a:lnSpc>
              <a:spcBef>
                <a:spcPts val="400"/>
              </a:spcBef>
              <a:buSzPct val="100000"/>
              <a:buChar char="•"/>
            </a:pPr>
            <a:r>
              <a:rPr lang="en-US" sz="1300" dirty="0">
                <a:solidFill>
                  <a:srgbClr val="E6EDF3"/>
                </a:solidFill>
                <a:latin typeface="Segoe UI" pitchFamily="34" charset="0"/>
                <a:ea typeface="Segoe UI" pitchFamily="34" charset="-122"/>
                <a:cs typeface="Segoe UI" pitchFamily="34" charset="-120"/>
              </a:rPr>
              <a:t>Risk shifts from information exposure to state-changing workflow impact</a:t>
            </a:r>
            <a:endParaRPr lang="en-US" sz="1300" dirty="0"/>
          </a:p>
          <a:p>
            <a:pPr marL="342900" indent="-342900">
              <a:lnSpc>
                <a:spcPct val="135000"/>
              </a:lnSpc>
              <a:spcBef>
                <a:spcPts val="400"/>
              </a:spcBef>
              <a:buSzPct val="100000"/>
              <a:buChar char="•"/>
            </a:pPr>
            <a:r>
              <a:rPr lang="en-US" sz="1300" dirty="0">
                <a:solidFill>
                  <a:srgbClr val="E6EDF3"/>
                </a:solidFill>
                <a:latin typeface="Segoe UI" pitchFamily="34" charset="0"/>
                <a:ea typeface="Segoe UI" pitchFamily="34" charset="-122"/>
                <a:cs typeface="Segoe UI" pitchFamily="34" charset="-120"/>
              </a:rPr>
              <a:t>Stage 1: what the model might reveal · Stage 2: what retrieval places in context</a:t>
            </a:r>
            <a:endParaRPr lang="en-US" sz="1300" dirty="0"/>
          </a:p>
          <a:p>
            <a:pPr marL="342900" indent="-342900">
              <a:lnSpc>
                <a:spcPct val="135000"/>
              </a:lnSpc>
              <a:spcBef>
                <a:spcPts val="400"/>
              </a:spcBef>
              <a:buSzPct val="100000"/>
              <a:buChar char="•"/>
            </a:pPr>
            <a:r>
              <a:rPr lang="en-US" sz="1300" b="1" dirty="0">
                <a:solidFill>
                  <a:srgbClr val="F85149"/>
                </a:solidFill>
                <a:latin typeface="Segoe UI" pitchFamily="34" charset="0"/>
                <a:ea typeface="Segoe UI" pitchFamily="34" charset="-122"/>
                <a:cs typeface="Segoe UI" pitchFamily="34" charset="-120"/>
              </a:rPr>
              <a:t>Stage 3: what the bot can DO with context it receives</a:t>
            </a:r>
            <a:endParaRPr lang="en-US" sz="1300" dirty="0"/>
          </a:p>
        </p:txBody>
      </p:sp>
      <p:sp>
        <p:nvSpPr>
          <p:cNvPr id="31" name="Shape 29"/>
          <p:cNvSpPr/>
          <p:nvPr/>
        </p:nvSpPr>
        <p:spPr>
          <a:xfrm>
            <a:off x="731520" y="5669280"/>
            <a:ext cx="54864" cy="411480"/>
          </a:xfrm>
          <a:prstGeom prst="rect">
            <a:avLst/>
          </a:prstGeom>
          <a:solidFill>
            <a:srgbClr val="3FB950"/>
          </a:solidFill>
          <a:ln/>
        </p:spPr>
        <p:txBody>
          <a:bodyPr/>
          <a:lstStyle/>
          <a:p>
            <a:endParaRPr lang="en-GB"/>
          </a:p>
        </p:txBody>
      </p:sp>
      <p:sp>
        <p:nvSpPr>
          <p:cNvPr id="32" name="Text 30"/>
          <p:cNvSpPr/>
          <p:nvPr/>
        </p:nvSpPr>
        <p:spPr>
          <a:xfrm>
            <a:off x="960120" y="5669280"/>
            <a:ext cx="10497312" cy="411480"/>
          </a:xfrm>
          <a:prstGeom prst="rect">
            <a:avLst/>
          </a:prstGeom>
          <a:noFill/>
          <a:ln/>
        </p:spPr>
        <p:txBody>
          <a:bodyPr wrap="square" rtlCol="0" anchor="ctr"/>
          <a:lstStyle/>
          <a:p>
            <a:pPr marL="0" indent="0">
              <a:buNone/>
            </a:pPr>
            <a:r>
              <a:rPr lang="en-US" sz="1400" b="1" i="1" dirty="0">
                <a:solidFill>
                  <a:srgbClr val="3FB950"/>
                </a:solidFill>
                <a:latin typeface="Segoe UI" pitchFamily="34" charset="0"/>
                <a:ea typeface="Segoe UI" pitchFamily="34" charset="-122"/>
                <a:cs typeface="Segoe UI" pitchFamily="34" charset="-120"/>
              </a:rPr>
              <a:t>Once a chatbot can use tools, a model error or injection can become a business action.</a:t>
            </a:r>
            <a:endParaRPr lang="en-US" sz="1400" dirty="0"/>
          </a:p>
        </p:txBody>
      </p:sp>
      <p:sp>
        <p:nvSpPr>
          <p:cNvPr id="33" name="Text 31"/>
          <p:cNvSpPr/>
          <p:nvPr/>
        </p:nvSpPr>
        <p:spPr>
          <a:xfrm>
            <a:off x="8686800" y="6263640"/>
            <a:ext cx="2926080" cy="228600"/>
          </a:xfrm>
          <a:prstGeom prst="rect">
            <a:avLst/>
          </a:prstGeom>
          <a:noFill/>
          <a:ln/>
        </p:spPr>
        <p:txBody>
          <a:bodyPr wrap="square"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OWASP LLM06:2025</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274320"/>
          </a:xfrm>
          <a:prstGeom prst="rect">
            <a:avLst/>
          </a:prstGeom>
          <a:noFill/>
          <a:ln/>
        </p:spPr>
        <p:txBody>
          <a:bodyPr wrap="square" rtlCol="0" anchor="ctr"/>
          <a:lstStyle/>
          <a:p>
            <a:pPr marL="0" indent="0">
              <a:buNone/>
            </a:pPr>
            <a:r>
              <a:rPr lang="en-US" sz="1100" dirty="0">
                <a:solidFill>
                  <a:srgbClr val="8B949E"/>
                </a:solidFill>
                <a:latin typeface="Consolas" pitchFamily="34" charset="0"/>
                <a:ea typeface="Consolas" pitchFamily="34" charset="-122"/>
                <a:cs typeface="Consolas" pitchFamily="34" charset="-120"/>
              </a:rPr>
              <a:t>Stage 3 · Surfaces</a:t>
            </a:r>
            <a:endParaRPr lang="en-US" sz="1100" dirty="0"/>
          </a:p>
        </p:txBody>
      </p:sp>
      <p:sp>
        <p:nvSpPr>
          <p:cNvPr id="3" name="Text 1"/>
          <p:cNvSpPr/>
          <p:nvPr/>
        </p:nvSpPr>
        <p:spPr>
          <a:xfrm>
            <a:off x="548640" y="594360"/>
            <a:ext cx="11091672" cy="502920"/>
          </a:xfrm>
          <a:prstGeom prst="rect">
            <a:avLst/>
          </a:prstGeom>
          <a:noFill/>
          <a:ln/>
        </p:spPr>
        <p:txBody>
          <a:bodyPr wrap="square" rtlCol="0" anchor="ctr"/>
          <a:lstStyle/>
          <a:p>
            <a:pPr marL="0" indent="0">
              <a:buNone/>
            </a:pPr>
            <a:r>
              <a:rPr lang="en-US" sz="2400" dirty="0">
                <a:solidFill>
                  <a:srgbClr val="8B949E"/>
                </a:solidFill>
                <a:latin typeface="Consolas" pitchFamily="34" charset="0"/>
                <a:ea typeface="Consolas" pitchFamily="34" charset="-122"/>
                <a:cs typeface="Consolas" pitchFamily="34" charset="-120"/>
              </a:rPr>
              <a:t>&gt; </a:t>
            </a:r>
            <a:r>
              <a:rPr lang="en-US" sz="2200" b="1" dirty="0">
                <a:solidFill>
                  <a:srgbClr val="58A6FF"/>
                </a:solidFill>
                <a:latin typeface="Consolas" pitchFamily="34" charset="0"/>
                <a:ea typeface="Consolas" pitchFamily="34" charset="-122"/>
                <a:cs typeface="Consolas" pitchFamily="34" charset="-120"/>
              </a:rPr>
              <a:t>Tools, Memory, and Identity</a:t>
            </a:r>
            <a:endParaRPr lang="en-US" sz="2400" dirty="0"/>
          </a:p>
        </p:txBody>
      </p:sp>
      <p:sp>
        <p:nvSpPr>
          <p:cNvPr id="4" name="Shape 2"/>
          <p:cNvSpPr/>
          <p:nvPr/>
        </p:nvSpPr>
        <p:spPr>
          <a:xfrm>
            <a:off x="548640" y="1143000"/>
            <a:ext cx="11091672" cy="13716"/>
          </a:xfrm>
          <a:prstGeom prst="rect">
            <a:avLst/>
          </a:prstGeom>
          <a:solidFill>
            <a:srgbClr val="30363D"/>
          </a:solidFill>
          <a:ln/>
        </p:spPr>
        <p:txBody>
          <a:bodyPr/>
          <a:lstStyle/>
          <a:p>
            <a:endParaRPr lang="en-GB"/>
          </a:p>
        </p:txBody>
      </p:sp>
      <p:sp>
        <p:nvSpPr>
          <p:cNvPr id="5" name="Text 3"/>
          <p:cNvSpPr/>
          <p:nvPr/>
        </p:nvSpPr>
        <p:spPr>
          <a:xfrm>
            <a:off x="10972800" y="6446520"/>
            <a:ext cx="731520" cy="274320"/>
          </a:xfrm>
          <a:prstGeom prst="rect">
            <a:avLst/>
          </a:prstGeom>
          <a:noFill/>
          <a:ln/>
        </p:spPr>
        <p:txBody>
          <a:bodyPr wrap="square" rtlCol="0" anchor="ctr"/>
          <a:lstStyle/>
          <a:p>
            <a:pPr marL="0" indent="0" algn="r">
              <a:buNone/>
            </a:pPr>
            <a:r>
              <a:rPr lang="en-US" sz="1000" dirty="0">
                <a:solidFill>
                  <a:srgbClr val="8B949E"/>
                </a:solidFill>
                <a:latin typeface="Consolas" pitchFamily="34" charset="0"/>
                <a:ea typeface="Consolas" pitchFamily="34" charset="-122"/>
                <a:cs typeface="Consolas" pitchFamily="34" charset="-120"/>
              </a:rPr>
              <a:t>19</a:t>
            </a:r>
            <a:endParaRPr lang="en-US" sz="1000" dirty="0"/>
          </a:p>
        </p:txBody>
      </p:sp>
      <p:sp>
        <p:nvSpPr>
          <p:cNvPr id="6" name="Shape 4"/>
          <p:cNvSpPr/>
          <p:nvPr/>
        </p:nvSpPr>
        <p:spPr>
          <a:xfrm>
            <a:off x="548640" y="1325880"/>
            <a:ext cx="11091672" cy="5074920"/>
          </a:xfrm>
          <a:prstGeom prst="roundRect">
            <a:avLst>
              <a:gd name="adj" fmla="val 2162"/>
            </a:avLst>
          </a:prstGeom>
          <a:solidFill>
            <a:srgbClr val="161B22"/>
          </a:solidFill>
          <a:ln w="9525">
            <a:solidFill>
              <a:srgbClr val="30363D"/>
            </a:solidFill>
            <a:prstDash val="solid"/>
          </a:ln>
        </p:spPr>
        <p:txBody>
          <a:bodyPr/>
          <a:lstStyle/>
          <a:p>
            <a:endParaRPr lang="en-GB"/>
          </a:p>
        </p:txBody>
      </p:sp>
      <p:sp>
        <p:nvSpPr>
          <p:cNvPr id="7" name="Shape 5"/>
          <p:cNvSpPr/>
          <p:nvPr/>
        </p:nvSpPr>
        <p:spPr>
          <a:xfrm>
            <a:off x="1188720" y="1554480"/>
            <a:ext cx="3108960" cy="3657600"/>
          </a:xfrm>
          <a:prstGeom prst="roundRect">
            <a:avLst>
              <a:gd name="adj" fmla="val 2353"/>
            </a:avLst>
          </a:prstGeom>
          <a:solidFill>
            <a:srgbClr val="161B22"/>
          </a:solidFill>
          <a:ln w="12700">
            <a:solidFill>
              <a:srgbClr val="58A6FF"/>
            </a:solidFill>
            <a:prstDash val="solid"/>
          </a:ln>
        </p:spPr>
        <p:txBody>
          <a:bodyPr/>
          <a:lstStyle/>
          <a:p>
            <a:endParaRPr lang="en-GB"/>
          </a:p>
        </p:txBody>
      </p:sp>
      <p:sp>
        <p:nvSpPr>
          <p:cNvPr id="8" name="Text 6"/>
          <p:cNvSpPr/>
          <p:nvPr/>
        </p:nvSpPr>
        <p:spPr>
          <a:xfrm>
            <a:off x="1188720" y="1691640"/>
            <a:ext cx="3108960" cy="365760"/>
          </a:xfrm>
          <a:prstGeom prst="rect">
            <a:avLst/>
          </a:prstGeom>
          <a:noFill/>
          <a:ln/>
        </p:spPr>
        <p:txBody>
          <a:bodyPr wrap="square" rtlCol="0" anchor="ctr"/>
          <a:lstStyle/>
          <a:p>
            <a:pPr marL="0" indent="0" algn="ctr">
              <a:buNone/>
            </a:pPr>
            <a:r>
              <a:rPr lang="en-US" sz="1400" b="1" dirty="0">
                <a:solidFill>
                  <a:srgbClr val="58A6FF"/>
                </a:solidFill>
                <a:latin typeface="Consolas" pitchFamily="34" charset="0"/>
                <a:ea typeface="Consolas" pitchFamily="34" charset="-122"/>
                <a:cs typeface="Consolas" pitchFamily="34" charset="-120"/>
              </a:rPr>
              <a:t>Tools</a:t>
            </a:r>
            <a:endParaRPr lang="en-US" sz="1400" dirty="0"/>
          </a:p>
        </p:txBody>
      </p:sp>
      <p:sp>
        <p:nvSpPr>
          <p:cNvPr id="9" name="Text 7"/>
          <p:cNvSpPr/>
          <p:nvPr/>
        </p:nvSpPr>
        <p:spPr>
          <a:xfrm>
            <a:off x="1325880" y="2103120"/>
            <a:ext cx="2834640" cy="2926080"/>
          </a:xfrm>
          <a:prstGeom prst="rect">
            <a:avLst/>
          </a:prstGeom>
          <a:noFill/>
          <a:ln/>
        </p:spPr>
        <p:txBody>
          <a:bodyPr wrap="square" rtlCol="0" anchor="t"/>
          <a:lstStyle/>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Read records</a:t>
            </a:r>
            <a:endParaRPr lang="en-US" sz="1200" dirty="0"/>
          </a:p>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Write tickets</a:t>
            </a:r>
            <a:endParaRPr lang="en-US" sz="1200" dirty="0"/>
          </a:p>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Send messages</a:t>
            </a:r>
            <a:endParaRPr lang="en-US" sz="1200" dirty="0"/>
          </a:p>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Update status</a:t>
            </a:r>
            <a:endParaRPr lang="en-US" sz="1200" dirty="0"/>
          </a:p>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Issue refunds</a:t>
            </a:r>
            <a:endParaRPr lang="en-US" sz="1200" dirty="0"/>
          </a:p>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Call external APIs</a:t>
            </a:r>
            <a:endParaRPr lang="en-US" sz="1200" dirty="0"/>
          </a:p>
        </p:txBody>
      </p:sp>
      <p:sp>
        <p:nvSpPr>
          <p:cNvPr id="10" name="Shape 8"/>
          <p:cNvSpPr/>
          <p:nvPr/>
        </p:nvSpPr>
        <p:spPr>
          <a:xfrm>
            <a:off x="4800600" y="1554480"/>
            <a:ext cx="3108960" cy="3657600"/>
          </a:xfrm>
          <a:prstGeom prst="roundRect">
            <a:avLst>
              <a:gd name="adj" fmla="val 2353"/>
            </a:avLst>
          </a:prstGeom>
          <a:solidFill>
            <a:srgbClr val="161B22"/>
          </a:solidFill>
          <a:ln w="12700">
            <a:solidFill>
              <a:srgbClr val="D29922"/>
            </a:solidFill>
            <a:prstDash val="solid"/>
          </a:ln>
        </p:spPr>
        <p:txBody>
          <a:bodyPr/>
          <a:lstStyle/>
          <a:p>
            <a:endParaRPr lang="en-GB"/>
          </a:p>
        </p:txBody>
      </p:sp>
      <p:sp>
        <p:nvSpPr>
          <p:cNvPr id="11" name="Text 9"/>
          <p:cNvSpPr/>
          <p:nvPr/>
        </p:nvSpPr>
        <p:spPr>
          <a:xfrm>
            <a:off x="4800600" y="1691640"/>
            <a:ext cx="3108960" cy="365760"/>
          </a:xfrm>
          <a:prstGeom prst="rect">
            <a:avLst/>
          </a:prstGeom>
          <a:noFill/>
          <a:ln/>
        </p:spPr>
        <p:txBody>
          <a:bodyPr wrap="square" rtlCol="0" anchor="ctr"/>
          <a:lstStyle/>
          <a:p>
            <a:pPr marL="0" indent="0" algn="ctr">
              <a:buNone/>
            </a:pPr>
            <a:r>
              <a:rPr lang="en-US" sz="1400" b="1" dirty="0">
                <a:solidFill>
                  <a:srgbClr val="D29922"/>
                </a:solidFill>
                <a:latin typeface="Consolas" pitchFamily="34" charset="0"/>
                <a:ea typeface="Consolas" pitchFamily="34" charset="-122"/>
                <a:cs typeface="Consolas" pitchFamily="34" charset="-120"/>
              </a:rPr>
              <a:t>Memory / State</a:t>
            </a:r>
            <a:endParaRPr lang="en-US" sz="1400" dirty="0"/>
          </a:p>
        </p:txBody>
      </p:sp>
      <p:sp>
        <p:nvSpPr>
          <p:cNvPr id="12" name="Text 10"/>
          <p:cNvSpPr/>
          <p:nvPr/>
        </p:nvSpPr>
        <p:spPr>
          <a:xfrm>
            <a:off x="4937760" y="2103120"/>
            <a:ext cx="2834640" cy="2926080"/>
          </a:xfrm>
          <a:prstGeom prst="rect">
            <a:avLst/>
          </a:prstGeom>
          <a:noFill/>
          <a:ln/>
        </p:spPr>
        <p:txBody>
          <a:bodyPr wrap="square" rtlCol="0" anchor="t"/>
          <a:lstStyle/>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User preferences</a:t>
            </a:r>
            <a:endParaRPr lang="en-US" sz="1200" dirty="0"/>
          </a:p>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Workflow state</a:t>
            </a:r>
            <a:endParaRPr lang="en-US" sz="1200" dirty="0"/>
          </a:p>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Prior context</a:t>
            </a:r>
            <a:endParaRPr lang="en-US" sz="1200" dirty="0"/>
          </a:p>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Tool results</a:t>
            </a:r>
            <a:endParaRPr lang="en-US" sz="1200" dirty="0"/>
          </a:p>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Internal notes</a:t>
            </a:r>
            <a:endParaRPr lang="en-US" sz="1200" dirty="0"/>
          </a:p>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Session history</a:t>
            </a:r>
            <a:endParaRPr lang="en-US" sz="1200" dirty="0"/>
          </a:p>
        </p:txBody>
      </p:sp>
      <p:sp>
        <p:nvSpPr>
          <p:cNvPr id="13" name="Shape 11"/>
          <p:cNvSpPr/>
          <p:nvPr/>
        </p:nvSpPr>
        <p:spPr>
          <a:xfrm>
            <a:off x="8412480" y="1554480"/>
            <a:ext cx="3108960" cy="3657600"/>
          </a:xfrm>
          <a:prstGeom prst="roundRect">
            <a:avLst>
              <a:gd name="adj" fmla="val 2353"/>
            </a:avLst>
          </a:prstGeom>
          <a:solidFill>
            <a:srgbClr val="161B22"/>
          </a:solidFill>
          <a:ln w="12700">
            <a:solidFill>
              <a:srgbClr val="F85149"/>
            </a:solidFill>
            <a:prstDash val="solid"/>
          </a:ln>
        </p:spPr>
        <p:txBody>
          <a:bodyPr/>
          <a:lstStyle/>
          <a:p>
            <a:endParaRPr lang="en-GB"/>
          </a:p>
        </p:txBody>
      </p:sp>
      <p:sp>
        <p:nvSpPr>
          <p:cNvPr id="14" name="Text 12"/>
          <p:cNvSpPr/>
          <p:nvPr/>
        </p:nvSpPr>
        <p:spPr>
          <a:xfrm>
            <a:off x="8412480" y="1691640"/>
            <a:ext cx="3108960" cy="365760"/>
          </a:xfrm>
          <a:prstGeom prst="rect">
            <a:avLst/>
          </a:prstGeom>
          <a:noFill/>
          <a:ln/>
        </p:spPr>
        <p:txBody>
          <a:bodyPr wrap="square" rtlCol="0" anchor="ctr"/>
          <a:lstStyle/>
          <a:p>
            <a:pPr marL="0" indent="0" algn="ctr">
              <a:buNone/>
            </a:pPr>
            <a:r>
              <a:rPr lang="en-US" sz="1400" b="1" dirty="0">
                <a:solidFill>
                  <a:srgbClr val="F85149"/>
                </a:solidFill>
                <a:latin typeface="Consolas" pitchFamily="34" charset="0"/>
                <a:ea typeface="Consolas" pitchFamily="34" charset="-122"/>
                <a:cs typeface="Consolas" pitchFamily="34" charset="-120"/>
              </a:rPr>
              <a:t>Identity</a:t>
            </a:r>
            <a:endParaRPr lang="en-US" sz="1400" dirty="0"/>
          </a:p>
        </p:txBody>
      </p:sp>
      <p:sp>
        <p:nvSpPr>
          <p:cNvPr id="15" name="Text 13"/>
          <p:cNvSpPr/>
          <p:nvPr/>
        </p:nvSpPr>
        <p:spPr>
          <a:xfrm>
            <a:off x="8549640" y="2103120"/>
            <a:ext cx="2834640" cy="2926080"/>
          </a:xfrm>
          <a:prstGeom prst="rect">
            <a:avLst/>
          </a:prstGeom>
          <a:noFill/>
          <a:ln/>
        </p:spPr>
        <p:txBody>
          <a:bodyPr wrap="square" rtlCol="0" anchor="t"/>
          <a:lstStyle/>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End user</a:t>
            </a:r>
            <a:endParaRPr lang="en-US" sz="1200" dirty="0"/>
          </a:p>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Employee</a:t>
            </a:r>
            <a:endParaRPr lang="en-US" sz="1200" dirty="0"/>
          </a:p>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Service account</a:t>
            </a:r>
            <a:endParaRPr lang="en-US" sz="1200" dirty="0"/>
          </a:p>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Delegated token</a:t>
            </a:r>
            <a:endParaRPr lang="en-US" sz="1200" dirty="0"/>
          </a:p>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Tenant-scoped principal</a:t>
            </a:r>
            <a:endParaRPr lang="en-US" sz="1200" dirty="0"/>
          </a:p>
          <a:p>
            <a:pPr marL="342900" indent="-342900">
              <a:lnSpc>
                <a:spcPct val="135000"/>
              </a:lnSpc>
              <a:spcBef>
                <a:spcPts val="400"/>
              </a:spcBef>
              <a:buSzPct val="100000"/>
              <a:buChar char="•"/>
            </a:pPr>
            <a:r>
              <a:rPr lang="en-US" sz="1200" dirty="0">
                <a:solidFill>
                  <a:srgbClr val="E6EDF3"/>
                </a:solidFill>
                <a:latin typeface="Segoe UI" pitchFamily="34" charset="0"/>
                <a:ea typeface="Segoe UI" pitchFamily="34" charset="-122"/>
                <a:cs typeface="Segoe UI" pitchFamily="34" charset="-120"/>
              </a:rPr>
              <a:t>Integration role</a:t>
            </a:r>
            <a:endParaRPr lang="en-US" sz="1200" dirty="0"/>
          </a:p>
        </p:txBody>
      </p:sp>
      <p:sp>
        <p:nvSpPr>
          <p:cNvPr id="16" name="Shape 14"/>
          <p:cNvSpPr/>
          <p:nvPr/>
        </p:nvSpPr>
        <p:spPr>
          <a:xfrm>
            <a:off x="731520" y="5486400"/>
            <a:ext cx="54864" cy="411480"/>
          </a:xfrm>
          <a:prstGeom prst="rect">
            <a:avLst/>
          </a:prstGeom>
          <a:solidFill>
            <a:srgbClr val="3FB950"/>
          </a:solidFill>
          <a:ln/>
        </p:spPr>
        <p:txBody>
          <a:bodyPr/>
          <a:lstStyle/>
          <a:p>
            <a:endParaRPr lang="en-GB"/>
          </a:p>
        </p:txBody>
      </p:sp>
      <p:sp>
        <p:nvSpPr>
          <p:cNvPr id="17" name="Text 15"/>
          <p:cNvSpPr/>
          <p:nvPr/>
        </p:nvSpPr>
        <p:spPr>
          <a:xfrm>
            <a:off x="960120" y="5486400"/>
            <a:ext cx="10497312" cy="411480"/>
          </a:xfrm>
          <a:prstGeom prst="rect">
            <a:avLst/>
          </a:prstGeom>
          <a:noFill/>
          <a:ln/>
        </p:spPr>
        <p:txBody>
          <a:bodyPr wrap="square" rtlCol="0" anchor="ctr"/>
          <a:lstStyle/>
          <a:p>
            <a:pPr marL="0" indent="0">
              <a:buNone/>
            </a:pPr>
            <a:r>
              <a:rPr lang="en-US" sz="1400" b="1" i="1" dirty="0">
                <a:solidFill>
                  <a:srgbClr val="3FB950"/>
                </a:solidFill>
                <a:latin typeface="Segoe UI" pitchFamily="34" charset="0"/>
                <a:ea typeface="Segoe UI" pitchFamily="34" charset="-122"/>
                <a:cs typeface="Segoe UI" pitchFamily="34" charset="-120"/>
              </a:rPr>
              <a:t>The model should request actions; the application should authorize them.</a:t>
            </a:r>
            <a:endParaRPr lang="en-US" sz="1400" dirty="0"/>
          </a:p>
        </p:txBody>
      </p:sp>
      <p:sp>
        <p:nvSpPr>
          <p:cNvPr id="18" name="Text 16"/>
          <p:cNvSpPr/>
          <p:nvPr/>
        </p:nvSpPr>
        <p:spPr>
          <a:xfrm>
            <a:off x="8686800" y="6263640"/>
            <a:ext cx="2926080" cy="228600"/>
          </a:xfrm>
          <a:prstGeom prst="rect">
            <a:avLst/>
          </a:prstGeom>
          <a:noFill/>
          <a:ln/>
        </p:spPr>
        <p:txBody>
          <a:bodyPr wrap="square"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OWASP LLM06:2025</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274320"/>
          </a:xfrm>
          <a:prstGeom prst="rect">
            <a:avLst/>
          </a:prstGeom>
          <a:noFill/>
          <a:ln/>
        </p:spPr>
        <p:txBody>
          <a:bodyPr wrap="square" rtlCol="0" anchor="ctr"/>
          <a:lstStyle/>
          <a:p>
            <a:pPr marL="0" indent="0">
              <a:buNone/>
            </a:pPr>
            <a:r>
              <a:rPr lang="en-US" sz="1100" dirty="0">
                <a:solidFill>
                  <a:srgbClr val="8B949E"/>
                </a:solidFill>
                <a:latin typeface="Consolas" pitchFamily="34" charset="0"/>
                <a:ea typeface="Consolas" pitchFamily="34" charset="-122"/>
                <a:cs typeface="Consolas" pitchFamily="34" charset="-120"/>
              </a:rPr>
              <a:t>Stage 3 · Failure Mode</a:t>
            </a:r>
            <a:endParaRPr lang="en-US" sz="1100" dirty="0"/>
          </a:p>
        </p:txBody>
      </p:sp>
      <p:sp>
        <p:nvSpPr>
          <p:cNvPr id="3" name="Text 1"/>
          <p:cNvSpPr/>
          <p:nvPr/>
        </p:nvSpPr>
        <p:spPr>
          <a:xfrm>
            <a:off x="548640" y="594360"/>
            <a:ext cx="11091672" cy="502920"/>
          </a:xfrm>
          <a:prstGeom prst="rect">
            <a:avLst/>
          </a:prstGeom>
          <a:noFill/>
          <a:ln/>
        </p:spPr>
        <p:txBody>
          <a:bodyPr wrap="square" rtlCol="0" anchor="ctr"/>
          <a:lstStyle/>
          <a:p>
            <a:pPr marL="0" indent="0">
              <a:buNone/>
            </a:pPr>
            <a:r>
              <a:rPr lang="en-US" sz="2400" dirty="0">
                <a:solidFill>
                  <a:srgbClr val="8B949E"/>
                </a:solidFill>
                <a:latin typeface="Consolas" pitchFamily="34" charset="0"/>
                <a:ea typeface="Consolas" pitchFamily="34" charset="-122"/>
                <a:cs typeface="Consolas" pitchFamily="34" charset="-120"/>
              </a:rPr>
              <a:t>&gt; </a:t>
            </a:r>
            <a:r>
              <a:rPr lang="en-US" sz="2200" b="1" dirty="0">
                <a:solidFill>
                  <a:srgbClr val="58A6FF"/>
                </a:solidFill>
                <a:latin typeface="Consolas" pitchFamily="34" charset="0"/>
                <a:ea typeface="Consolas" pitchFamily="34" charset="-122"/>
                <a:cs typeface="Consolas" pitchFamily="34" charset="-120"/>
              </a:rPr>
              <a:t>How agent fails?</a:t>
            </a:r>
            <a:endParaRPr lang="en-US" sz="2400" dirty="0"/>
          </a:p>
        </p:txBody>
      </p:sp>
      <p:sp>
        <p:nvSpPr>
          <p:cNvPr id="4" name="Shape 2"/>
          <p:cNvSpPr/>
          <p:nvPr/>
        </p:nvSpPr>
        <p:spPr>
          <a:xfrm>
            <a:off x="548640" y="1143000"/>
            <a:ext cx="11091672" cy="13716"/>
          </a:xfrm>
          <a:prstGeom prst="rect">
            <a:avLst/>
          </a:prstGeom>
          <a:solidFill>
            <a:srgbClr val="30363D"/>
          </a:solidFill>
          <a:ln/>
        </p:spPr>
        <p:txBody>
          <a:bodyPr/>
          <a:lstStyle/>
          <a:p>
            <a:endParaRPr lang="en-GB"/>
          </a:p>
        </p:txBody>
      </p:sp>
      <p:sp>
        <p:nvSpPr>
          <p:cNvPr id="5" name="Text 3"/>
          <p:cNvSpPr/>
          <p:nvPr/>
        </p:nvSpPr>
        <p:spPr>
          <a:xfrm>
            <a:off x="10972800" y="6446520"/>
            <a:ext cx="731520" cy="274320"/>
          </a:xfrm>
          <a:prstGeom prst="rect">
            <a:avLst/>
          </a:prstGeom>
          <a:noFill/>
          <a:ln/>
        </p:spPr>
        <p:txBody>
          <a:bodyPr wrap="square" rtlCol="0" anchor="ctr"/>
          <a:lstStyle/>
          <a:p>
            <a:pPr marL="0" indent="0" algn="r">
              <a:buNone/>
            </a:pPr>
            <a:r>
              <a:rPr lang="en-US" sz="1000" dirty="0">
                <a:solidFill>
                  <a:srgbClr val="8B949E"/>
                </a:solidFill>
                <a:latin typeface="Consolas" pitchFamily="34" charset="0"/>
                <a:ea typeface="Consolas" pitchFamily="34" charset="-122"/>
                <a:cs typeface="Consolas" pitchFamily="34" charset="-120"/>
              </a:rPr>
              <a:t>20</a:t>
            </a:r>
            <a:endParaRPr lang="en-US" sz="1000" dirty="0"/>
          </a:p>
        </p:txBody>
      </p:sp>
      <p:sp>
        <p:nvSpPr>
          <p:cNvPr id="6" name="Shape 4"/>
          <p:cNvSpPr/>
          <p:nvPr/>
        </p:nvSpPr>
        <p:spPr>
          <a:xfrm>
            <a:off x="548640" y="1325880"/>
            <a:ext cx="11091672" cy="5074920"/>
          </a:xfrm>
          <a:prstGeom prst="roundRect">
            <a:avLst>
              <a:gd name="adj" fmla="val 2162"/>
            </a:avLst>
          </a:prstGeom>
          <a:solidFill>
            <a:srgbClr val="161B22"/>
          </a:solidFill>
          <a:ln w="9525">
            <a:solidFill>
              <a:srgbClr val="30363D"/>
            </a:solidFill>
            <a:prstDash val="solid"/>
          </a:ln>
        </p:spPr>
        <p:txBody>
          <a:bodyPr/>
          <a:lstStyle/>
          <a:p>
            <a:endParaRPr lang="en-GB"/>
          </a:p>
        </p:txBody>
      </p:sp>
      <p:sp>
        <p:nvSpPr>
          <p:cNvPr id="7" name="Shape 5"/>
          <p:cNvSpPr/>
          <p:nvPr/>
        </p:nvSpPr>
        <p:spPr>
          <a:xfrm>
            <a:off x="914400" y="1645920"/>
            <a:ext cx="1498092"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8" name="Text 6"/>
          <p:cNvSpPr/>
          <p:nvPr/>
        </p:nvSpPr>
        <p:spPr>
          <a:xfrm>
            <a:off x="914400" y="1645920"/>
            <a:ext cx="1498092" cy="502920"/>
          </a:xfrm>
          <a:prstGeom prst="rect">
            <a:avLst/>
          </a:prstGeom>
          <a:noFill/>
          <a:ln/>
        </p:spPr>
        <p:txBody>
          <a:bodyPr wrap="square" rtlCol="0" anchor="ctr"/>
          <a:lstStyle/>
          <a:p>
            <a:pPr marL="0" indent="0" algn="ctr">
              <a:buNone/>
            </a:pPr>
            <a:r>
              <a:rPr lang="en-US" sz="1000" b="1" dirty="0">
                <a:solidFill>
                  <a:srgbClr val="E6EDF3"/>
                </a:solidFill>
                <a:latin typeface="Segoe UI" pitchFamily="34" charset="0"/>
                <a:ea typeface="Segoe UI" pitchFamily="34" charset="-122"/>
                <a:cs typeface="Segoe UI" pitchFamily="34" charset="-120"/>
              </a:rPr>
              <a:t>Untrusted Content</a:t>
            </a:r>
            <a:endParaRPr lang="en-US" sz="1000" dirty="0"/>
          </a:p>
        </p:txBody>
      </p:sp>
      <p:sp>
        <p:nvSpPr>
          <p:cNvPr id="9" name="Text 7"/>
          <p:cNvSpPr/>
          <p:nvPr/>
        </p:nvSpPr>
        <p:spPr>
          <a:xfrm>
            <a:off x="2412492" y="1645920"/>
            <a:ext cx="274320" cy="502920"/>
          </a:xfrm>
          <a:prstGeom prst="rect">
            <a:avLst/>
          </a:prstGeom>
          <a:noFill/>
          <a:ln/>
        </p:spPr>
        <p:txBody>
          <a:bodyPr wrap="square" rtlCol="0" anchor="ctr"/>
          <a:lstStyle/>
          <a:p>
            <a:pPr marL="0" indent="0" algn="ctr">
              <a:buNone/>
            </a:pPr>
            <a:r>
              <a:rPr lang="en-US" sz="1600" dirty="0">
                <a:solidFill>
                  <a:srgbClr val="F85149"/>
                </a:solidFill>
                <a:latin typeface="Segoe UI" pitchFamily="34" charset="0"/>
                <a:ea typeface="Segoe UI" pitchFamily="34" charset="-122"/>
                <a:cs typeface="Segoe UI" pitchFamily="34" charset="-120"/>
              </a:rPr>
              <a:t>→</a:t>
            </a:r>
            <a:endParaRPr lang="en-US" sz="1600" dirty="0"/>
          </a:p>
        </p:txBody>
      </p:sp>
      <p:sp>
        <p:nvSpPr>
          <p:cNvPr id="10" name="Shape 8"/>
          <p:cNvSpPr/>
          <p:nvPr/>
        </p:nvSpPr>
        <p:spPr>
          <a:xfrm>
            <a:off x="2686812" y="1645920"/>
            <a:ext cx="1498092"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1" name="Text 9"/>
          <p:cNvSpPr/>
          <p:nvPr/>
        </p:nvSpPr>
        <p:spPr>
          <a:xfrm>
            <a:off x="2686812" y="1645920"/>
            <a:ext cx="1498092" cy="502920"/>
          </a:xfrm>
          <a:prstGeom prst="rect">
            <a:avLst/>
          </a:prstGeom>
          <a:noFill/>
          <a:ln/>
        </p:spPr>
        <p:txBody>
          <a:bodyPr wrap="square" rtlCol="0" anchor="ctr"/>
          <a:lstStyle/>
          <a:p>
            <a:pPr marL="0" indent="0" algn="ctr">
              <a:buNone/>
            </a:pPr>
            <a:r>
              <a:rPr lang="en-US" sz="1000" b="1" dirty="0">
                <a:solidFill>
                  <a:srgbClr val="E6EDF3"/>
                </a:solidFill>
                <a:latin typeface="Segoe UI" pitchFamily="34" charset="0"/>
                <a:ea typeface="Segoe UI" pitchFamily="34" charset="-122"/>
                <a:cs typeface="Segoe UI" pitchFamily="34" charset="-120"/>
              </a:rPr>
              <a:t>Agent Context</a:t>
            </a:r>
            <a:endParaRPr lang="en-US" sz="1000" dirty="0"/>
          </a:p>
        </p:txBody>
      </p:sp>
      <p:sp>
        <p:nvSpPr>
          <p:cNvPr id="12" name="Text 10"/>
          <p:cNvSpPr/>
          <p:nvPr/>
        </p:nvSpPr>
        <p:spPr>
          <a:xfrm>
            <a:off x="4184904" y="1645920"/>
            <a:ext cx="274320" cy="502920"/>
          </a:xfrm>
          <a:prstGeom prst="rect">
            <a:avLst/>
          </a:prstGeom>
          <a:noFill/>
          <a:ln/>
        </p:spPr>
        <p:txBody>
          <a:bodyPr wrap="square" rtlCol="0" anchor="ctr"/>
          <a:lstStyle/>
          <a:p>
            <a:pPr marL="0" indent="0" algn="ctr">
              <a:buNone/>
            </a:pPr>
            <a:r>
              <a:rPr lang="en-US" sz="1600" dirty="0">
                <a:solidFill>
                  <a:srgbClr val="F85149"/>
                </a:solidFill>
                <a:latin typeface="Segoe UI" pitchFamily="34" charset="0"/>
                <a:ea typeface="Segoe UI" pitchFamily="34" charset="-122"/>
                <a:cs typeface="Segoe UI" pitchFamily="34" charset="-120"/>
              </a:rPr>
              <a:t>→</a:t>
            </a:r>
            <a:endParaRPr lang="en-US" sz="1600" dirty="0"/>
          </a:p>
        </p:txBody>
      </p:sp>
      <p:sp>
        <p:nvSpPr>
          <p:cNvPr id="13" name="Shape 11"/>
          <p:cNvSpPr/>
          <p:nvPr/>
        </p:nvSpPr>
        <p:spPr>
          <a:xfrm>
            <a:off x="4459224" y="1645920"/>
            <a:ext cx="1498092"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4" name="Text 12"/>
          <p:cNvSpPr/>
          <p:nvPr/>
        </p:nvSpPr>
        <p:spPr>
          <a:xfrm>
            <a:off x="4459224" y="1645920"/>
            <a:ext cx="1498092" cy="502920"/>
          </a:xfrm>
          <a:prstGeom prst="rect">
            <a:avLst/>
          </a:prstGeom>
          <a:noFill/>
          <a:ln/>
        </p:spPr>
        <p:txBody>
          <a:bodyPr wrap="square" rtlCol="0" anchor="ctr"/>
          <a:lstStyle/>
          <a:p>
            <a:pPr marL="0" indent="0" algn="ctr">
              <a:buNone/>
            </a:pPr>
            <a:r>
              <a:rPr lang="en-US" sz="1000" b="1" dirty="0">
                <a:solidFill>
                  <a:srgbClr val="E6EDF3"/>
                </a:solidFill>
                <a:latin typeface="Segoe UI" pitchFamily="34" charset="0"/>
                <a:ea typeface="Segoe UI" pitchFamily="34" charset="-122"/>
                <a:cs typeface="Segoe UI" pitchFamily="34" charset="-120"/>
              </a:rPr>
              <a:t>Tool Proposal</a:t>
            </a:r>
            <a:endParaRPr lang="en-US" sz="1000" dirty="0"/>
          </a:p>
        </p:txBody>
      </p:sp>
      <p:sp>
        <p:nvSpPr>
          <p:cNvPr id="15" name="Text 13"/>
          <p:cNvSpPr/>
          <p:nvPr/>
        </p:nvSpPr>
        <p:spPr>
          <a:xfrm>
            <a:off x="5957316" y="1645920"/>
            <a:ext cx="274320" cy="502920"/>
          </a:xfrm>
          <a:prstGeom prst="rect">
            <a:avLst/>
          </a:prstGeom>
          <a:noFill/>
          <a:ln/>
        </p:spPr>
        <p:txBody>
          <a:bodyPr wrap="square" rtlCol="0" anchor="ctr"/>
          <a:lstStyle/>
          <a:p>
            <a:pPr marL="0" indent="0" algn="ctr">
              <a:buNone/>
            </a:pPr>
            <a:r>
              <a:rPr lang="en-US" sz="1600" dirty="0">
                <a:solidFill>
                  <a:srgbClr val="F85149"/>
                </a:solidFill>
                <a:latin typeface="Segoe UI" pitchFamily="34" charset="0"/>
                <a:ea typeface="Segoe UI" pitchFamily="34" charset="-122"/>
                <a:cs typeface="Segoe UI" pitchFamily="34" charset="-120"/>
              </a:rPr>
              <a:t>→</a:t>
            </a:r>
            <a:endParaRPr lang="en-US" sz="1600" dirty="0"/>
          </a:p>
        </p:txBody>
      </p:sp>
      <p:sp>
        <p:nvSpPr>
          <p:cNvPr id="16" name="Shape 14"/>
          <p:cNvSpPr/>
          <p:nvPr/>
        </p:nvSpPr>
        <p:spPr>
          <a:xfrm>
            <a:off x="6231636" y="1645920"/>
            <a:ext cx="1498092"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7" name="Text 15"/>
          <p:cNvSpPr/>
          <p:nvPr/>
        </p:nvSpPr>
        <p:spPr>
          <a:xfrm>
            <a:off x="6231636" y="1645920"/>
            <a:ext cx="1498092" cy="502920"/>
          </a:xfrm>
          <a:prstGeom prst="rect">
            <a:avLst/>
          </a:prstGeom>
          <a:noFill/>
          <a:ln/>
        </p:spPr>
        <p:txBody>
          <a:bodyPr wrap="square" rtlCol="0" anchor="ctr"/>
          <a:lstStyle/>
          <a:p>
            <a:pPr marL="0" indent="0" algn="ctr">
              <a:buNone/>
            </a:pPr>
            <a:r>
              <a:rPr lang="en-US" sz="1000" b="1" dirty="0">
                <a:solidFill>
                  <a:srgbClr val="E6EDF3"/>
                </a:solidFill>
                <a:latin typeface="Segoe UI" pitchFamily="34" charset="0"/>
                <a:ea typeface="Segoe UI" pitchFamily="34" charset="-122"/>
                <a:cs typeface="Segoe UI" pitchFamily="34" charset="-120"/>
              </a:rPr>
              <a:t>Policy Check</a:t>
            </a:r>
            <a:endParaRPr lang="en-US" sz="1000" dirty="0"/>
          </a:p>
        </p:txBody>
      </p:sp>
      <p:sp>
        <p:nvSpPr>
          <p:cNvPr id="18" name="Text 16"/>
          <p:cNvSpPr/>
          <p:nvPr/>
        </p:nvSpPr>
        <p:spPr>
          <a:xfrm>
            <a:off x="7729728" y="1645920"/>
            <a:ext cx="274320" cy="502920"/>
          </a:xfrm>
          <a:prstGeom prst="rect">
            <a:avLst/>
          </a:prstGeom>
          <a:noFill/>
          <a:ln/>
        </p:spPr>
        <p:txBody>
          <a:bodyPr wrap="square" rtlCol="0" anchor="ctr"/>
          <a:lstStyle/>
          <a:p>
            <a:pPr marL="0" indent="0" algn="ctr">
              <a:buNone/>
            </a:pPr>
            <a:r>
              <a:rPr lang="en-US" sz="1600" dirty="0">
                <a:solidFill>
                  <a:srgbClr val="F85149"/>
                </a:solidFill>
                <a:latin typeface="Segoe UI" pitchFamily="34" charset="0"/>
                <a:ea typeface="Segoe UI" pitchFamily="34" charset="-122"/>
                <a:cs typeface="Segoe UI" pitchFamily="34" charset="-120"/>
              </a:rPr>
              <a:t>→</a:t>
            </a:r>
            <a:endParaRPr lang="en-US" sz="1600" dirty="0"/>
          </a:p>
        </p:txBody>
      </p:sp>
      <p:sp>
        <p:nvSpPr>
          <p:cNvPr id="19" name="Shape 17"/>
          <p:cNvSpPr/>
          <p:nvPr/>
        </p:nvSpPr>
        <p:spPr>
          <a:xfrm>
            <a:off x="8004048" y="1645920"/>
            <a:ext cx="1498092"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20" name="Text 18"/>
          <p:cNvSpPr/>
          <p:nvPr/>
        </p:nvSpPr>
        <p:spPr>
          <a:xfrm>
            <a:off x="8004048" y="1645920"/>
            <a:ext cx="1498092" cy="502920"/>
          </a:xfrm>
          <a:prstGeom prst="rect">
            <a:avLst/>
          </a:prstGeom>
          <a:noFill/>
          <a:ln/>
        </p:spPr>
        <p:txBody>
          <a:bodyPr wrap="square" rtlCol="0" anchor="ctr"/>
          <a:lstStyle/>
          <a:p>
            <a:pPr marL="0" indent="0" algn="ctr">
              <a:buNone/>
            </a:pPr>
            <a:r>
              <a:rPr lang="en-US" sz="1000" b="1" dirty="0">
                <a:solidFill>
                  <a:srgbClr val="E6EDF3"/>
                </a:solidFill>
                <a:latin typeface="Segoe UI" pitchFamily="34" charset="0"/>
                <a:ea typeface="Segoe UI" pitchFamily="34" charset="-122"/>
                <a:cs typeface="Segoe UI" pitchFamily="34" charset="-120"/>
              </a:rPr>
              <a:t>API Call</a:t>
            </a:r>
            <a:endParaRPr lang="en-US" sz="1000" dirty="0"/>
          </a:p>
        </p:txBody>
      </p:sp>
      <p:sp>
        <p:nvSpPr>
          <p:cNvPr id="21" name="Text 19"/>
          <p:cNvSpPr/>
          <p:nvPr/>
        </p:nvSpPr>
        <p:spPr>
          <a:xfrm>
            <a:off x="9502140" y="1645920"/>
            <a:ext cx="274320" cy="502920"/>
          </a:xfrm>
          <a:prstGeom prst="rect">
            <a:avLst/>
          </a:prstGeom>
          <a:noFill/>
          <a:ln/>
        </p:spPr>
        <p:txBody>
          <a:bodyPr wrap="square" rtlCol="0" anchor="ctr"/>
          <a:lstStyle/>
          <a:p>
            <a:pPr marL="0" indent="0" algn="ctr">
              <a:buNone/>
            </a:pPr>
            <a:r>
              <a:rPr lang="en-US" sz="1600" dirty="0">
                <a:solidFill>
                  <a:srgbClr val="F85149"/>
                </a:solidFill>
                <a:latin typeface="Segoe UI" pitchFamily="34" charset="0"/>
                <a:ea typeface="Segoe UI" pitchFamily="34" charset="-122"/>
                <a:cs typeface="Segoe UI" pitchFamily="34" charset="-120"/>
              </a:rPr>
              <a:t>→</a:t>
            </a:r>
            <a:endParaRPr lang="en-US" sz="1600" dirty="0"/>
          </a:p>
        </p:txBody>
      </p:sp>
      <p:sp>
        <p:nvSpPr>
          <p:cNvPr id="22" name="Shape 20"/>
          <p:cNvSpPr/>
          <p:nvPr/>
        </p:nvSpPr>
        <p:spPr>
          <a:xfrm>
            <a:off x="9776460" y="1645920"/>
            <a:ext cx="1498092"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23" name="Text 21"/>
          <p:cNvSpPr/>
          <p:nvPr/>
        </p:nvSpPr>
        <p:spPr>
          <a:xfrm>
            <a:off x="9776460" y="1645920"/>
            <a:ext cx="1498092" cy="502920"/>
          </a:xfrm>
          <a:prstGeom prst="rect">
            <a:avLst/>
          </a:prstGeom>
          <a:noFill/>
          <a:ln/>
        </p:spPr>
        <p:txBody>
          <a:bodyPr wrap="square" rtlCol="0" anchor="ctr"/>
          <a:lstStyle/>
          <a:p>
            <a:pPr marL="0" indent="0" algn="ctr">
              <a:buNone/>
            </a:pPr>
            <a:r>
              <a:rPr lang="en-US" sz="1000" b="1" dirty="0">
                <a:solidFill>
                  <a:srgbClr val="E6EDF3"/>
                </a:solidFill>
                <a:latin typeface="Segoe UI" pitchFamily="34" charset="0"/>
                <a:ea typeface="Segoe UI" pitchFamily="34" charset="-122"/>
                <a:cs typeface="Segoe UI" pitchFamily="34" charset="-120"/>
              </a:rPr>
              <a:t>Business Change</a:t>
            </a:r>
            <a:endParaRPr lang="en-US" sz="1000" dirty="0"/>
          </a:p>
        </p:txBody>
      </p:sp>
      <p:sp>
        <p:nvSpPr>
          <p:cNvPr id="24" name="Shape 22"/>
          <p:cNvSpPr/>
          <p:nvPr/>
        </p:nvSpPr>
        <p:spPr>
          <a:xfrm>
            <a:off x="2743200" y="2377440"/>
            <a:ext cx="1828800" cy="365760"/>
          </a:xfrm>
          <a:prstGeom prst="roundRect">
            <a:avLst>
              <a:gd name="adj" fmla="val 10000"/>
            </a:avLst>
          </a:prstGeom>
          <a:solidFill>
            <a:srgbClr val="0B1A0B"/>
          </a:solidFill>
          <a:ln w="9525">
            <a:solidFill>
              <a:srgbClr val="3FB950"/>
            </a:solidFill>
            <a:prstDash val="solid"/>
          </a:ln>
        </p:spPr>
        <p:txBody>
          <a:bodyPr/>
          <a:lstStyle/>
          <a:p>
            <a:endParaRPr lang="en-GB"/>
          </a:p>
        </p:txBody>
      </p:sp>
      <p:sp>
        <p:nvSpPr>
          <p:cNvPr id="25" name="Text 23"/>
          <p:cNvSpPr/>
          <p:nvPr/>
        </p:nvSpPr>
        <p:spPr>
          <a:xfrm>
            <a:off x="2743200" y="2377440"/>
            <a:ext cx="1828800" cy="365760"/>
          </a:xfrm>
          <a:prstGeom prst="rect">
            <a:avLst/>
          </a:prstGeom>
          <a:noFill/>
          <a:ln/>
        </p:spPr>
        <p:txBody>
          <a:bodyPr wrap="square" rtlCol="0" anchor="ctr"/>
          <a:lstStyle/>
          <a:p>
            <a:pPr marL="0" indent="0" algn="ctr">
              <a:buNone/>
            </a:pPr>
            <a:r>
              <a:rPr lang="en-US" sz="1000" dirty="0">
                <a:solidFill>
                  <a:srgbClr val="3FB950"/>
                </a:solidFill>
                <a:latin typeface="Consolas" pitchFamily="34" charset="0"/>
                <a:ea typeface="Consolas" pitchFamily="34" charset="-122"/>
                <a:cs typeface="Consolas" pitchFamily="34" charset="-120"/>
              </a:rPr>
              <a:t>Identity check</a:t>
            </a:r>
            <a:endParaRPr lang="en-US" sz="1000" dirty="0"/>
          </a:p>
        </p:txBody>
      </p:sp>
      <p:sp>
        <p:nvSpPr>
          <p:cNvPr id="26" name="Shape 24"/>
          <p:cNvSpPr/>
          <p:nvPr/>
        </p:nvSpPr>
        <p:spPr>
          <a:xfrm>
            <a:off x="5029200" y="2377440"/>
            <a:ext cx="1828800" cy="365760"/>
          </a:xfrm>
          <a:prstGeom prst="roundRect">
            <a:avLst>
              <a:gd name="adj" fmla="val 10000"/>
            </a:avLst>
          </a:prstGeom>
          <a:solidFill>
            <a:srgbClr val="0B1A0B"/>
          </a:solidFill>
          <a:ln w="9525">
            <a:solidFill>
              <a:srgbClr val="3FB950"/>
            </a:solidFill>
            <a:prstDash val="solid"/>
          </a:ln>
        </p:spPr>
        <p:txBody>
          <a:bodyPr/>
          <a:lstStyle/>
          <a:p>
            <a:endParaRPr lang="en-GB"/>
          </a:p>
        </p:txBody>
      </p:sp>
      <p:sp>
        <p:nvSpPr>
          <p:cNvPr id="27" name="Text 25"/>
          <p:cNvSpPr/>
          <p:nvPr/>
        </p:nvSpPr>
        <p:spPr>
          <a:xfrm>
            <a:off x="5029200" y="2377440"/>
            <a:ext cx="1828800" cy="365760"/>
          </a:xfrm>
          <a:prstGeom prst="rect">
            <a:avLst/>
          </a:prstGeom>
          <a:noFill/>
          <a:ln/>
        </p:spPr>
        <p:txBody>
          <a:bodyPr wrap="square" rtlCol="0" anchor="ctr"/>
          <a:lstStyle/>
          <a:p>
            <a:pPr marL="0" indent="0" algn="ctr">
              <a:buNone/>
            </a:pPr>
            <a:r>
              <a:rPr lang="en-US" sz="1000" dirty="0">
                <a:solidFill>
                  <a:srgbClr val="3FB950"/>
                </a:solidFill>
                <a:latin typeface="Consolas" pitchFamily="34" charset="0"/>
                <a:ea typeface="Consolas" pitchFamily="34" charset="-122"/>
                <a:cs typeface="Consolas" pitchFamily="34" charset="-120"/>
              </a:rPr>
              <a:t>Permission check</a:t>
            </a:r>
            <a:endParaRPr lang="en-US" sz="1000" dirty="0"/>
          </a:p>
        </p:txBody>
      </p:sp>
      <p:sp>
        <p:nvSpPr>
          <p:cNvPr id="28" name="Shape 26"/>
          <p:cNvSpPr/>
          <p:nvPr/>
        </p:nvSpPr>
        <p:spPr>
          <a:xfrm>
            <a:off x="7315200" y="2377440"/>
            <a:ext cx="1828800" cy="365760"/>
          </a:xfrm>
          <a:prstGeom prst="roundRect">
            <a:avLst>
              <a:gd name="adj" fmla="val 10000"/>
            </a:avLst>
          </a:prstGeom>
          <a:solidFill>
            <a:srgbClr val="0B1A0B"/>
          </a:solidFill>
          <a:ln w="9525">
            <a:solidFill>
              <a:srgbClr val="3FB950"/>
            </a:solidFill>
            <a:prstDash val="solid"/>
          </a:ln>
        </p:spPr>
        <p:txBody>
          <a:bodyPr/>
          <a:lstStyle/>
          <a:p>
            <a:endParaRPr lang="en-GB"/>
          </a:p>
        </p:txBody>
      </p:sp>
      <p:sp>
        <p:nvSpPr>
          <p:cNvPr id="29" name="Text 27"/>
          <p:cNvSpPr/>
          <p:nvPr/>
        </p:nvSpPr>
        <p:spPr>
          <a:xfrm>
            <a:off x="7315200" y="2377440"/>
            <a:ext cx="1828800" cy="365760"/>
          </a:xfrm>
          <a:prstGeom prst="rect">
            <a:avLst/>
          </a:prstGeom>
          <a:noFill/>
          <a:ln/>
        </p:spPr>
        <p:txBody>
          <a:bodyPr wrap="square" rtlCol="0" anchor="ctr"/>
          <a:lstStyle/>
          <a:p>
            <a:pPr marL="0" indent="0" algn="ctr">
              <a:buNone/>
            </a:pPr>
            <a:r>
              <a:rPr lang="en-US" sz="1000" dirty="0">
                <a:solidFill>
                  <a:srgbClr val="3FB950"/>
                </a:solidFill>
                <a:latin typeface="Consolas" pitchFamily="34" charset="0"/>
                <a:ea typeface="Consolas" pitchFamily="34" charset="-122"/>
                <a:cs typeface="Consolas" pitchFamily="34" charset="-120"/>
              </a:rPr>
              <a:t>Confirmation</a:t>
            </a:r>
            <a:endParaRPr lang="en-US" sz="1000" dirty="0"/>
          </a:p>
        </p:txBody>
      </p:sp>
      <p:sp>
        <p:nvSpPr>
          <p:cNvPr id="30" name="Shape 28"/>
          <p:cNvSpPr/>
          <p:nvPr/>
        </p:nvSpPr>
        <p:spPr>
          <a:xfrm>
            <a:off x="9601200" y="2377440"/>
            <a:ext cx="1828800" cy="365760"/>
          </a:xfrm>
          <a:prstGeom prst="roundRect">
            <a:avLst>
              <a:gd name="adj" fmla="val 10000"/>
            </a:avLst>
          </a:prstGeom>
          <a:solidFill>
            <a:srgbClr val="0B1A0B"/>
          </a:solidFill>
          <a:ln w="9525">
            <a:solidFill>
              <a:srgbClr val="3FB950"/>
            </a:solidFill>
            <a:prstDash val="solid"/>
          </a:ln>
        </p:spPr>
        <p:txBody>
          <a:bodyPr/>
          <a:lstStyle/>
          <a:p>
            <a:endParaRPr lang="en-GB"/>
          </a:p>
        </p:txBody>
      </p:sp>
      <p:sp>
        <p:nvSpPr>
          <p:cNvPr id="31" name="Text 29"/>
          <p:cNvSpPr/>
          <p:nvPr/>
        </p:nvSpPr>
        <p:spPr>
          <a:xfrm>
            <a:off x="9601200" y="2377440"/>
            <a:ext cx="1828800" cy="365760"/>
          </a:xfrm>
          <a:prstGeom prst="rect">
            <a:avLst/>
          </a:prstGeom>
          <a:noFill/>
          <a:ln/>
        </p:spPr>
        <p:txBody>
          <a:bodyPr wrap="square" rtlCol="0" anchor="ctr"/>
          <a:lstStyle/>
          <a:p>
            <a:pPr marL="0" indent="0" algn="ctr">
              <a:buNone/>
            </a:pPr>
            <a:r>
              <a:rPr lang="en-US" sz="1000" dirty="0">
                <a:solidFill>
                  <a:srgbClr val="3FB950"/>
                </a:solidFill>
                <a:latin typeface="Consolas" pitchFamily="34" charset="0"/>
                <a:ea typeface="Consolas" pitchFamily="34" charset="-122"/>
                <a:cs typeface="Consolas" pitchFamily="34" charset="-120"/>
              </a:rPr>
              <a:t>Audit log</a:t>
            </a:r>
            <a:endParaRPr lang="en-US" sz="1000" dirty="0"/>
          </a:p>
        </p:txBody>
      </p:sp>
      <p:sp>
        <p:nvSpPr>
          <p:cNvPr id="32" name="Text 30"/>
          <p:cNvSpPr/>
          <p:nvPr/>
        </p:nvSpPr>
        <p:spPr>
          <a:xfrm>
            <a:off x="914400" y="3017520"/>
            <a:ext cx="10360152" cy="2286000"/>
          </a:xfrm>
          <a:prstGeom prst="rect">
            <a:avLst/>
          </a:prstGeom>
          <a:noFill/>
          <a:ln/>
        </p:spPr>
        <p:txBody>
          <a:bodyPr wrap="square" rtlCol="0" anchor="t"/>
          <a:lstStyle/>
          <a:p>
            <a:pPr marL="342900" indent="-342900">
              <a:lnSpc>
                <a:spcPct val="135000"/>
              </a:lnSpc>
              <a:spcBef>
                <a:spcPts val="400"/>
              </a:spcBef>
              <a:buSzPct val="100000"/>
              <a:buChar char="•"/>
            </a:pPr>
            <a:r>
              <a:rPr lang="en-US" sz="1300" dirty="0">
                <a:solidFill>
                  <a:srgbClr val="E6EDF3"/>
                </a:solidFill>
                <a:latin typeface="Segoe UI" pitchFamily="34" charset="0"/>
                <a:ea typeface="Segoe UI" pitchFamily="34" charset="-122"/>
                <a:cs typeface="Segoe UI" pitchFamily="34" charset="-120"/>
              </a:rPr>
              <a:t>In Stage 2, injection could cause the model to say the wrong thing</a:t>
            </a:r>
            <a:endParaRPr lang="en-US" sz="1300" dirty="0"/>
          </a:p>
          <a:p>
            <a:pPr marL="342900" indent="-342900">
              <a:lnSpc>
                <a:spcPct val="135000"/>
              </a:lnSpc>
              <a:spcBef>
                <a:spcPts val="400"/>
              </a:spcBef>
              <a:buSzPct val="100000"/>
              <a:buChar char="•"/>
            </a:pPr>
            <a:r>
              <a:rPr lang="en-US" sz="1300" dirty="0">
                <a:solidFill>
                  <a:srgbClr val="E6EDF3"/>
                </a:solidFill>
                <a:latin typeface="Segoe UI" pitchFamily="34" charset="0"/>
                <a:ea typeface="Segoe UI" pitchFamily="34" charset="-122"/>
                <a:cs typeface="Segoe UI" pitchFamily="34" charset="-120"/>
              </a:rPr>
              <a:t>In Stage 3, the same weakness causes the system to do the wrong thing</a:t>
            </a:r>
            <a:endParaRPr lang="en-US" sz="1300" dirty="0"/>
          </a:p>
          <a:p>
            <a:pPr marL="342900" indent="-342900">
              <a:lnSpc>
                <a:spcPct val="135000"/>
              </a:lnSpc>
              <a:spcBef>
                <a:spcPts val="400"/>
              </a:spcBef>
              <a:buSzPct val="100000"/>
              <a:buChar char="•"/>
            </a:pPr>
            <a:r>
              <a:rPr lang="en-US" sz="1300" dirty="0">
                <a:solidFill>
                  <a:srgbClr val="E6EDF3"/>
                </a:solidFill>
                <a:latin typeface="Segoe UI" pitchFamily="34" charset="0"/>
                <a:ea typeface="Segoe UI" pitchFamily="34" charset="-122"/>
                <a:cs typeface="Segoe UI" pitchFamily="34" charset="-120"/>
              </a:rPr>
              <a:t>Model may select a tool and pass schema-valid arguments from malicious input</a:t>
            </a:r>
            <a:endParaRPr lang="en-US" sz="1300" dirty="0"/>
          </a:p>
          <a:p>
            <a:pPr marL="342900" indent="-342900">
              <a:lnSpc>
                <a:spcPct val="135000"/>
              </a:lnSpc>
              <a:spcBef>
                <a:spcPts val="400"/>
              </a:spcBef>
              <a:buSzPct val="100000"/>
              <a:buChar char="•"/>
            </a:pPr>
            <a:r>
              <a:rPr lang="en-US" sz="1300" dirty="0">
                <a:solidFill>
                  <a:srgbClr val="E6EDF3"/>
                </a:solidFill>
                <a:latin typeface="Segoe UI" pitchFamily="34" charset="0"/>
                <a:ea typeface="Segoe UI" pitchFamily="34" charset="-122"/>
                <a:cs typeface="Segoe UI" pitchFamily="34" charset="-120"/>
              </a:rPr>
              <a:t>Even small reasoning errors become durable state in business systems</a:t>
            </a:r>
            <a:endParaRPr lang="en-US" sz="1300" dirty="0"/>
          </a:p>
          <a:p>
            <a:pPr marL="342900" indent="-342900">
              <a:lnSpc>
                <a:spcPct val="135000"/>
              </a:lnSpc>
              <a:spcBef>
                <a:spcPts val="400"/>
              </a:spcBef>
              <a:buSzPct val="100000"/>
              <a:buChar char="•"/>
            </a:pPr>
            <a:r>
              <a:rPr lang="en-US" sz="1300" b="1" dirty="0">
                <a:solidFill>
                  <a:srgbClr val="F85149"/>
                </a:solidFill>
                <a:latin typeface="Segoe UI" pitchFamily="34" charset="0"/>
                <a:ea typeface="Segoe UI" pitchFamily="34" charset="-122"/>
                <a:cs typeface="Segoe UI" pitchFamily="34" charset="-120"/>
              </a:rPr>
              <a:t>Business rules cannot live only in prompts — prompts are not an authorization boundary</a:t>
            </a:r>
            <a:endParaRPr lang="en-US" sz="1300" dirty="0"/>
          </a:p>
        </p:txBody>
      </p:sp>
      <p:sp>
        <p:nvSpPr>
          <p:cNvPr id="33" name="Shape 31"/>
          <p:cNvSpPr/>
          <p:nvPr/>
        </p:nvSpPr>
        <p:spPr>
          <a:xfrm>
            <a:off x="731520" y="5669280"/>
            <a:ext cx="54864" cy="411480"/>
          </a:xfrm>
          <a:prstGeom prst="rect">
            <a:avLst/>
          </a:prstGeom>
          <a:solidFill>
            <a:srgbClr val="3FB950"/>
          </a:solidFill>
          <a:ln/>
        </p:spPr>
        <p:txBody>
          <a:bodyPr/>
          <a:lstStyle/>
          <a:p>
            <a:endParaRPr lang="en-GB"/>
          </a:p>
        </p:txBody>
      </p:sp>
      <p:sp>
        <p:nvSpPr>
          <p:cNvPr id="34" name="Text 32"/>
          <p:cNvSpPr/>
          <p:nvPr/>
        </p:nvSpPr>
        <p:spPr>
          <a:xfrm>
            <a:off x="960120" y="5669280"/>
            <a:ext cx="10497312" cy="411480"/>
          </a:xfrm>
          <a:prstGeom prst="rect">
            <a:avLst/>
          </a:prstGeom>
          <a:noFill/>
          <a:ln/>
        </p:spPr>
        <p:txBody>
          <a:bodyPr wrap="square" rtlCol="0" anchor="ctr"/>
          <a:lstStyle/>
          <a:p>
            <a:pPr marL="0" indent="0">
              <a:buNone/>
            </a:pPr>
            <a:r>
              <a:rPr lang="en-US" sz="1400" b="1" i="1" dirty="0">
                <a:solidFill>
                  <a:srgbClr val="3FB950"/>
                </a:solidFill>
                <a:latin typeface="Segoe UI" pitchFamily="34" charset="0"/>
                <a:ea typeface="Segoe UI" pitchFamily="34" charset="-122"/>
                <a:cs typeface="Segoe UI" pitchFamily="34" charset="-120"/>
              </a:rPr>
              <a:t>When tools are connected, untrusted instructions can become unauthorized actions.</a:t>
            </a:r>
            <a:endParaRPr lang="en-US" sz="1400" dirty="0"/>
          </a:p>
        </p:txBody>
      </p:sp>
      <p:sp>
        <p:nvSpPr>
          <p:cNvPr id="35" name="Text 33"/>
          <p:cNvSpPr/>
          <p:nvPr/>
        </p:nvSpPr>
        <p:spPr>
          <a:xfrm>
            <a:off x="8686800" y="6263640"/>
            <a:ext cx="2926080" cy="228600"/>
          </a:xfrm>
          <a:prstGeom prst="rect">
            <a:avLst/>
          </a:prstGeom>
          <a:noFill/>
          <a:ln/>
        </p:spPr>
        <p:txBody>
          <a:bodyPr wrap="square"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OWASP LLM01 + LLM06:2025</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0B1A0B"/>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274320"/>
          </a:xfrm>
          <a:prstGeom prst="rect">
            <a:avLst/>
          </a:prstGeom>
          <a:noFill/>
          <a:ln/>
        </p:spPr>
        <p:txBody>
          <a:bodyPr wrap="square" rtlCol="0" anchor="ctr"/>
          <a:lstStyle/>
          <a:p>
            <a:pPr marL="0" indent="0">
              <a:buNone/>
            </a:pPr>
            <a:r>
              <a:rPr lang="en-US" sz="1100" dirty="0">
                <a:solidFill>
                  <a:srgbClr val="8B949E"/>
                </a:solidFill>
                <a:latin typeface="Consolas" pitchFamily="34" charset="0"/>
                <a:ea typeface="Consolas" pitchFamily="34" charset="-122"/>
                <a:cs typeface="Consolas" pitchFamily="34" charset="-120"/>
              </a:rPr>
              <a:t>Stage 3 · Controls</a:t>
            </a:r>
            <a:endParaRPr lang="en-US" sz="1100" dirty="0"/>
          </a:p>
        </p:txBody>
      </p:sp>
      <p:sp>
        <p:nvSpPr>
          <p:cNvPr id="3" name="Text 1"/>
          <p:cNvSpPr/>
          <p:nvPr/>
        </p:nvSpPr>
        <p:spPr>
          <a:xfrm>
            <a:off x="548640" y="594360"/>
            <a:ext cx="11091672" cy="502920"/>
          </a:xfrm>
          <a:prstGeom prst="rect">
            <a:avLst/>
          </a:prstGeom>
          <a:noFill/>
          <a:ln/>
        </p:spPr>
        <p:txBody>
          <a:bodyPr wrap="square" rtlCol="0" anchor="ctr"/>
          <a:lstStyle/>
          <a:p>
            <a:pPr marL="0" indent="0">
              <a:buNone/>
            </a:pPr>
            <a:r>
              <a:rPr lang="en-US" sz="2400" dirty="0">
                <a:solidFill>
                  <a:srgbClr val="8B949E"/>
                </a:solidFill>
                <a:latin typeface="Consolas" pitchFamily="34" charset="0"/>
                <a:ea typeface="Consolas" pitchFamily="34" charset="-122"/>
                <a:cs typeface="Consolas" pitchFamily="34" charset="-120"/>
              </a:rPr>
              <a:t>&gt; </a:t>
            </a:r>
            <a:r>
              <a:rPr lang="en-US" sz="2200" b="1" dirty="0">
                <a:solidFill>
                  <a:srgbClr val="3FB950"/>
                </a:solidFill>
                <a:latin typeface="Consolas" pitchFamily="34" charset="0"/>
                <a:ea typeface="Consolas" pitchFamily="34" charset="-122"/>
                <a:cs typeface="Consolas" pitchFamily="34" charset="-120"/>
              </a:rPr>
              <a:t>What should we do?</a:t>
            </a:r>
            <a:endParaRPr lang="en-US" sz="2400" dirty="0"/>
          </a:p>
        </p:txBody>
      </p:sp>
      <p:sp>
        <p:nvSpPr>
          <p:cNvPr id="4" name="Shape 2"/>
          <p:cNvSpPr/>
          <p:nvPr/>
        </p:nvSpPr>
        <p:spPr>
          <a:xfrm>
            <a:off x="548640" y="1143000"/>
            <a:ext cx="11091672" cy="13716"/>
          </a:xfrm>
          <a:prstGeom prst="rect">
            <a:avLst/>
          </a:prstGeom>
          <a:solidFill>
            <a:srgbClr val="30363D"/>
          </a:solidFill>
          <a:ln/>
        </p:spPr>
        <p:txBody>
          <a:bodyPr/>
          <a:lstStyle/>
          <a:p>
            <a:endParaRPr lang="en-GB"/>
          </a:p>
        </p:txBody>
      </p:sp>
      <p:sp>
        <p:nvSpPr>
          <p:cNvPr id="5" name="Text 3"/>
          <p:cNvSpPr/>
          <p:nvPr/>
        </p:nvSpPr>
        <p:spPr>
          <a:xfrm>
            <a:off x="10972800" y="6446520"/>
            <a:ext cx="731520" cy="274320"/>
          </a:xfrm>
          <a:prstGeom prst="rect">
            <a:avLst/>
          </a:prstGeom>
          <a:noFill/>
          <a:ln/>
        </p:spPr>
        <p:txBody>
          <a:bodyPr wrap="square" rtlCol="0" anchor="ctr"/>
          <a:lstStyle/>
          <a:p>
            <a:pPr marL="0" indent="0" algn="r">
              <a:buNone/>
            </a:pPr>
            <a:r>
              <a:rPr lang="en-US" sz="1000" dirty="0">
                <a:solidFill>
                  <a:srgbClr val="8B949E"/>
                </a:solidFill>
                <a:latin typeface="Consolas" pitchFamily="34" charset="0"/>
                <a:ea typeface="Consolas" pitchFamily="34" charset="-122"/>
                <a:cs typeface="Consolas" pitchFamily="34" charset="-120"/>
              </a:rPr>
              <a:t>21</a:t>
            </a:r>
            <a:endParaRPr lang="en-US" sz="1000" dirty="0"/>
          </a:p>
        </p:txBody>
      </p:sp>
      <p:sp>
        <p:nvSpPr>
          <p:cNvPr id="6" name="Shape 4"/>
          <p:cNvSpPr/>
          <p:nvPr/>
        </p:nvSpPr>
        <p:spPr>
          <a:xfrm>
            <a:off x="548640" y="1325880"/>
            <a:ext cx="11091672" cy="1920240"/>
          </a:xfrm>
          <a:prstGeom prst="roundRect">
            <a:avLst>
              <a:gd name="adj" fmla="val 5714"/>
            </a:avLst>
          </a:prstGeom>
          <a:solidFill>
            <a:srgbClr val="161B22"/>
          </a:solidFill>
          <a:ln w="9525">
            <a:solidFill>
              <a:srgbClr val="30363D"/>
            </a:solidFill>
            <a:prstDash val="solid"/>
          </a:ln>
        </p:spPr>
        <p:txBody>
          <a:bodyPr/>
          <a:lstStyle/>
          <a:p>
            <a:endParaRPr lang="en-GB"/>
          </a:p>
        </p:txBody>
      </p:sp>
      <p:sp>
        <p:nvSpPr>
          <p:cNvPr id="7" name="Shape 5"/>
          <p:cNvSpPr/>
          <p:nvPr/>
        </p:nvSpPr>
        <p:spPr>
          <a:xfrm>
            <a:off x="914400" y="1554480"/>
            <a:ext cx="1244890"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8" name="Text 6"/>
          <p:cNvSpPr/>
          <p:nvPr/>
        </p:nvSpPr>
        <p:spPr>
          <a:xfrm>
            <a:off x="914400" y="1554480"/>
            <a:ext cx="1244890"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Intent</a:t>
            </a:r>
            <a:endParaRPr lang="en-US" sz="900" dirty="0"/>
          </a:p>
        </p:txBody>
      </p:sp>
      <p:sp>
        <p:nvSpPr>
          <p:cNvPr id="9" name="Text 7"/>
          <p:cNvSpPr/>
          <p:nvPr/>
        </p:nvSpPr>
        <p:spPr>
          <a:xfrm>
            <a:off x="2159290" y="1554480"/>
            <a:ext cx="274320" cy="502920"/>
          </a:xfrm>
          <a:prstGeom prst="rect">
            <a:avLst/>
          </a:prstGeom>
          <a:noFill/>
          <a:ln/>
        </p:spPr>
        <p:txBody>
          <a:bodyPr wrap="square" rtlCol="0" anchor="ctr"/>
          <a:lstStyle/>
          <a:p>
            <a:pPr marL="0" indent="0" algn="ctr">
              <a:buNone/>
            </a:pPr>
            <a:r>
              <a:rPr lang="en-US" sz="1600" dirty="0">
                <a:solidFill>
                  <a:srgbClr val="3FB950"/>
                </a:solidFill>
                <a:latin typeface="Segoe UI" pitchFamily="34" charset="0"/>
                <a:ea typeface="Segoe UI" pitchFamily="34" charset="-122"/>
                <a:cs typeface="Segoe UI" pitchFamily="34" charset="-120"/>
              </a:rPr>
              <a:t>→</a:t>
            </a:r>
            <a:endParaRPr lang="en-US" sz="1600" dirty="0"/>
          </a:p>
        </p:txBody>
      </p:sp>
      <p:sp>
        <p:nvSpPr>
          <p:cNvPr id="10" name="Shape 8"/>
          <p:cNvSpPr/>
          <p:nvPr/>
        </p:nvSpPr>
        <p:spPr>
          <a:xfrm>
            <a:off x="2433610" y="1554480"/>
            <a:ext cx="1244890"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1" name="Text 9"/>
          <p:cNvSpPr/>
          <p:nvPr/>
        </p:nvSpPr>
        <p:spPr>
          <a:xfrm>
            <a:off x="2433610" y="1554480"/>
            <a:ext cx="1244890"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Context</a:t>
            </a:r>
            <a:endParaRPr lang="en-US" sz="900" dirty="0"/>
          </a:p>
        </p:txBody>
      </p:sp>
      <p:sp>
        <p:nvSpPr>
          <p:cNvPr id="12" name="Text 10"/>
          <p:cNvSpPr/>
          <p:nvPr/>
        </p:nvSpPr>
        <p:spPr>
          <a:xfrm>
            <a:off x="3678501" y="1554480"/>
            <a:ext cx="274320" cy="502920"/>
          </a:xfrm>
          <a:prstGeom prst="rect">
            <a:avLst/>
          </a:prstGeom>
          <a:noFill/>
          <a:ln/>
        </p:spPr>
        <p:txBody>
          <a:bodyPr wrap="square" rtlCol="0" anchor="ctr"/>
          <a:lstStyle/>
          <a:p>
            <a:pPr marL="0" indent="0" algn="ctr">
              <a:buNone/>
            </a:pPr>
            <a:r>
              <a:rPr lang="en-US" sz="1600" dirty="0">
                <a:solidFill>
                  <a:srgbClr val="3FB950"/>
                </a:solidFill>
                <a:latin typeface="Segoe UI" pitchFamily="34" charset="0"/>
                <a:ea typeface="Segoe UI" pitchFamily="34" charset="-122"/>
                <a:cs typeface="Segoe UI" pitchFamily="34" charset="-120"/>
              </a:rPr>
              <a:t>→</a:t>
            </a:r>
            <a:endParaRPr lang="en-US" sz="1600" dirty="0"/>
          </a:p>
        </p:txBody>
      </p:sp>
      <p:sp>
        <p:nvSpPr>
          <p:cNvPr id="13" name="Shape 11"/>
          <p:cNvSpPr/>
          <p:nvPr/>
        </p:nvSpPr>
        <p:spPr>
          <a:xfrm>
            <a:off x="3952821" y="1554480"/>
            <a:ext cx="1244890"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4" name="Text 12"/>
          <p:cNvSpPr/>
          <p:nvPr/>
        </p:nvSpPr>
        <p:spPr>
          <a:xfrm>
            <a:off x="3952821" y="1554480"/>
            <a:ext cx="1244890"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Tool Proposal</a:t>
            </a:r>
            <a:endParaRPr lang="en-US" sz="900" dirty="0"/>
          </a:p>
        </p:txBody>
      </p:sp>
      <p:sp>
        <p:nvSpPr>
          <p:cNvPr id="15" name="Text 13"/>
          <p:cNvSpPr/>
          <p:nvPr/>
        </p:nvSpPr>
        <p:spPr>
          <a:xfrm>
            <a:off x="5197711" y="1554480"/>
            <a:ext cx="274320" cy="502920"/>
          </a:xfrm>
          <a:prstGeom prst="rect">
            <a:avLst/>
          </a:prstGeom>
          <a:noFill/>
          <a:ln/>
        </p:spPr>
        <p:txBody>
          <a:bodyPr wrap="square" rtlCol="0" anchor="ctr"/>
          <a:lstStyle/>
          <a:p>
            <a:pPr marL="0" indent="0" algn="ctr">
              <a:buNone/>
            </a:pPr>
            <a:r>
              <a:rPr lang="en-US" sz="1600" dirty="0">
                <a:solidFill>
                  <a:srgbClr val="3FB950"/>
                </a:solidFill>
                <a:latin typeface="Segoe UI" pitchFamily="34" charset="0"/>
                <a:ea typeface="Segoe UI" pitchFamily="34" charset="-122"/>
                <a:cs typeface="Segoe UI" pitchFamily="34" charset="-120"/>
              </a:rPr>
              <a:t>→</a:t>
            </a:r>
            <a:endParaRPr lang="en-US" sz="1600" dirty="0"/>
          </a:p>
        </p:txBody>
      </p:sp>
      <p:sp>
        <p:nvSpPr>
          <p:cNvPr id="16" name="Shape 14"/>
          <p:cNvSpPr/>
          <p:nvPr/>
        </p:nvSpPr>
        <p:spPr>
          <a:xfrm>
            <a:off x="5472031" y="1554480"/>
            <a:ext cx="1244890"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17" name="Text 15"/>
          <p:cNvSpPr/>
          <p:nvPr/>
        </p:nvSpPr>
        <p:spPr>
          <a:xfrm>
            <a:off x="5472031" y="1554480"/>
            <a:ext cx="1244890"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Schema + Policy</a:t>
            </a:r>
            <a:endParaRPr lang="en-US" sz="900" dirty="0"/>
          </a:p>
        </p:txBody>
      </p:sp>
      <p:sp>
        <p:nvSpPr>
          <p:cNvPr id="18" name="Text 16"/>
          <p:cNvSpPr/>
          <p:nvPr/>
        </p:nvSpPr>
        <p:spPr>
          <a:xfrm>
            <a:off x="6716921" y="1554480"/>
            <a:ext cx="274320" cy="502920"/>
          </a:xfrm>
          <a:prstGeom prst="rect">
            <a:avLst/>
          </a:prstGeom>
          <a:noFill/>
          <a:ln/>
        </p:spPr>
        <p:txBody>
          <a:bodyPr wrap="square" rtlCol="0" anchor="ctr"/>
          <a:lstStyle/>
          <a:p>
            <a:pPr marL="0" indent="0" algn="ctr">
              <a:buNone/>
            </a:pPr>
            <a:r>
              <a:rPr lang="en-US" sz="1600" dirty="0">
                <a:solidFill>
                  <a:srgbClr val="3FB950"/>
                </a:solidFill>
                <a:latin typeface="Segoe UI" pitchFamily="34" charset="0"/>
                <a:ea typeface="Segoe UI" pitchFamily="34" charset="-122"/>
                <a:cs typeface="Segoe UI" pitchFamily="34" charset="-120"/>
              </a:rPr>
              <a:t>→</a:t>
            </a:r>
            <a:endParaRPr lang="en-US" sz="1600" dirty="0"/>
          </a:p>
        </p:txBody>
      </p:sp>
      <p:sp>
        <p:nvSpPr>
          <p:cNvPr id="19" name="Shape 17"/>
          <p:cNvSpPr/>
          <p:nvPr/>
        </p:nvSpPr>
        <p:spPr>
          <a:xfrm>
            <a:off x="6991241" y="1554480"/>
            <a:ext cx="1244890"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20" name="Text 18"/>
          <p:cNvSpPr/>
          <p:nvPr/>
        </p:nvSpPr>
        <p:spPr>
          <a:xfrm>
            <a:off x="6991241" y="1554480"/>
            <a:ext cx="1244890"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Confirmation</a:t>
            </a:r>
            <a:endParaRPr lang="en-US" sz="900" dirty="0"/>
          </a:p>
        </p:txBody>
      </p:sp>
      <p:sp>
        <p:nvSpPr>
          <p:cNvPr id="21" name="Text 19"/>
          <p:cNvSpPr/>
          <p:nvPr/>
        </p:nvSpPr>
        <p:spPr>
          <a:xfrm>
            <a:off x="8236131" y="1554480"/>
            <a:ext cx="274320" cy="502920"/>
          </a:xfrm>
          <a:prstGeom prst="rect">
            <a:avLst/>
          </a:prstGeom>
          <a:noFill/>
          <a:ln/>
        </p:spPr>
        <p:txBody>
          <a:bodyPr wrap="square" rtlCol="0" anchor="ctr"/>
          <a:lstStyle/>
          <a:p>
            <a:pPr marL="0" indent="0" algn="ctr">
              <a:buNone/>
            </a:pPr>
            <a:r>
              <a:rPr lang="en-US" sz="1600" dirty="0">
                <a:solidFill>
                  <a:srgbClr val="3FB950"/>
                </a:solidFill>
                <a:latin typeface="Segoe UI" pitchFamily="34" charset="0"/>
                <a:ea typeface="Segoe UI" pitchFamily="34" charset="-122"/>
                <a:cs typeface="Segoe UI" pitchFamily="34" charset="-120"/>
              </a:rPr>
              <a:t>→</a:t>
            </a:r>
            <a:endParaRPr lang="en-US" sz="1600" dirty="0"/>
          </a:p>
        </p:txBody>
      </p:sp>
      <p:sp>
        <p:nvSpPr>
          <p:cNvPr id="22" name="Shape 20"/>
          <p:cNvSpPr/>
          <p:nvPr/>
        </p:nvSpPr>
        <p:spPr>
          <a:xfrm>
            <a:off x="8510451" y="1554480"/>
            <a:ext cx="1244890"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23" name="Text 21"/>
          <p:cNvSpPr/>
          <p:nvPr/>
        </p:nvSpPr>
        <p:spPr>
          <a:xfrm>
            <a:off x="8510451" y="1554480"/>
            <a:ext cx="1244890"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Execution</a:t>
            </a:r>
            <a:endParaRPr lang="en-US" sz="900" dirty="0"/>
          </a:p>
        </p:txBody>
      </p:sp>
      <p:sp>
        <p:nvSpPr>
          <p:cNvPr id="24" name="Text 22"/>
          <p:cNvSpPr/>
          <p:nvPr/>
        </p:nvSpPr>
        <p:spPr>
          <a:xfrm>
            <a:off x="9755342" y="1554480"/>
            <a:ext cx="274320" cy="502920"/>
          </a:xfrm>
          <a:prstGeom prst="rect">
            <a:avLst/>
          </a:prstGeom>
          <a:noFill/>
          <a:ln/>
        </p:spPr>
        <p:txBody>
          <a:bodyPr wrap="square" rtlCol="0" anchor="ctr"/>
          <a:lstStyle/>
          <a:p>
            <a:pPr marL="0" indent="0" algn="ctr">
              <a:buNone/>
            </a:pPr>
            <a:r>
              <a:rPr lang="en-US" sz="1600" dirty="0">
                <a:solidFill>
                  <a:srgbClr val="3FB950"/>
                </a:solidFill>
                <a:latin typeface="Segoe UI" pitchFamily="34" charset="0"/>
                <a:ea typeface="Segoe UI" pitchFamily="34" charset="-122"/>
                <a:cs typeface="Segoe UI" pitchFamily="34" charset="-120"/>
              </a:rPr>
              <a:t>→</a:t>
            </a:r>
            <a:endParaRPr lang="en-US" sz="1600" dirty="0"/>
          </a:p>
        </p:txBody>
      </p:sp>
      <p:sp>
        <p:nvSpPr>
          <p:cNvPr id="25" name="Shape 23"/>
          <p:cNvSpPr/>
          <p:nvPr/>
        </p:nvSpPr>
        <p:spPr>
          <a:xfrm>
            <a:off x="10029662" y="1554480"/>
            <a:ext cx="1244890" cy="502920"/>
          </a:xfrm>
          <a:prstGeom prst="roundRect">
            <a:avLst>
              <a:gd name="adj" fmla="val 10909"/>
            </a:avLst>
          </a:prstGeom>
          <a:solidFill>
            <a:srgbClr val="161B22"/>
          </a:solidFill>
          <a:ln w="9525">
            <a:solidFill>
              <a:srgbClr val="30363D"/>
            </a:solidFill>
            <a:prstDash val="solid"/>
          </a:ln>
        </p:spPr>
        <p:txBody>
          <a:bodyPr/>
          <a:lstStyle/>
          <a:p>
            <a:endParaRPr lang="en-GB"/>
          </a:p>
        </p:txBody>
      </p:sp>
      <p:sp>
        <p:nvSpPr>
          <p:cNvPr id="26" name="Text 24"/>
          <p:cNvSpPr/>
          <p:nvPr/>
        </p:nvSpPr>
        <p:spPr>
          <a:xfrm>
            <a:off x="10029662" y="1554480"/>
            <a:ext cx="1244890" cy="502920"/>
          </a:xfrm>
          <a:prstGeom prst="rect">
            <a:avLst/>
          </a:prstGeom>
          <a:noFill/>
          <a:ln/>
        </p:spPr>
        <p:txBody>
          <a:bodyPr wrap="square" rtlCol="0" anchor="ctr"/>
          <a:lstStyle/>
          <a:p>
            <a:pPr marL="0" indent="0" algn="ctr">
              <a:buNone/>
            </a:pPr>
            <a:r>
              <a:rPr lang="en-US" sz="900" b="1" dirty="0">
                <a:solidFill>
                  <a:srgbClr val="E6EDF3"/>
                </a:solidFill>
                <a:latin typeface="Segoe UI" pitchFamily="34" charset="0"/>
                <a:ea typeface="Segoe UI" pitchFamily="34" charset="-122"/>
                <a:cs typeface="Segoe UI" pitchFamily="34" charset="-120"/>
              </a:rPr>
              <a:t>Audit</a:t>
            </a:r>
            <a:endParaRPr lang="en-US" sz="900" dirty="0"/>
          </a:p>
        </p:txBody>
      </p:sp>
      <p:sp>
        <p:nvSpPr>
          <p:cNvPr id="27" name="Shape 25"/>
          <p:cNvSpPr/>
          <p:nvPr/>
        </p:nvSpPr>
        <p:spPr>
          <a:xfrm>
            <a:off x="914400" y="3429000"/>
            <a:ext cx="10360152" cy="2560320"/>
          </a:xfrm>
          <a:prstGeom prst="roundRect">
            <a:avLst>
              <a:gd name="adj" fmla="val 2857"/>
            </a:avLst>
          </a:prstGeom>
          <a:solidFill>
            <a:srgbClr val="010409"/>
          </a:solidFill>
          <a:ln w="9525">
            <a:solidFill>
              <a:srgbClr val="30363D"/>
            </a:solidFill>
            <a:prstDash val="solid"/>
          </a:ln>
        </p:spPr>
        <p:txBody>
          <a:bodyPr/>
          <a:lstStyle/>
          <a:p>
            <a:endParaRPr lang="en-GB"/>
          </a:p>
        </p:txBody>
      </p:sp>
      <p:sp>
        <p:nvSpPr>
          <p:cNvPr id="28" name="Shape 26"/>
          <p:cNvSpPr/>
          <p:nvPr/>
        </p:nvSpPr>
        <p:spPr>
          <a:xfrm>
            <a:off x="1097280" y="3538728"/>
            <a:ext cx="73152" cy="73152"/>
          </a:xfrm>
          <a:prstGeom prst="ellipse">
            <a:avLst/>
          </a:prstGeom>
          <a:solidFill>
            <a:srgbClr val="F85149"/>
          </a:solidFill>
          <a:ln/>
        </p:spPr>
        <p:txBody>
          <a:bodyPr/>
          <a:lstStyle/>
          <a:p>
            <a:endParaRPr lang="en-GB"/>
          </a:p>
        </p:txBody>
      </p:sp>
      <p:sp>
        <p:nvSpPr>
          <p:cNvPr id="29" name="Shape 27"/>
          <p:cNvSpPr/>
          <p:nvPr/>
        </p:nvSpPr>
        <p:spPr>
          <a:xfrm>
            <a:off x="1261872" y="3538728"/>
            <a:ext cx="73152" cy="73152"/>
          </a:xfrm>
          <a:prstGeom prst="ellipse">
            <a:avLst/>
          </a:prstGeom>
          <a:solidFill>
            <a:srgbClr val="D29922"/>
          </a:solidFill>
          <a:ln/>
        </p:spPr>
        <p:txBody>
          <a:bodyPr/>
          <a:lstStyle/>
          <a:p>
            <a:endParaRPr lang="en-GB"/>
          </a:p>
        </p:txBody>
      </p:sp>
      <p:sp>
        <p:nvSpPr>
          <p:cNvPr id="30" name="Shape 28"/>
          <p:cNvSpPr/>
          <p:nvPr/>
        </p:nvSpPr>
        <p:spPr>
          <a:xfrm>
            <a:off x="1426464" y="3538728"/>
            <a:ext cx="73152" cy="73152"/>
          </a:xfrm>
          <a:prstGeom prst="ellipse">
            <a:avLst/>
          </a:prstGeom>
          <a:solidFill>
            <a:srgbClr val="3FB950"/>
          </a:solidFill>
          <a:ln/>
        </p:spPr>
        <p:txBody>
          <a:bodyPr/>
          <a:lstStyle/>
          <a:p>
            <a:endParaRPr lang="en-GB"/>
          </a:p>
        </p:txBody>
      </p:sp>
      <p:sp>
        <p:nvSpPr>
          <p:cNvPr id="31" name="Text 29"/>
          <p:cNvSpPr/>
          <p:nvPr/>
        </p:nvSpPr>
        <p:spPr>
          <a:xfrm>
            <a:off x="1143000" y="3749040"/>
            <a:ext cx="9902952" cy="2103120"/>
          </a:xfrm>
          <a:prstGeom prst="rect">
            <a:avLst/>
          </a:prstGeom>
          <a:noFill/>
          <a:ln/>
        </p:spPr>
        <p:txBody>
          <a:bodyPr wrap="square" rtlCol="0" anchor="t"/>
          <a:lstStyle/>
          <a:p>
            <a:pPr marL="0" indent="0">
              <a:lnSpc>
                <a:spcPct val="150000"/>
              </a:lnSpc>
              <a:buNone/>
            </a:pPr>
            <a:r>
              <a:rPr lang="en-US" sz="1200" dirty="0">
                <a:solidFill>
                  <a:srgbClr val="3FB950"/>
                </a:solidFill>
                <a:latin typeface="Consolas" pitchFamily="34" charset="0"/>
                <a:ea typeface="Consolas" pitchFamily="34" charset="-122"/>
                <a:cs typeface="Consolas" pitchFamily="34" charset="-120"/>
              </a:rPr>
              <a:t>$ python demos/stage3_action_gate.py --scenario injected_refund</a:t>
            </a:r>
            <a:r>
              <a:rPr lang="en-US" sz="1200" dirty="0">
                <a:solidFill>
                  <a:srgbClr val="E6EDF3"/>
                </a:solidFill>
                <a:latin typeface="Consolas" pitchFamily="34" charset="0"/>
                <a:ea typeface="Consolas" pitchFamily="34" charset="-122"/>
                <a:cs typeface="Consolas" pitchFamily="34" charset="-120"/>
              </a:rPr>
              <a:t>proposal=issue_refund  customer=C-4821  amount=500</a:t>
            </a:r>
            <a:r>
              <a:rPr lang="en-US" sz="1200" dirty="0">
                <a:solidFill>
                  <a:srgbClr val="F85149"/>
                </a:solidFill>
                <a:latin typeface="Consolas" pitchFamily="34" charset="0"/>
                <a:ea typeface="Consolas" pitchFamily="34" charset="-122"/>
                <a:cs typeface="Consolas" pitchFamily="34" charset="-120"/>
              </a:rPr>
              <a:t>policy=DENY  reason=high_risk_action_requires_supervisor_approvaltool_call=skipped  audit=recorded</a:t>
            </a:r>
            <a:r>
              <a:rPr lang="en-US" sz="1200" dirty="0">
                <a:solidFill>
                  <a:srgbClr val="3FB950"/>
                </a:solidFill>
                <a:latin typeface="Consolas" pitchFamily="34" charset="0"/>
                <a:ea typeface="Consolas" pitchFamily="34" charset="-122"/>
                <a:cs typeface="Consolas" pitchFamily="34" charset="-120"/>
              </a:rPr>
              <a:t>$ python demos/stage3_action_gate.py --scenario confirmed_appointment_change</a:t>
            </a:r>
            <a:r>
              <a:rPr lang="en-US" sz="1200" dirty="0">
                <a:solidFill>
                  <a:srgbClr val="E6EDF3"/>
                </a:solidFill>
                <a:latin typeface="Consolas" pitchFamily="34" charset="0"/>
                <a:ea typeface="Consolas" pitchFamily="34" charset="-122"/>
                <a:cs typeface="Consolas" pitchFamily="34" charset="-120"/>
              </a:rPr>
              <a:t>proposal=reschedule_appointment  customer=C-1188</a:t>
            </a:r>
            <a:r>
              <a:rPr lang="en-US" sz="1200" dirty="0">
                <a:solidFill>
                  <a:srgbClr val="3FB950"/>
                </a:solidFill>
                <a:latin typeface="Consolas" pitchFamily="34" charset="0"/>
                <a:ea typeface="Consolas" pitchFamily="34" charset="-122"/>
                <a:cs typeface="Consolas" pitchFamily="34" charset="-120"/>
              </a:rPr>
              <a:t>schema=valid  confirmation=present  policy=ALLOW  tool_call=executed  audit=recorded</a:t>
            </a:r>
            <a:endParaRPr lang="en-US" sz="1200" dirty="0"/>
          </a:p>
        </p:txBody>
      </p:sp>
      <p:sp>
        <p:nvSpPr>
          <p:cNvPr id="32" name="Shape 30"/>
          <p:cNvSpPr/>
          <p:nvPr/>
        </p:nvSpPr>
        <p:spPr>
          <a:xfrm>
            <a:off x="731520" y="6172200"/>
            <a:ext cx="54864" cy="411480"/>
          </a:xfrm>
          <a:prstGeom prst="rect">
            <a:avLst/>
          </a:prstGeom>
          <a:solidFill>
            <a:srgbClr val="3FB950"/>
          </a:solidFill>
          <a:ln/>
        </p:spPr>
        <p:txBody>
          <a:bodyPr/>
          <a:lstStyle/>
          <a:p>
            <a:endParaRPr lang="en-GB"/>
          </a:p>
        </p:txBody>
      </p:sp>
      <p:sp>
        <p:nvSpPr>
          <p:cNvPr id="33" name="Text 31"/>
          <p:cNvSpPr/>
          <p:nvPr/>
        </p:nvSpPr>
        <p:spPr>
          <a:xfrm>
            <a:off x="960120" y="6172200"/>
            <a:ext cx="10497312" cy="411480"/>
          </a:xfrm>
          <a:prstGeom prst="rect">
            <a:avLst/>
          </a:prstGeom>
          <a:noFill/>
          <a:ln/>
        </p:spPr>
        <p:txBody>
          <a:bodyPr wrap="square" rtlCol="0" anchor="ctr"/>
          <a:lstStyle/>
          <a:p>
            <a:pPr marL="0" indent="0">
              <a:buNone/>
            </a:pPr>
            <a:r>
              <a:rPr lang="en-US" sz="1400" b="1" i="1" dirty="0">
                <a:solidFill>
                  <a:srgbClr val="3FB950"/>
                </a:solidFill>
                <a:latin typeface="Segoe UI" pitchFamily="34" charset="0"/>
                <a:ea typeface="Segoe UI" pitchFamily="34" charset="-122"/>
                <a:cs typeface="Segoe UI" pitchFamily="34" charset="-120"/>
              </a:rPr>
              <a:t>Defense: least-privilege tools, external authorization, semantic validation, bounded memory, action monitoring.</a:t>
            </a:r>
            <a:endParaRPr lang="en-US" sz="1400" dirty="0"/>
          </a:p>
        </p:txBody>
      </p:sp>
      <p:sp>
        <p:nvSpPr>
          <p:cNvPr id="34" name="Text 32"/>
          <p:cNvSpPr/>
          <p:nvPr/>
        </p:nvSpPr>
        <p:spPr>
          <a:xfrm>
            <a:off x="8686800" y="6263640"/>
            <a:ext cx="2926080" cy="228600"/>
          </a:xfrm>
          <a:prstGeom prst="rect">
            <a:avLst/>
          </a:prstGeom>
          <a:noFill/>
          <a:ln/>
        </p:spPr>
        <p:txBody>
          <a:bodyPr wrap="square"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OWASP LLM06:2025</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594360"/>
            <a:ext cx="11091672" cy="502920"/>
          </a:xfrm>
          <a:prstGeom prst="rect">
            <a:avLst/>
          </a:prstGeom>
          <a:noFill/>
          <a:ln/>
        </p:spPr>
        <p:txBody>
          <a:bodyPr wrap="square" rtlCol="0" anchor="ctr"/>
          <a:lstStyle/>
          <a:p>
            <a:pPr marL="0" indent="0">
              <a:buNone/>
            </a:pPr>
            <a:r>
              <a:rPr lang="en-US" sz="2400" dirty="0">
                <a:solidFill>
                  <a:srgbClr val="8B949E"/>
                </a:solidFill>
                <a:latin typeface="Consolas" pitchFamily="34" charset="0"/>
                <a:ea typeface="Consolas" pitchFamily="34" charset="-122"/>
                <a:cs typeface="Consolas" pitchFamily="34" charset="-120"/>
              </a:rPr>
              <a:t>&gt; </a:t>
            </a:r>
            <a:r>
              <a:rPr lang="en-US" sz="2200" b="1" dirty="0">
                <a:solidFill>
                  <a:srgbClr val="58A6FF"/>
                </a:solidFill>
                <a:latin typeface="Consolas" pitchFamily="34" charset="0"/>
                <a:ea typeface="Consolas" pitchFamily="34" charset="-122"/>
                <a:cs typeface="Consolas" pitchFamily="34" charset="-120"/>
              </a:rPr>
              <a:t>How to secure chatbot?</a:t>
            </a:r>
            <a:endParaRPr lang="en-US" sz="2400" dirty="0"/>
          </a:p>
        </p:txBody>
      </p:sp>
      <p:sp>
        <p:nvSpPr>
          <p:cNvPr id="3" name="Shape 1"/>
          <p:cNvSpPr/>
          <p:nvPr/>
        </p:nvSpPr>
        <p:spPr>
          <a:xfrm>
            <a:off x="548640" y="1143000"/>
            <a:ext cx="11091672" cy="13716"/>
          </a:xfrm>
          <a:prstGeom prst="rect">
            <a:avLst/>
          </a:prstGeom>
          <a:solidFill>
            <a:srgbClr val="30363D"/>
          </a:solidFill>
          <a:ln/>
        </p:spPr>
        <p:txBody>
          <a:bodyPr/>
          <a:lstStyle/>
          <a:p>
            <a:endParaRPr lang="en-GB"/>
          </a:p>
        </p:txBody>
      </p:sp>
      <p:sp>
        <p:nvSpPr>
          <p:cNvPr id="4" name="Text 2"/>
          <p:cNvSpPr/>
          <p:nvPr/>
        </p:nvSpPr>
        <p:spPr>
          <a:xfrm>
            <a:off x="10972800" y="6446520"/>
            <a:ext cx="731520" cy="274320"/>
          </a:xfrm>
          <a:prstGeom prst="rect">
            <a:avLst/>
          </a:prstGeom>
          <a:noFill/>
          <a:ln/>
        </p:spPr>
        <p:txBody>
          <a:bodyPr wrap="square" rtlCol="0" anchor="ctr"/>
          <a:lstStyle/>
          <a:p>
            <a:pPr marL="0" indent="0" algn="r">
              <a:buNone/>
            </a:pPr>
            <a:r>
              <a:rPr lang="en-US" sz="1000" dirty="0">
                <a:solidFill>
                  <a:srgbClr val="8B949E"/>
                </a:solidFill>
                <a:latin typeface="Consolas" pitchFamily="34" charset="0"/>
                <a:ea typeface="Consolas" pitchFamily="34" charset="-122"/>
                <a:cs typeface="Consolas" pitchFamily="34" charset="-120"/>
              </a:rPr>
              <a:t>22</a:t>
            </a:r>
            <a:endParaRPr lang="en-US" sz="1000" dirty="0"/>
          </a:p>
        </p:txBody>
      </p:sp>
      <p:sp>
        <p:nvSpPr>
          <p:cNvPr id="5" name="Shape 3"/>
          <p:cNvSpPr/>
          <p:nvPr/>
        </p:nvSpPr>
        <p:spPr>
          <a:xfrm>
            <a:off x="548640" y="1325880"/>
            <a:ext cx="11091672" cy="5074920"/>
          </a:xfrm>
          <a:prstGeom prst="roundRect">
            <a:avLst>
              <a:gd name="adj" fmla="val 2162"/>
            </a:avLst>
          </a:prstGeom>
          <a:solidFill>
            <a:srgbClr val="161B22"/>
          </a:solidFill>
          <a:ln w="9525">
            <a:solidFill>
              <a:srgbClr val="30363D"/>
            </a:solidFill>
            <a:prstDash val="solid"/>
          </a:ln>
        </p:spPr>
        <p:txBody>
          <a:bodyPr/>
          <a:lstStyle/>
          <a:p>
            <a:endParaRPr lang="en-GB"/>
          </a:p>
        </p:txBody>
      </p:sp>
      <p:sp>
        <p:nvSpPr>
          <p:cNvPr id="6" name="Text 4"/>
          <p:cNvSpPr/>
          <p:nvPr/>
        </p:nvSpPr>
        <p:spPr>
          <a:xfrm>
            <a:off x="914400" y="1417320"/>
            <a:ext cx="2286000" cy="274320"/>
          </a:xfrm>
          <a:prstGeom prst="rect">
            <a:avLst/>
          </a:prstGeom>
          <a:noFill/>
          <a:ln/>
        </p:spPr>
        <p:txBody>
          <a:bodyPr wrap="square" rtlCol="0" anchor="ctr"/>
          <a:lstStyle/>
          <a:p>
            <a:pPr marL="0" indent="0">
              <a:buNone/>
            </a:pPr>
            <a:r>
              <a:rPr lang="en-US" sz="1100" b="1" dirty="0">
                <a:solidFill>
                  <a:srgbClr val="8B949E"/>
                </a:solidFill>
                <a:latin typeface="Consolas" pitchFamily="34" charset="0"/>
                <a:ea typeface="Consolas" pitchFamily="34" charset="-122"/>
                <a:cs typeface="Consolas" pitchFamily="34" charset="-120"/>
              </a:rPr>
              <a:t>Stage</a:t>
            </a:r>
            <a:endParaRPr lang="en-US" sz="1100" dirty="0"/>
          </a:p>
        </p:txBody>
      </p:sp>
      <p:sp>
        <p:nvSpPr>
          <p:cNvPr id="7" name="Text 5"/>
          <p:cNvSpPr/>
          <p:nvPr/>
        </p:nvSpPr>
        <p:spPr>
          <a:xfrm>
            <a:off x="3337560" y="1417320"/>
            <a:ext cx="3657600" cy="274320"/>
          </a:xfrm>
          <a:prstGeom prst="rect">
            <a:avLst/>
          </a:prstGeom>
          <a:noFill/>
          <a:ln/>
        </p:spPr>
        <p:txBody>
          <a:bodyPr wrap="square" rtlCol="0" anchor="ctr"/>
          <a:lstStyle/>
          <a:p>
            <a:pPr marL="0" indent="0">
              <a:buNone/>
            </a:pPr>
            <a:r>
              <a:rPr lang="en-US" sz="1100" b="1" dirty="0">
                <a:solidFill>
                  <a:srgbClr val="8B949E"/>
                </a:solidFill>
                <a:latin typeface="Consolas" pitchFamily="34" charset="0"/>
                <a:ea typeface="Consolas" pitchFamily="34" charset="-122"/>
                <a:cs typeface="Consolas" pitchFamily="34" charset="-120"/>
              </a:rPr>
              <a:t>Risk</a:t>
            </a:r>
            <a:endParaRPr lang="en-US" sz="1100" dirty="0"/>
          </a:p>
        </p:txBody>
      </p:sp>
      <p:sp>
        <p:nvSpPr>
          <p:cNvPr id="8" name="Text 6"/>
          <p:cNvSpPr/>
          <p:nvPr/>
        </p:nvSpPr>
        <p:spPr>
          <a:xfrm>
            <a:off x="7132320" y="1417320"/>
            <a:ext cx="4389120" cy="274320"/>
          </a:xfrm>
          <a:prstGeom prst="rect">
            <a:avLst/>
          </a:prstGeom>
          <a:noFill/>
          <a:ln/>
        </p:spPr>
        <p:txBody>
          <a:bodyPr wrap="square" rtlCol="0" anchor="ctr"/>
          <a:lstStyle/>
          <a:p>
            <a:pPr marL="0" indent="0">
              <a:buNone/>
            </a:pPr>
            <a:r>
              <a:rPr lang="en-US" sz="1100" b="1" dirty="0">
                <a:solidFill>
                  <a:srgbClr val="8B949E"/>
                </a:solidFill>
                <a:latin typeface="Consolas" pitchFamily="34" charset="0"/>
                <a:ea typeface="Consolas" pitchFamily="34" charset="-122"/>
                <a:cs typeface="Consolas" pitchFamily="34" charset="-120"/>
              </a:rPr>
              <a:t>Control</a:t>
            </a:r>
            <a:endParaRPr lang="en-US" sz="1100" dirty="0"/>
          </a:p>
        </p:txBody>
      </p:sp>
      <p:sp>
        <p:nvSpPr>
          <p:cNvPr id="9" name="Shape 7"/>
          <p:cNvSpPr/>
          <p:nvPr/>
        </p:nvSpPr>
        <p:spPr>
          <a:xfrm>
            <a:off x="914400" y="1737360"/>
            <a:ext cx="2286000" cy="960120"/>
          </a:xfrm>
          <a:prstGeom prst="roundRect">
            <a:avLst>
              <a:gd name="adj" fmla="val 5714"/>
            </a:avLst>
          </a:prstGeom>
          <a:solidFill>
            <a:srgbClr val="161B22"/>
          </a:solidFill>
          <a:ln w="12700">
            <a:solidFill>
              <a:srgbClr val="58A6FF"/>
            </a:solidFill>
            <a:prstDash val="solid"/>
          </a:ln>
        </p:spPr>
        <p:txBody>
          <a:bodyPr/>
          <a:lstStyle/>
          <a:p>
            <a:endParaRPr lang="en-GB"/>
          </a:p>
        </p:txBody>
      </p:sp>
      <p:sp>
        <p:nvSpPr>
          <p:cNvPr id="10" name="Text 8"/>
          <p:cNvSpPr/>
          <p:nvPr/>
        </p:nvSpPr>
        <p:spPr>
          <a:xfrm>
            <a:off x="914400" y="1737360"/>
            <a:ext cx="2286000" cy="960120"/>
          </a:xfrm>
          <a:prstGeom prst="rect">
            <a:avLst/>
          </a:prstGeom>
          <a:noFill/>
          <a:ln/>
        </p:spPr>
        <p:txBody>
          <a:bodyPr wrap="square" rtlCol="0" anchor="ctr"/>
          <a:lstStyle/>
          <a:p>
            <a:pPr marL="0" indent="0" algn="ctr">
              <a:buNone/>
            </a:pPr>
            <a:r>
              <a:rPr lang="en-US" sz="1300" b="1" dirty="0">
                <a:solidFill>
                  <a:srgbClr val="58A6FF"/>
                </a:solidFill>
                <a:latin typeface="Consolas" pitchFamily="34" charset="0"/>
                <a:ea typeface="Consolas" pitchFamily="34" charset="-122"/>
                <a:cs typeface="Consolas" pitchFamily="34" charset="-120"/>
              </a:rPr>
              <a:t>Stage 1</a:t>
            </a:r>
            <a:endParaRPr lang="en-US" sz="1300" dirty="0"/>
          </a:p>
          <a:p>
            <a:pPr marL="0" indent="0" algn="ctr">
              <a:buNone/>
            </a:pPr>
            <a:r>
              <a:rPr lang="en-US" sz="1300" b="1" dirty="0">
                <a:solidFill>
                  <a:srgbClr val="58A6FF"/>
                </a:solidFill>
                <a:latin typeface="Consolas" pitchFamily="34" charset="0"/>
                <a:ea typeface="Consolas" pitchFamily="34" charset="-122"/>
                <a:cs typeface="Consolas" pitchFamily="34" charset="-120"/>
              </a:rPr>
              <a:t>LLM API</a:t>
            </a:r>
            <a:endParaRPr lang="en-US" sz="1300" dirty="0"/>
          </a:p>
        </p:txBody>
      </p:sp>
      <p:sp>
        <p:nvSpPr>
          <p:cNvPr id="11" name="Text 9"/>
          <p:cNvSpPr/>
          <p:nvPr/>
        </p:nvSpPr>
        <p:spPr>
          <a:xfrm>
            <a:off x="3337560" y="1737360"/>
            <a:ext cx="3657600" cy="960120"/>
          </a:xfrm>
          <a:prstGeom prst="rect">
            <a:avLst/>
          </a:prstGeom>
          <a:noFill/>
          <a:ln/>
        </p:spPr>
        <p:txBody>
          <a:bodyPr wrap="square" rtlCol="0" anchor="ctr"/>
          <a:lstStyle/>
          <a:p>
            <a:pPr marL="0" indent="0">
              <a:buNone/>
            </a:pPr>
            <a:r>
              <a:rPr lang="en-US" sz="1300" dirty="0">
                <a:solidFill>
                  <a:srgbClr val="E6EDF3"/>
                </a:solidFill>
                <a:latin typeface="Segoe UI" pitchFamily="34" charset="0"/>
                <a:ea typeface="Segoe UI" pitchFamily="34" charset="-122"/>
                <a:cs typeface="Segoe UI" pitchFamily="34" charset="-120"/>
              </a:rPr>
              <a:t>Data in prompts, logs,</a:t>
            </a:r>
            <a:endParaRPr lang="en-US" sz="1300" dirty="0"/>
          </a:p>
          <a:p>
            <a:pPr marL="0" indent="0">
              <a:buNone/>
            </a:pPr>
            <a:r>
              <a:rPr lang="en-US" sz="1300" dirty="0">
                <a:solidFill>
                  <a:srgbClr val="E6EDF3"/>
                </a:solidFill>
                <a:latin typeface="Segoe UI" pitchFamily="34" charset="0"/>
                <a:ea typeface="Segoe UI" pitchFamily="34" charset="-122"/>
                <a:cs typeface="Segoe UI" pitchFamily="34" charset="-120"/>
              </a:rPr>
              <a:t>and model training</a:t>
            </a:r>
            <a:endParaRPr lang="en-US" sz="1300" dirty="0"/>
          </a:p>
        </p:txBody>
      </p:sp>
      <p:sp>
        <p:nvSpPr>
          <p:cNvPr id="12" name="Text 10"/>
          <p:cNvSpPr/>
          <p:nvPr/>
        </p:nvSpPr>
        <p:spPr>
          <a:xfrm>
            <a:off x="6766560" y="1737360"/>
            <a:ext cx="457200" cy="960120"/>
          </a:xfrm>
          <a:prstGeom prst="rect">
            <a:avLst/>
          </a:prstGeom>
          <a:noFill/>
          <a:ln/>
        </p:spPr>
        <p:txBody>
          <a:bodyPr wrap="square" rtlCol="0" anchor="ctr"/>
          <a:lstStyle/>
          <a:p>
            <a:pPr marL="0" indent="0" algn="ctr">
              <a:buNone/>
            </a:pPr>
            <a:r>
              <a:rPr lang="en-US" sz="1600" dirty="0">
                <a:solidFill>
                  <a:srgbClr val="8B949E"/>
                </a:solidFill>
                <a:latin typeface="Segoe UI" pitchFamily="34" charset="0"/>
                <a:ea typeface="Segoe UI" pitchFamily="34" charset="-122"/>
                <a:cs typeface="Segoe UI" pitchFamily="34" charset="-120"/>
              </a:rPr>
              <a:t>→</a:t>
            </a:r>
            <a:endParaRPr lang="en-US" sz="1600" dirty="0"/>
          </a:p>
        </p:txBody>
      </p:sp>
      <p:sp>
        <p:nvSpPr>
          <p:cNvPr id="13" name="Text 11"/>
          <p:cNvSpPr/>
          <p:nvPr/>
        </p:nvSpPr>
        <p:spPr>
          <a:xfrm>
            <a:off x="7132320" y="1737360"/>
            <a:ext cx="4389120" cy="960120"/>
          </a:xfrm>
          <a:prstGeom prst="rect">
            <a:avLst/>
          </a:prstGeom>
          <a:noFill/>
          <a:ln/>
        </p:spPr>
        <p:txBody>
          <a:bodyPr wrap="square" rtlCol="0" anchor="ctr"/>
          <a:lstStyle/>
          <a:p>
            <a:pPr marL="0" indent="0">
              <a:buNone/>
            </a:pPr>
            <a:r>
              <a:rPr lang="en-US" sz="1300" dirty="0">
                <a:solidFill>
                  <a:srgbClr val="3FB950"/>
                </a:solidFill>
                <a:latin typeface="Segoe UI" pitchFamily="34" charset="0"/>
                <a:ea typeface="Segoe UI" pitchFamily="34" charset="-122"/>
                <a:cs typeface="Segoe UI" pitchFamily="34" charset="-120"/>
              </a:rPr>
              <a:t>Minimization, governance,</a:t>
            </a:r>
            <a:endParaRPr lang="en-US" sz="1300" dirty="0"/>
          </a:p>
          <a:p>
            <a:pPr marL="0" indent="0">
              <a:buNone/>
            </a:pPr>
            <a:r>
              <a:rPr lang="en-US" sz="1300" dirty="0">
                <a:solidFill>
                  <a:srgbClr val="3FB950"/>
                </a:solidFill>
                <a:latin typeface="Segoe UI" pitchFamily="34" charset="0"/>
                <a:ea typeface="Segoe UI" pitchFamily="34" charset="-122"/>
                <a:cs typeface="Segoe UI" pitchFamily="34" charset="-120"/>
              </a:rPr>
              <a:t>and leakage testing</a:t>
            </a:r>
            <a:endParaRPr lang="en-US" sz="1300" dirty="0"/>
          </a:p>
        </p:txBody>
      </p:sp>
      <p:sp>
        <p:nvSpPr>
          <p:cNvPr id="14" name="Shape 12"/>
          <p:cNvSpPr/>
          <p:nvPr/>
        </p:nvSpPr>
        <p:spPr>
          <a:xfrm>
            <a:off x="914400" y="2834640"/>
            <a:ext cx="2286000" cy="960120"/>
          </a:xfrm>
          <a:prstGeom prst="roundRect">
            <a:avLst>
              <a:gd name="adj" fmla="val 5714"/>
            </a:avLst>
          </a:prstGeom>
          <a:solidFill>
            <a:srgbClr val="161B22"/>
          </a:solidFill>
          <a:ln w="12700">
            <a:solidFill>
              <a:srgbClr val="D29922"/>
            </a:solidFill>
            <a:prstDash val="solid"/>
          </a:ln>
        </p:spPr>
        <p:txBody>
          <a:bodyPr/>
          <a:lstStyle/>
          <a:p>
            <a:endParaRPr lang="en-GB"/>
          </a:p>
        </p:txBody>
      </p:sp>
      <p:sp>
        <p:nvSpPr>
          <p:cNvPr id="15" name="Text 13"/>
          <p:cNvSpPr/>
          <p:nvPr/>
        </p:nvSpPr>
        <p:spPr>
          <a:xfrm>
            <a:off x="914400" y="2834640"/>
            <a:ext cx="2286000" cy="960120"/>
          </a:xfrm>
          <a:prstGeom prst="rect">
            <a:avLst/>
          </a:prstGeom>
          <a:noFill/>
          <a:ln/>
        </p:spPr>
        <p:txBody>
          <a:bodyPr wrap="square" rtlCol="0" anchor="ctr"/>
          <a:lstStyle/>
          <a:p>
            <a:pPr marL="0" indent="0" algn="ctr">
              <a:buNone/>
            </a:pPr>
            <a:r>
              <a:rPr lang="en-US" sz="1300" b="1" dirty="0">
                <a:solidFill>
                  <a:srgbClr val="D29922"/>
                </a:solidFill>
                <a:latin typeface="Consolas" pitchFamily="34" charset="0"/>
                <a:ea typeface="Consolas" pitchFamily="34" charset="-122"/>
                <a:cs typeface="Consolas" pitchFamily="34" charset="-120"/>
              </a:rPr>
              <a:t>Stage 2</a:t>
            </a:r>
            <a:endParaRPr lang="en-US" sz="1300" dirty="0"/>
          </a:p>
          <a:p>
            <a:pPr marL="0" indent="0" algn="ctr">
              <a:buNone/>
            </a:pPr>
            <a:r>
              <a:rPr lang="en-US" sz="1300" b="1" dirty="0">
                <a:solidFill>
                  <a:srgbClr val="D29922"/>
                </a:solidFill>
                <a:latin typeface="Consolas" pitchFamily="34" charset="0"/>
                <a:ea typeface="Consolas" pitchFamily="34" charset="-122"/>
                <a:cs typeface="Consolas" pitchFamily="34" charset="-120"/>
              </a:rPr>
              <a:t>RAG</a:t>
            </a:r>
            <a:endParaRPr lang="en-US" sz="1300" dirty="0"/>
          </a:p>
        </p:txBody>
      </p:sp>
      <p:sp>
        <p:nvSpPr>
          <p:cNvPr id="16" name="Text 14"/>
          <p:cNvSpPr/>
          <p:nvPr/>
        </p:nvSpPr>
        <p:spPr>
          <a:xfrm>
            <a:off x="3337560" y="2834640"/>
            <a:ext cx="3657600" cy="960120"/>
          </a:xfrm>
          <a:prstGeom prst="rect">
            <a:avLst/>
          </a:prstGeom>
          <a:noFill/>
          <a:ln/>
        </p:spPr>
        <p:txBody>
          <a:bodyPr wrap="square" rtlCol="0" anchor="ctr"/>
          <a:lstStyle/>
          <a:p>
            <a:pPr marL="0" indent="0">
              <a:buNone/>
            </a:pPr>
            <a:r>
              <a:rPr lang="en-US" sz="1300" dirty="0">
                <a:solidFill>
                  <a:srgbClr val="E6EDF3"/>
                </a:solidFill>
                <a:latin typeface="Segoe UI" pitchFamily="34" charset="0"/>
                <a:ea typeface="Segoe UI" pitchFamily="34" charset="-122"/>
                <a:cs typeface="Segoe UI" pitchFamily="34" charset="-120"/>
              </a:rPr>
              <a:t>Data in retrieval</a:t>
            </a:r>
            <a:endParaRPr lang="en-US" sz="1300" dirty="0"/>
          </a:p>
          <a:p>
            <a:pPr marL="0" indent="0">
              <a:buNone/>
            </a:pPr>
            <a:r>
              <a:rPr lang="en-US" sz="1300" dirty="0">
                <a:solidFill>
                  <a:srgbClr val="E6EDF3"/>
                </a:solidFill>
                <a:latin typeface="Segoe UI" pitchFamily="34" charset="0"/>
                <a:ea typeface="Segoe UI" pitchFamily="34" charset="-122"/>
                <a:cs typeface="Segoe UI" pitchFamily="34" charset="-120"/>
              </a:rPr>
              <a:t>and context assembly</a:t>
            </a:r>
            <a:endParaRPr lang="en-US" sz="1300" dirty="0"/>
          </a:p>
        </p:txBody>
      </p:sp>
      <p:sp>
        <p:nvSpPr>
          <p:cNvPr id="17" name="Text 15"/>
          <p:cNvSpPr/>
          <p:nvPr/>
        </p:nvSpPr>
        <p:spPr>
          <a:xfrm>
            <a:off x="6766560" y="2834640"/>
            <a:ext cx="457200" cy="960120"/>
          </a:xfrm>
          <a:prstGeom prst="rect">
            <a:avLst/>
          </a:prstGeom>
          <a:noFill/>
          <a:ln/>
        </p:spPr>
        <p:txBody>
          <a:bodyPr wrap="square" rtlCol="0" anchor="ctr"/>
          <a:lstStyle/>
          <a:p>
            <a:pPr marL="0" indent="0" algn="ctr">
              <a:buNone/>
            </a:pPr>
            <a:r>
              <a:rPr lang="en-US" sz="1600" dirty="0">
                <a:solidFill>
                  <a:srgbClr val="8B949E"/>
                </a:solidFill>
                <a:latin typeface="Segoe UI" pitchFamily="34" charset="0"/>
                <a:ea typeface="Segoe UI" pitchFamily="34" charset="-122"/>
                <a:cs typeface="Segoe UI" pitchFamily="34" charset="-120"/>
              </a:rPr>
              <a:t>→</a:t>
            </a:r>
            <a:endParaRPr lang="en-US" sz="1600" dirty="0"/>
          </a:p>
        </p:txBody>
      </p:sp>
      <p:sp>
        <p:nvSpPr>
          <p:cNvPr id="18" name="Text 16"/>
          <p:cNvSpPr/>
          <p:nvPr/>
        </p:nvSpPr>
        <p:spPr>
          <a:xfrm>
            <a:off x="7132320" y="2834640"/>
            <a:ext cx="4389120" cy="960120"/>
          </a:xfrm>
          <a:prstGeom prst="rect">
            <a:avLst/>
          </a:prstGeom>
          <a:noFill/>
          <a:ln/>
        </p:spPr>
        <p:txBody>
          <a:bodyPr wrap="square" rtlCol="0" anchor="ctr"/>
          <a:lstStyle/>
          <a:p>
            <a:pPr marL="0" indent="0">
              <a:buNone/>
            </a:pPr>
            <a:r>
              <a:rPr lang="en-US" sz="1300" dirty="0">
                <a:solidFill>
                  <a:srgbClr val="3FB950"/>
                </a:solidFill>
                <a:latin typeface="Segoe UI" pitchFamily="34" charset="0"/>
                <a:ea typeface="Segoe UI" pitchFamily="34" charset="-122"/>
                <a:cs typeface="Segoe UI" pitchFamily="34" charset="-120"/>
              </a:rPr>
              <a:t>Permission-aware retrieval</a:t>
            </a:r>
            <a:endParaRPr lang="en-US" sz="1300" dirty="0"/>
          </a:p>
          <a:p>
            <a:pPr marL="0" indent="0">
              <a:buNone/>
            </a:pPr>
            <a:r>
              <a:rPr lang="en-US" sz="1300" dirty="0">
                <a:solidFill>
                  <a:srgbClr val="3FB950"/>
                </a:solidFill>
                <a:latin typeface="Segoe UI" pitchFamily="34" charset="0"/>
                <a:ea typeface="Segoe UI" pitchFamily="34" charset="-122"/>
                <a:cs typeface="Segoe UI" pitchFamily="34" charset="-120"/>
              </a:rPr>
              <a:t>and traceability</a:t>
            </a:r>
            <a:endParaRPr lang="en-US" sz="1300" dirty="0"/>
          </a:p>
        </p:txBody>
      </p:sp>
      <p:sp>
        <p:nvSpPr>
          <p:cNvPr id="19" name="Shape 17"/>
          <p:cNvSpPr/>
          <p:nvPr/>
        </p:nvSpPr>
        <p:spPr>
          <a:xfrm>
            <a:off x="914400" y="3931920"/>
            <a:ext cx="2286000" cy="960120"/>
          </a:xfrm>
          <a:prstGeom prst="roundRect">
            <a:avLst>
              <a:gd name="adj" fmla="val 5714"/>
            </a:avLst>
          </a:prstGeom>
          <a:solidFill>
            <a:srgbClr val="161B22"/>
          </a:solidFill>
          <a:ln w="12700">
            <a:solidFill>
              <a:srgbClr val="F85149"/>
            </a:solidFill>
            <a:prstDash val="solid"/>
          </a:ln>
        </p:spPr>
        <p:txBody>
          <a:bodyPr/>
          <a:lstStyle/>
          <a:p>
            <a:endParaRPr lang="en-GB"/>
          </a:p>
        </p:txBody>
      </p:sp>
      <p:sp>
        <p:nvSpPr>
          <p:cNvPr id="20" name="Text 18"/>
          <p:cNvSpPr/>
          <p:nvPr/>
        </p:nvSpPr>
        <p:spPr>
          <a:xfrm>
            <a:off x="914400" y="3931920"/>
            <a:ext cx="2286000" cy="960120"/>
          </a:xfrm>
          <a:prstGeom prst="rect">
            <a:avLst/>
          </a:prstGeom>
          <a:noFill/>
          <a:ln/>
        </p:spPr>
        <p:txBody>
          <a:bodyPr wrap="square" rtlCol="0" anchor="ctr"/>
          <a:lstStyle/>
          <a:p>
            <a:pPr marL="0" indent="0" algn="ctr">
              <a:buNone/>
            </a:pPr>
            <a:r>
              <a:rPr lang="en-US" sz="1300" b="1" dirty="0">
                <a:solidFill>
                  <a:srgbClr val="F85149"/>
                </a:solidFill>
                <a:latin typeface="Consolas" pitchFamily="34" charset="0"/>
                <a:ea typeface="Consolas" pitchFamily="34" charset="-122"/>
                <a:cs typeface="Consolas" pitchFamily="34" charset="-120"/>
              </a:rPr>
              <a:t>Stage 3</a:t>
            </a:r>
            <a:endParaRPr lang="en-US" sz="1300" dirty="0"/>
          </a:p>
          <a:p>
            <a:pPr marL="0" indent="0" algn="ctr">
              <a:buNone/>
            </a:pPr>
            <a:r>
              <a:rPr lang="en-US" sz="1300" b="1" dirty="0">
                <a:solidFill>
                  <a:srgbClr val="F85149"/>
                </a:solidFill>
                <a:latin typeface="Consolas" pitchFamily="34" charset="0"/>
                <a:ea typeface="Consolas" pitchFamily="34" charset="-122"/>
                <a:cs typeface="Consolas" pitchFamily="34" charset="-120"/>
              </a:rPr>
              <a:t>Agents</a:t>
            </a:r>
            <a:endParaRPr lang="en-US" sz="1300" dirty="0"/>
          </a:p>
        </p:txBody>
      </p:sp>
      <p:sp>
        <p:nvSpPr>
          <p:cNvPr id="21" name="Text 19"/>
          <p:cNvSpPr/>
          <p:nvPr/>
        </p:nvSpPr>
        <p:spPr>
          <a:xfrm>
            <a:off x="3337560" y="3931920"/>
            <a:ext cx="3657600" cy="960120"/>
          </a:xfrm>
          <a:prstGeom prst="rect">
            <a:avLst/>
          </a:prstGeom>
          <a:noFill/>
          <a:ln/>
        </p:spPr>
        <p:txBody>
          <a:bodyPr wrap="square" rtlCol="0" anchor="ctr"/>
          <a:lstStyle/>
          <a:p>
            <a:pPr marL="0" indent="0">
              <a:buNone/>
            </a:pPr>
            <a:r>
              <a:rPr lang="en-US" sz="1300" dirty="0">
                <a:solidFill>
                  <a:srgbClr val="E6EDF3"/>
                </a:solidFill>
                <a:latin typeface="Segoe UI" pitchFamily="34" charset="0"/>
                <a:ea typeface="Segoe UI" pitchFamily="34" charset="-122"/>
                <a:cs typeface="Segoe UI" pitchFamily="34" charset="-120"/>
              </a:rPr>
              <a:t>Actions through tools</a:t>
            </a:r>
            <a:endParaRPr lang="en-US" sz="1300" dirty="0"/>
          </a:p>
          <a:p>
            <a:pPr marL="0" indent="0">
              <a:buNone/>
            </a:pPr>
            <a:r>
              <a:rPr lang="en-US" sz="1300" dirty="0">
                <a:solidFill>
                  <a:srgbClr val="E6EDF3"/>
                </a:solidFill>
                <a:latin typeface="Segoe UI" pitchFamily="34" charset="0"/>
                <a:ea typeface="Segoe UI" pitchFamily="34" charset="-122"/>
                <a:cs typeface="Segoe UI" pitchFamily="34" charset="-120"/>
              </a:rPr>
              <a:t>and persistent state</a:t>
            </a:r>
            <a:endParaRPr lang="en-US" sz="1300" dirty="0"/>
          </a:p>
        </p:txBody>
      </p:sp>
      <p:sp>
        <p:nvSpPr>
          <p:cNvPr id="22" name="Text 20"/>
          <p:cNvSpPr/>
          <p:nvPr/>
        </p:nvSpPr>
        <p:spPr>
          <a:xfrm>
            <a:off x="6766560" y="3931920"/>
            <a:ext cx="457200" cy="960120"/>
          </a:xfrm>
          <a:prstGeom prst="rect">
            <a:avLst/>
          </a:prstGeom>
          <a:noFill/>
          <a:ln/>
        </p:spPr>
        <p:txBody>
          <a:bodyPr wrap="square" rtlCol="0" anchor="ctr"/>
          <a:lstStyle/>
          <a:p>
            <a:pPr marL="0" indent="0" algn="ctr">
              <a:buNone/>
            </a:pPr>
            <a:r>
              <a:rPr lang="en-US" sz="1600" dirty="0">
                <a:solidFill>
                  <a:srgbClr val="8B949E"/>
                </a:solidFill>
                <a:latin typeface="Segoe UI" pitchFamily="34" charset="0"/>
                <a:ea typeface="Segoe UI" pitchFamily="34" charset="-122"/>
                <a:cs typeface="Segoe UI" pitchFamily="34" charset="-120"/>
              </a:rPr>
              <a:t>→</a:t>
            </a:r>
            <a:endParaRPr lang="en-US" sz="1600" dirty="0"/>
          </a:p>
        </p:txBody>
      </p:sp>
      <p:sp>
        <p:nvSpPr>
          <p:cNvPr id="23" name="Text 21"/>
          <p:cNvSpPr/>
          <p:nvPr/>
        </p:nvSpPr>
        <p:spPr>
          <a:xfrm>
            <a:off x="7132320" y="3931920"/>
            <a:ext cx="4389120" cy="960120"/>
          </a:xfrm>
          <a:prstGeom prst="rect">
            <a:avLst/>
          </a:prstGeom>
          <a:noFill/>
          <a:ln/>
        </p:spPr>
        <p:txBody>
          <a:bodyPr wrap="square" rtlCol="0" anchor="ctr"/>
          <a:lstStyle/>
          <a:p>
            <a:pPr marL="0" indent="0">
              <a:buNone/>
            </a:pPr>
            <a:r>
              <a:rPr lang="en-US" sz="1300" dirty="0">
                <a:solidFill>
                  <a:srgbClr val="3FB950"/>
                </a:solidFill>
                <a:latin typeface="Segoe UI" pitchFamily="34" charset="0"/>
                <a:ea typeface="Segoe UI" pitchFamily="34" charset="-122"/>
                <a:cs typeface="Segoe UI" pitchFamily="34" charset="-120"/>
              </a:rPr>
              <a:t>External authorization,</a:t>
            </a:r>
            <a:endParaRPr lang="en-US" sz="1300" dirty="0"/>
          </a:p>
          <a:p>
            <a:pPr marL="0" indent="0">
              <a:buNone/>
            </a:pPr>
            <a:r>
              <a:rPr lang="en-US" sz="1300" dirty="0">
                <a:solidFill>
                  <a:srgbClr val="3FB950"/>
                </a:solidFill>
                <a:latin typeface="Segoe UI" pitchFamily="34" charset="0"/>
                <a:ea typeface="Segoe UI" pitchFamily="34" charset="-122"/>
                <a:cs typeface="Segoe UI" pitchFamily="34" charset="-120"/>
              </a:rPr>
              <a:t>validation, and monitoring</a:t>
            </a:r>
            <a:endParaRPr lang="en-US" sz="1300" dirty="0"/>
          </a:p>
        </p:txBody>
      </p:sp>
      <p:sp>
        <p:nvSpPr>
          <p:cNvPr id="24" name="Shape 22"/>
          <p:cNvSpPr/>
          <p:nvPr/>
        </p:nvSpPr>
        <p:spPr>
          <a:xfrm>
            <a:off x="1828800" y="5120640"/>
            <a:ext cx="8531352" cy="640080"/>
          </a:xfrm>
          <a:prstGeom prst="roundRect">
            <a:avLst>
              <a:gd name="adj" fmla="val 11429"/>
            </a:avLst>
          </a:prstGeom>
          <a:solidFill>
            <a:srgbClr val="161B22"/>
          </a:solidFill>
          <a:ln w="19050">
            <a:solidFill>
              <a:srgbClr val="3FB950"/>
            </a:solidFill>
            <a:prstDash val="solid"/>
          </a:ln>
        </p:spPr>
        <p:txBody>
          <a:bodyPr/>
          <a:lstStyle/>
          <a:p>
            <a:endParaRPr lang="en-GB"/>
          </a:p>
        </p:txBody>
      </p:sp>
      <p:sp>
        <p:nvSpPr>
          <p:cNvPr id="25" name="Text 23"/>
          <p:cNvSpPr/>
          <p:nvPr/>
        </p:nvSpPr>
        <p:spPr>
          <a:xfrm>
            <a:off x="1828800" y="5120640"/>
            <a:ext cx="8531352" cy="640080"/>
          </a:xfrm>
          <a:prstGeom prst="rect">
            <a:avLst/>
          </a:prstGeom>
          <a:noFill/>
          <a:ln/>
        </p:spPr>
        <p:txBody>
          <a:bodyPr wrap="square" rtlCol="0" anchor="ctr"/>
          <a:lstStyle/>
          <a:p>
            <a:pPr marL="0" indent="0" algn="ctr">
              <a:buNone/>
            </a:pPr>
            <a:r>
              <a:rPr lang="en-US" sz="1800" b="1" dirty="0">
                <a:solidFill>
                  <a:srgbClr val="3FB950"/>
                </a:solidFill>
                <a:latin typeface="Consolas" pitchFamily="34" charset="0"/>
                <a:ea typeface="Consolas" pitchFamily="34" charset="-122"/>
                <a:cs typeface="Consolas" pitchFamily="34" charset="-120"/>
              </a:rPr>
              <a:t>Secure the data path, the instruction path, and the action path.</a:t>
            </a:r>
            <a:endParaRPr lang="en-US" sz="1800" dirty="0"/>
          </a:p>
        </p:txBody>
      </p:sp>
      <p:sp>
        <p:nvSpPr>
          <p:cNvPr id="26" name="Text 24"/>
          <p:cNvSpPr/>
          <p:nvPr/>
        </p:nvSpPr>
        <p:spPr>
          <a:xfrm>
            <a:off x="8686800" y="6263640"/>
            <a:ext cx="2926080" cy="228600"/>
          </a:xfrm>
          <a:prstGeom prst="rect">
            <a:avLst/>
          </a:prstGeom>
          <a:noFill/>
          <a:ln/>
        </p:spPr>
        <p:txBody>
          <a:bodyPr wrap="square"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OWASP LLM02 + LLM08 + LLM06:2025</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a:extLst>
            <a:ext uri="{FF2B5EF4-FFF2-40B4-BE49-F238E27FC236}">
              <a16:creationId xmlns:a16="http://schemas.microsoft.com/office/drawing/2014/main" id="{EE87E604-A38F-C437-4666-74680790589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2ADAD6C-C5C1-DA79-A9CD-1F88A4CCDFEA}"/>
              </a:ext>
            </a:extLst>
          </p:cNvPr>
          <p:cNvSpPr/>
          <p:nvPr/>
        </p:nvSpPr>
        <p:spPr>
          <a:xfrm>
            <a:off x="548640" y="594360"/>
            <a:ext cx="11091672" cy="502920"/>
          </a:xfrm>
          <a:prstGeom prst="rect">
            <a:avLst/>
          </a:prstGeom>
          <a:noFill/>
          <a:ln/>
        </p:spPr>
        <p:txBody>
          <a:bodyPr wrap="square" rtlCol="0" anchor="ctr"/>
          <a:lstStyle/>
          <a:p>
            <a:pPr marL="0" indent="0">
              <a:buNone/>
            </a:pPr>
            <a:r>
              <a:rPr lang="en-US" sz="2400" dirty="0">
                <a:solidFill>
                  <a:srgbClr val="8B949E"/>
                </a:solidFill>
                <a:latin typeface="Consolas" pitchFamily="34" charset="0"/>
                <a:ea typeface="Consolas" pitchFamily="34" charset="-122"/>
                <a:cs typeface="Consolas" pitchFamily="34" charset="-120"/>
              </a:rPr>
              <a:t>&gt; </a:t>
            </a:r>
            <a:r>
              <a:rPr lang="en-US" sz="2200" b="1" dirty="0">
                <a:solidFill>
                  <a:srgbClr val="58A6FF"/>
                </a:solidFill>
                <a:latin typeface="Consolas" pitchFamily="34" charset="0"/>
                <a:ea typeface="Consolas" pitchFamily="34" charset="-122"/>
                <a:cs typeface="Consolas" pitchFamily="34" charset="-120"/>
              </a:rPr>
              <a:t>Where are the sources?</a:t>
            </a:r>
            <a:endParaRPr lang="en-US" sz="2400" dirty="0"/>
          </a:p>
        </p:txBody>
      </p:sp>
      <p:sp>
        <p:nvSpPr>
          <p:cNvPr id="3" name="Shape 1">
            <a:extLst>
              <a:ext uri="{FF2B5EF4-FFF2-40B4-BE49-F238E27FC236}">
                <a16:creationId xmlns:a16="http://schemas.microsoft.com/office/drawing/2014/main" id="{98460EF9-3537-5AFC-A8C5-22F89FFBEFF6}"/>
              </a:ext>
            </a:extLst>
          </p:cNvPr>
          <p:cNvSpPr/>
          <p:nvPr/>
        </p:nvSpPr>
        <p:spPr>
          <a:xfrm>
            <a:off x="548640" y="1143000"/>
            <a:ext cx="11091672" cy="13716"/>
          </a:xfrm>
          <a:prstGeom prst="rect">
            <a:avLst/>
          </a:prstGeom>
          <a:solidFill>
            <a:srgbClr val="30363D"/>
          </a:solidFill>
          <a:ln/>
        </p:spPr>
        <p:txBody>
          <a:bodyPr/>
          <a:lstStyle/>
          <a:p>
            <a:endParaRPr lang="en-GB"/>
          </a:p>
        </p:txBody>
      </p:sp>
      <p:sp>
        <p:nvSpPr>
          <p:cNvPr id="4" name="Text 2">
            <a:extLst>
              <a:ext uri="{FF2B5EF4-FFF2-40B4-BE49-F238E27FC236}">
                <a16:creationId xmlns:a16="http://schemas.microsoft.com/office/drawing/2014/main" id="{B0E38BDB-64BC-EE26-D751-2CD84B596800}"/>
              </a:ext>
            </a:extLst>
          </p:cNvPr>
          <p:cNvSpPr/>
          <p:nvPr/>
        </p:nvSpPr>
        <p:spPr>
          <a:xfrm>
            <a:off x="10972800" y="6446520"/>
            <a:ext cx="731520" cy="274320"/>
          </a:xfrm>
          <a:prstGeom prst="rect">
            <a:avLst/>
          </a:prstGeom>
          <a:noFill/>
          <a:ln/>
        </p:spPr>
        <p:txBody>
          <a:bodyPr wrap="square" rtlCol="0" anchor="ctr"/>
          <a:lstStyle/>
          <a:p>
            <a:pPr marL="0" indent="0" algn="r">
              <a:buNone/>
            </a:pPr>
            <a:r>
              <a:rPr lang="en-US" sz="1000" dirty="0">
                <a:solidFill>
                  <a:srgbClr val="8B949E"/>
                </a:solidFill>
                <a:latin typeface="Consolas" pitchFamily="34" charset="0"/>
                <a:ea typeface="Consolas" pitchFamily="34" charset="-122"/>
                <a:cs typeface="Consolas" pitchFamily="34" charset="-120"/>
              </a:rPr>
              <a:t>22</a:t>
            </a:r>
            <a:endParaRPr lang="en-US" sz="1000" dirty="0"/>
          </a:p>
        </p:txBody>
      </p:sp>
      <p:sp>
        <p:nvSpPr>
          <p:cNvPr id="5" name="Shape 3">
            <a:extLst>
              <a:ext uri="{FF2B5EF4-FFF2-40B4-BE49-F238E27FC236}">
                <a16:creationId xmlns:a16="http://schemas.microsoft.com/office/drawing/2014/main" id="{974C1BA6-6BF9-03F7-DB55-4FD5B60C8AC6}"/>
              </a:ext>
            </a:extLst>
          </p:cNvPr>
          <p:cNvSpPr/>
          <p:nvPr/>
        </p:nvSpPr>
        <p:spPr>
          <a:xfrm>
            <a:off x="548640" y="1325880"/>
            <a:ext cx="11091672" cy="5074920"/>
          </a:xfrm>
          <a:prstGeom prst="roundRect">
            <a:avLst>
              <a:gd name="adj" fmla="val 2162"/>
            </a:avLst>
          </a:prstGeom>
          <a:solidFill>
            <a:srgbClr val="161B22"/>
          </a:solidFill>
          <a:ln w="9525">
            <a:solidFill>
              <a:srgbClr val="30363D"/>
            </a:solidFill>
            <a:prstDash val="solid"/>
          </a:ln>
        </p:spPr>
        <p:txBody>
          <a:bodyPr/>
          <a:lstStyle/>
          <a:p>
            <a:endParaRPr lang="en-GB"/>
          </a:p>
        </p:txBody>
      </p:sp>
      <p:sp>
        <p:nvSpPr>
          <p:cNvPr id="6" name="Text 4">
            <a:extLst>
              <a:ext uri="{FF2B5EF4-FFF2-40B4-BE49-F238E27FC236}">
                <a16:creationId xmlns:a16="http://schemas.microsoft.com/office/drawing/2014/main" id="{7D60EE7F-E4B0-2559-4AEF-6DD67FBE83B4}"/>
              </a:ext>
            </a:extLst>
          </p:cNvPr>
          <p:cNvSpPr/>
          <p:nvPr/>
        </p:nvSpPr>
        <p:spPr>
          <a:xfrm>
            <a:off x="914400" y="1417320"/>
            <a:ext cx="2286000" cy="274320"/>
          </a:xfrm>
          <a:prstGeom prst="rect">
            <a:avLst/>
          </a:prstGeom>
          <a:noFill/>
          <a:ln/>
        </p:spPr>
        <p:txBody>
          <a:bodyPr wrap="square" rtlCol="0" anchor="ctr"/>
          <a:lstStyle/>
          <a:p>
            <a:pPr marL="0" indent="0">
              <a:buNone/>
            </a:pPr>
            <a:endParaRPr lang="en-US" sz="1100" dirty="0"/>
          </a:p>
        </p:txBody>
      </p:sp>
      <p:sp>
        <p:nvSpPr>
          <p:cNvPr id="24" name="Shape 22">
            <a:extLst>
              <a:ext uri="{FF2B5EF4-FFF2-40B4-BE49-F238E27FC236}">
                <a16:creationId xmlns:a16="http://schemas.microsoft.com/office/drawing/2014/main" id="{6E37D8BD-D64B-4BA2-3B47-067DE6C06436}"/>
              </a:ext>
            </a:extLst>
          </p:cNvPr>
          <p:cNvSpPr/>
          <p:nvPr/>
        </p:nvSpPr>
        <p:spPr>
          <a:xfrm>
            <a:off x="1828800" y="5120640"/>
            <a:ext cx="8531352" cy="640080"/>
          </a:xfrm>
          <a:prstGeom prst="roundRect">
            <a:avLst>
              <a:gd name="adj" fmla="val 11429"/>
            </a:avLst>
          </a:prstGeom>
          <a:solidFill>
            <a:srgbClr val="161B22"/>
          </a:solidFill>
          <a:ln w="19050">
            <a:solidFill>
              <a:srgbClr val="3FB950"/>
            </a:solidFill>
            <a:prstDash val="solid"/>
          </a:ln>
        </p:spPr>
        <p:txBody>
          <a:bodyPr/>
          <a:lstStyle/>
          <a:p>
            <a:endParaRPr lang="en-GB"/>
          </a:p>
        </p:txBody>
      </p:sp>
      <p:sp>
        <p:nvSpPr>
          <p:cNvPr id="25" name="Text 23">
            <a:extLst>
              <a:ext uri="{FF2B5EF4-FFF2-40B4-BE49-F238E27FC236}">
                <a16:creationId xmlns:a16="http://schemas.microsoft.com/office/drawing/2014/main" id="{0B349B73-F6C3-E7F8-A801-AE8C2E8F5CDA}"/>
              </a:ext>
            </a:extLst>
          </p:cNvPr>
          <p:cNvSpPr/>
          <p:nvPr/>
        </p:nvSpPr>
        <p:spPr>
          <a:xfrm>
            <a:off x="1828800" y="5120640"/>
            <a:ext cx="8531352" cy="640080"/>
          </a:xfrm>
          <a:prstGeom prst="rect">
            <a:avLst/>
          </a:prstGeom>
          <a:noFill/>
          <a:ln/>
        </p:spPr>
        <p:txBody>
          <a:bodyPr wrap="square" rtlCol="0" anchor="ctr"/>
          <a:lstStyle/>
          <a:p>
            <a:pPr marL="0" indent="0" algn="ctr">
              <a:buNone/>
            </a:pPr>
            <a:r>
              <a:rPr lang="en-US" b="1" dirty="0">
                <a:solidFill>
                  <a:srgbClr val="3FB950"/>
                </a:solidFill>
                <a:latin typeface="Consolas" pitchFamily="34" charset="0"/>
                <a:ea typeface="Consolas" pitchFamily="34" charset="-122"/>
                <a:cs typeface="Consolas" pitchFamily="34" charset="-120"/>
              </a:rPr>
              <a:t>https://github.com/ivanvagunin/techtalks</a:t>
            </a:r>
            <a:endParaRPr lang="en-US" sz="1800" dirty="0"/>
          </a:p>
        </p:txBody>
      </p:sp>
      <p:sp>
        <p:nvSpPr>
          <p:cNvPr id="26" name="Text 24">
            <a:extLst>
              <a:ext uri="{FF2B5EF4-FFF2-40B4-BE49-F238E27FC236}">
                <a16:creationId xmlns:a16="http://schemas.microsoft.com/office/drawing/2014/main" id="{B67AC142-8073-9F27-35DC-429DA58E54DA}"/>
              </a:ext>
            </a:extLst>
          </p:cNvPr>
          <p:cNvSpPr/>
          <p:nvPr/>
        </p:nvSpPr>
        <p:spPr>
          <a:xfrm>
            <a:off x="8686800" y="6263640"/>
            <a:ext cx="2926080" cy="228600"/>
          </a:xfrm>
          <a:prstGeom prst="rect">
            <a:avLst/>
          </a:prstGeom>
          <a:noFill/>
          <a:ln/>
        </p:spPr>
        <p:txBody>
          <a:bodyPr wrap="square"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OWASP LLM02 + LLM08 + LLM06:2025</a:t>
            </a:r>
            <a:endParaRPr lang="en-US" sz="900" dirty="0"/>
          </a:p>
        </p:txBody>
      </p:sp>
    </p:spTree>
    <p:extLst>
      <p:ext uri="{BB962C8B-B14F-4D97-AF65-F5344CB8AC3E}">
        <p14:creationId xmlns:p14="http://schemas.microsoft.com/office/powerpoint/2010/main" val="35999802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BCBB9-236A-B4B0-92C2-C4864E4BE3E2}"/>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4D6BF719-A2BC-A2FA-9FCB-CAE6E3F3400B}"/>
              </a:ext>
            </a:extLst>
          </p:cNvPr>
          <p:cNvSpPr>
            <a:spLocks noGrp="1"/>
          </p:cNvSpPr>
          <p:nvPr>
            <p:ph type="body" sz="quarter" idx="11"/>
          </p:nvPr>
        </p:nvSpPr>
        <p:spPr/>
        <p:txBody>
          <a:bodyPr>
            <a:normAutofit/>
          </a:bodyPr>
          <a:lstStyle/>
          <a:p>
            <a:r>
              <a:rPr lang="en-US" sz="6000" dirty="0"/>
              <a:t>THANK YOU, </a:t>
            </a:r>
            <a:br>
              <a:rPr lang="en-US" sz="6000" dirty="0"/>
            </a:br>
            <a:r>
              <a:rPr lang="en-US" sz="5400" dirty="0"/>
              <a:t>YOU ARE AWESOME</a:t>
            </a:r>
            <a:r>
              <a:rPr lang="en-US" sz="4000" dirty="0"/>
              <a:t> ❤️</a:t>
            </a:r>
            <a:r>
              <a:rPr lang="en-US" sz="6000" dirty="0"/>
              <a:t> </a:t>
            </a:r>
          </a:p>
          <a:p>
            <a:endParaRPr lang="en-US" sz="6000" dirty="0"/>
          </a:p>
          <a:p>
            <a:r>
              <a:rPr lang="en-US" sz="4000" dirty="0"/>
              <a:t>PLEASE RATE THIS SESSION IN THE MOBILE APP.</a:t>
            </a:r>
          </a:p>
        </p:txBody>
      </p:sp>
      <p:pic>
        <p:nvPicPr>
          <p:cNvPr id="11" name="Picture Placeholder 10">
            <a:extLst>
              <a:ext uri="{FF2B5EF4-FFF2-40B4-BE49-F238E27FC236}">
                <a16:creationId xmlns:a16="http://schemas.microsoft.com/office/drawing/2014/main" id="{9BF05CC1-F6D6-F7C0-CC66-D2FD11E017F5}"/>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32474" r="32474"/>
          <a:stretch/>
        </p:blipFill>
        <p:spPr/>
      </p:pic>
      <p:sp>
        <p:nvSpPr>
          <p:cNvPr id="12" name="TextBox 11">
            <a:extLst>
              <a:ext uri="{FF2B5EF4-FFF2-40B4-BE49-F238E27FC236}">
                <a16:creationId xmlns:a16="http://schemas.microsoft.com/office/drawing/2014/main" id="{D84348AA-BCE4-00D7-C52F-D3EE68D7FF6A}"/>
              </a:ext>
            </a:extLst>
          </p:cNvPr>
          <p:cNvSpPr txBox="1"/>
          <p:nvPr/>
        </p:nvSpPr>
        <p:spPr>
          <a:xfrm>
            <a:off x="530352" y="4438184"/>
            <a:ext cx="6556918" cy="646331"/>
          </a:xfrm>
          <a:prstGeom prst="rect">
            <a:avLst/>
          </a:prstGeom>
          <a:noFill/>
        </p:spPr>
        <p:txBody>
          <a:bodyPr wrap="square" rtlCol="0">
            <a:spAutoFit/>
          </a:bodyPr>
          <a:lstStyle/>
          <a:p>
            <a:r>
              <a:rPr lang="en-US" sz="1800" dirty="0">
                <a:solidFill>
                  <a:schemeClr val="bg1"/>
                </a:solidFill>
                <a:latin typeface="+mj-lt"/>
              </a:rPr>
              <a:t>List Here Your Social Media Links, Email Address, Or Whatever You Think It Is Important :) </a:t>
            </a:r>
          </a:p>
        </p:txBody>
      </p:sp>
    </p:spTree>
    <p:extLst>
      <p:ext uri="{BB962C8B-B14F-4D97-AF65-F5344CB8AC3E}">
        <p14:creationId xmlns:p14="http://schemas.microsoft.com/office/powerpoint/2010/main" val="16946190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Suedwind">
      <a:dk1>
        <a:sysClr val="windowText" lastClr="000000"/>
      </a:dk1>
      <a:lt1>
        <a:sysClr val="window" lastClr="FFFFFF"/>
      </a:lt1>
      <a:dk2>
        <a:srgbClr val="7F7F7F"/>
      </a:dk2>
      <a:lt2>
        <a:srgbClr val="E7E6E6"/>
      </a:lt2>
      <a:accent1>
        <a:srgbClr val="A83D72"/>
      </a:accent1>
      <a:accent2>
        <a:srgbClr val="426DA9"/>
      </a:accent2>
      <a:accent3>
        <a:srgbClr val="E8927C"/>
      </a:accent3>
      <a:accent4>
        <a:srgbClr val="BFBFBF"/>
      </a:accent4>
      <a:accent5>
        <a:srgbClr val="7F7F7F"/>
      </a:accent5>
      <a:accent6>
        <a:srgbClr val="AEABAB"/>
      </a:accent6>
      <a:hlink>
        <a:srgbClr val="757070"/>
      </a:hlink>
      <a:folHlink>
        <a:srgbClr val="595959"/>
      </a:folHlink>
    </a:clrScheme>
    <a:fontScheme name="Suedwind main 3">
      <a:majorFont>
        <a:latin typeface="IBM Plex Sans Condensed Medium"/>
        <a:ea typeface=""/>
        <a:cs typeface=""/>
      </a:majorFont>
      <a:minorFont>
        <a:latin typeface="IBM Plex Sans Condensed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2572</TotalTime>
  <Words>8072</Words>
  <Application>Microsoft Office PowerPoint</Application>
  <PresentationFormat>Widescreen</PresentationFormat>
  <Paragraphs>656</Paragraphs>
  <Slides>26</Slides>
  <Notes>24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26</vt:i4>
      </vt:variant>
    </vt:vector>
  </HeadingPairs>
  <TitlesOfParts>
    <vt:vector size="36" baseType="lpstr">
      <vt:lpstr>Aptos</vt:lpstr>
      <vt:lpstr>Arial</vt:lpstr>
      <vt:lpstr>Consolas</vt:lpstr>
      <vt:lpstr>IBM Plex Sans Condensed</vt:lpstr>
      <vt:lpstr>IBM Plex Sans Condensed Light</vt:lpstr>
      <vt:lpstr>IBM Plex Sans Condensed Medium</vt:lpstr>
      <vt:lpstr>Segoe UI</vt:lpstr>
      <vt:lpstr>Wingdings</vt:lpstr>
      <vt:lpstr>Office Theme</vt:lpstr>
      <vt:lpstr>1_Office Theme</vt:lpstr>
      <vt:lpstr>SECURING CONVERSATIONAL AI: PROTECTING CHATBOTS FROM OVERSHARING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Securing Conversational AI Architectures</dc:title>
  <dc:subject>PptxGenJS Presentation</dc:subject>
  <dc:creator>ECS Deck Generator</dc:creator>
  <cp:lastModifiedBy>Ivan Vagunin</cp:lastModifiedBy>
  <cp:revision>18</cp:revision>
  <dcterms:created xsi:type="dcterms:W3CDTF">2026-05-03T11:53:07Z</dcterms:created>
  <dcterms:modified xsi:type="dcterms:W3CDTF">2026-05-05T16:00:07Z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b623b29-abd1-4de3-a20c-27566d79b7c7_Enabled">
    <vt:lpwstr>true</vt:lpwstr>
  </property>
  <property fmtid="{D5CDD505-2E9C-101B-9397-08002B2CF9AE}" pid="3" name="MSIP_Label_3b623b29-abd1-4de3-a20c-27566d79b7c7_SetDate">
    <vt:lpwstr>2026-05-03T12:14:23Z</vt:lpwstr>
  </property>
  <property fmtid="{D5CDD505-2E9C-101B-9397-08002B2CF9AE}" pid="4" name="MSIP_Label_3b623b29-abd1-4de3-a20c-27566d79b7c7_Method">
    <vt:lpwstr>Standard</vt:lpwstr>
  </property>
  <property fmtid="{D5CDD505-2E9C-101B-9397-08002B2CF9AE}" pid="5" name="MSIP_Label_3b623b29-abd1-4de3-a20c-27566d79b7c7_Name">
    <vt:lpwstr>3b623b29-abd1-4de3-a20c-27566d79b7c7</vt:lpwstr>
  </property>
  <property fmtid="{D5CDD505-2E9C-101B-9397-08002B2CF9AE}" pid="6" name="MSIP_Label_3b623b29-abd1-4de3-a20c-27566d79b7c7_SiteId">
    <vt:lpwstr>cbede638-a3d9-459f-8f4e-24ced73b4e5e</vt:lpwstr>
  </property>
  <property fmtid="{D5CDD505-2E9C-101B-9397-08002B2CF9AE}" pid="7" name="MSIP_Label_3b623b29-abd1-4de3-a20c-27566d79b7c7_ActionId">
    <vt:lpwstr>7302369a-30b3-4d76-9020-8ae5cda7ecf6</vt:lpwstr>
  </property>
  <property fmtid="{D5CDD505-2E9C-101B-9397-08002B2CF9AE}" pid="8" name="MSIP_Label_3b623b29-abd1-4de3-a20c-27566d79b7c7_ContentBits">
    <vt:lpwstr>0</vt:lpwstr>
  </property>
  <property fmtid="{D5CDD505-2E9C-101B-9397-08002B2CF9AE}" pid="9" name="MSIP_Label_3b623b29-abd1-4de3-a20c-27566d79b7c7_Tag">
    <vt:lpwstr>10, 3, 0, 1</vt:lpwstr>
  </property>
</Properties>
</file>